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7"/>
  </p:notesMasterIdLst>
  <p:sldIdLst>
    <p:sldId id="256" r:id="rId2"/>
    <p:sldId id="257" r:id="rId3"/>
    <p:sldId id="258" r:id="rId4"/>
    <p:sldId id="259" r:id="rId5"/>
    <p:sldId id="260" r:id="rId6"/>
    <p:sldId id="261" r:id="rId7"/>
    <p:sldId id="262" r:id="rId8"/>
    <p:sldId id="299" r:id="rId9"/>
    <p:sldId id="263" r:id="rId10"/>
    <p:sldId id="301" r:id="rId11"/>
    <p:sldId id="300" r:id="rId12"/>
    <p:sldId id="264" r:id="rId13"/>
    <p:sldId id="265" r:id="rId14"/>
    <p:sldId id="287" r:id="rId15"/>
    <p:sldId id="266" r:id="rId16"/>
    <p:sldId id="302" r:id="rId17"/>
    <p:sldId id="303" r:id="rId18"/>
    <p:sldId id="304" r:id="rId19"/>
    <p:sldId id="305" r:id="rId20"/>
    <p:sldId id="269" r:id="rId21"/>
    <p:sldId id="307" r:id="rId22"/>
    <p:sldId id="308" r:id="rId23"/>
    <p:sldId id="306" r:id="rId24"/>
    <p:sldId id="309" r:id="rId25"/>
    <p:sldId id="267" r:id="rId26"/>
    <p:sldId id="273" r:id="rId27"/>
    <p:sldId id="310" r:id="rId28"/>
    <p:sldId id="311" r:id="rId29"/>
    <p:sldId id="312" r:id="rId30"/>
    <p:sldId id="313" r:id="rId31"/>
    <p:sldId id="314" r:id="rId32"/>
    <p:sldId id="315" r:id="rId33"/>
    <p:sldId id="316" r:id="rId34"/>
    <p:sldId id="317" r:id="rId35"/>
    <p:sldId id="274" r:id="rId36"/>
    <p:sldId id="280" r:id="rId37"/>
    <p:sldId id="318" r:id="rId38"/>
    <p:sldId id="319" r:id="rId39"/>
    <p:sldId id="320" r:id="rId40"/>
    <p:sldId id="321" r:id="rId41"/>
    <p:sldId id="322" r:id="rId42"/>
    <p:sldId id="323" r:id="rId43"/>
    <p:sldId id="324" r:id="rId44"/>
    <p:sldId id="281" r:id="rId45"/>
    <p:sldId id="288" r:id="rId46"/>
    <p:sldId id="289" r:id="rId47"/>
    <p:sldId id="290" r:id="rId48"/>
    <p:sldId id="291" r:id="rId49"/>
    <p:sldId id="292" r:id="rId50"/>
    <p:sldId id="293" r:id="rId51"/>
    <p:sldId id="294" r:id="rId52"/>
    <p:sldId id="295" r:id="rId53"/>
    <p:sldId id="296" r:id="rId54"/>
    <p:sldId id="297" r:id="rId55"/>
    <p:sldId id="298" r:id="rId5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226"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8523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our final project presentation. This deck covers a full Business Intelligence solution built on 9,994 retail transaction records spanning 2020–2023. The project delivers three interactive dashboards covering Sales Overview, Customer Analysis, and Product Analysis, developed in Tableau and Power BI by Team 2 as part of the DEPI graduation project.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is organized into eight major sections. We begin with the project context and problem statement, then cover our data and methodology before presenting the three dashboards in detail. We then consolidate key insights before delivering strategic recommendations and an executive summary.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covers the project context, the business problem that motivated this analysis, our specific objectives, and the scope of the solution we delivered.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company had raw data but no structured way to surface insights. Decision-makers were flying blind — unable to compare performance year over year, identify underperforming segments, or plan seasonally. This project addresses that gap by building a fully interactive BI solution.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six core objectives organized around sales performance, customer analytics, product intelligence, geographic insights, interactivity, and strategic decision support. Each objective maps directly to one or more charts within the three interactive dashboards.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covers how we gathered, cleaned, and structured the data before building visualizations.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follows a Star Schema design. The Orders fact table is the central hub containing all transactional records. It links outward to three dimension tables: Customers (who bought), Location (where they bought from), and Products (what they bought). This design enables efficient filtering and aggregation across any dimension.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Power Query Editor in both Power BI and Excel to apply 9 systematic cleaning steps to each of the four tables. The Orders table required the most work — including date type correction, locale adjustments for both Order Date and Ship Date, and the insertion of calculated Year and Month Name columns to enable time-intelligence comparisons.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596197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Power Query Editor in both Power BI and Excel to apply 9 systematic cleaning steps to each of the four tables. The Orders table required the most work — including date type correction, locale adjustments for both Order Date and Ship Date, and the insertion of calculated Year and Month Name columns to enable time-intelligence comparisons.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Power Query Editor in both Power BI and Excel to apply 9 systematic cleaning steps to each of the four tables. The Orders table required the most work — including date type correction, locale adjustments for both Order Date and Ship Date, and the insertion of calculated Year and Month Name columns to enable time-intelligence comparisons.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6791381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Power Query Editor in both Power BI and Excel to apply 9 systematic cleaning steps to each of the four tables. The Orders table required the most work — including date type correction, locale adjustments for both Order Date and Ship Date, and the insertion of calculated Year and Month Name columns to enable time-intelligence comparisons.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2339010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 Schema places the Orders fact table at the center with three dimension tables radiating outward. Every filter applied in the dashboard — whether by Category, Region, or Segment — passes through these relationships. The model supports 24-plus calculated fields that power all KPI cards and year-over-year comparisons.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analytical power of this project comes from 24-plus custom calculated fields. They fall into four categories: sales measures, profit measures, order measures, and customer measures. The year-over-year comparisons use a Select Year parameter to dynamically define 'current year' and 'prior year' for every single metric.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 Page is the entry point to the entire analytics solution. Three clearly labeled navigation buttons — Sales Overview, Customer Analysis, and Product Analysis — allow any stakeholder to jump directly to the most relevant dashboard. The UX design follows best practices: consistent colors, icon reinforcement, fixed layout, and synchronized filters that eliminate the need for manual coordination between dashboards.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presents the first dashboard — Sales Overview — in detail. We will walk through each KPI card, chart, and filter, providing business interpretation for every element.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KPI cards are the first thing every decision-maker reads. Total Sales of $733K with 20.4% growth signals strong market momentum. However, the gap between order growth (28.3%) and profit growth (14.2%) is a red flag — it means more orders are being placed but at lower margins. This could be caused by discounting, freight costs, or a product mix shift toward lower-margin items.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636524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KPI cards are the first thing every decision-maker reads. Total Sales of $733K with 20.4% growth signals strong market momentum. However, the gap between order growth (28.3%) and profit growth (14.2%) is a red flag — it means more orders are being placed but at lower margins. This could be caused by discounting, freight costs, or a product mix shift toward lower-margin items.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6334507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KPI cards are the first thing every decision-maker reads. Total Sales of $733K with 20.4% growth signals strong market momentum. However, the gap between order growth (28.3%) and profit growth (14.2%) is a red flag — it means more orders are being placed but at lower margins. This could be caused by discounting, freight costs, or a product mix shift toward lower-margin items.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3532454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KPI cards are the first thing every decision-maker reads. Total Sales of $733K with 20.4% growth signals strong market momentum. However, the gap between order growth (28.3%) and profit growth (14.2%) is a red flag — it means more orders are being placed but at lower margins. This could be caused by discounting, freight costs, or a product mix shift toward lower-margin items.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3704472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reveals a classic retail seasonality pattern. February is the weakest month at only $20K — less than 18% of the peak November figure. The March recovery to $59K suggests demand is latent, not permanently lost. Q4 shows the strongest performance, consistent with holiday purchasing. Management should invest in February promotions and capitalize on the November peak with adequate inventory planning.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reveals a classic retail seasonality pattern. February is the weakest month at only $20K — less than 18% of the peak November figure. The March recovery to $59K suggests demand is latent, not permanently lost. Q4 shows the strongest performance, consistent with holiday purchasing. Management should invest in February promotions and capitalize on the November peak with adequate inventory planning.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8315037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reveals a classic retail seasonality pattern. February is the weakest month at only $20K — less than 18% of the peak November figure. The March recovery to $59K suggests demand is latent, not permanently lost. Q4 shows the strongest performance, consistent with holiday purchasing. Management should invest in February promotions and capitalize on the November peak with adequate inventory planning.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457563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reveals a classic retail seasonality pattern. February is the weakest month at only $20K — less than 18% of the peak November figure. The March recovery to $59K suggests demand is latent, not permanently lost. Q4 shows the strongest performance, consistent with holiday purchasing. Management should invest in February promotions and capitalize on the November peak with adequate inventory planning.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0705009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reveals a classic retail seasonality pattern. February is the weakest month at only $20K — less than 18% of the peak November figure. The March recovery to $59K suggests demand is latent, not permanently lost. Q4 shows the strongest performance, consistent with holiday purchasing. Management should invest in February promotions and capitalize on the November peak with adequate inventory planning.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5063356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Sales Overview dashboard for the year 2023. It contains four KPI cards at the top — Total Sales, Total Profit, Total Orders, and Growth Rate — followed by six analytical charts: a line trend, a quantity bar chart, top/bottom 3 products, a segment-by-region stacked bar, a category distribution donut, and a monthly revenue area chart comparing current vs. prior year. All visuals respond to the global filters on the right side.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covers the Customer Analysis dashboard — the second of our three interactive dashboards. We will analyze customer KPIs, their geographic distribution, purchase behavior, and segment composition.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reveals a classic retail seasonality pattern. February is the weakest month at only $20K — less than 18% of the peak November figure. The March recovery to $59K suggests demand is latent, not permanently lost. Q4 shows the strongest performance, consistent with holiday purchasing. Management should invest in February promotions and capitalize on the November peak with adequate inventory planning.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1916327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reveals a classic retail seasonality pattern. February is the weakest month at only $20K — less than 18% of the peak November figure. The March recovery to $59K suggests demand is latent, not permanently lost. Q4 shows the strongest performance, consistent with holiday purchasing. Management should invest in February promotions and capitalize on the November peak with adequate inventory planning.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843408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reveals a classic retail seasonality pattern. February is the weakest month at only $20K — less than 18% of the peak November figure. The March recovery to $59K suggests demand is latent, not permanently lost. Q4 shows the strongest performance, consistent with holiday purchasing. Management should invest in February promotions and capitalize on the November peak with adequate inventory planning.</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3217662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reveals a classic retail seasonality pattern. February is the weakest month at only $20K — less than 18% of the peak November figure. The March recovery to $59K suggests demand is latent, not permanently lost. Q4 shows the strongest performance, consistent with holiday purchasing. Management should invest in February promotions and capitalize on the November peak with adequate inventory planning.</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188057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reveals a classic retail seasonality pattern. February is the weakest month at only $20K — less than 18% of the peak November figure. The March recovery to $59K suggests demand is latent, not permanently lost. Q4 shows the strongest performance, consistent with holiday purchasing. Management should invest in February promotions and capitalize on the November peak with adequate inventory planning.</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41596222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reveals a classic retail seasonality pattern. February is the weakest month at only $20K — less than 18% of the peak November figure. The March recovery to $59K suggests demand is latent, not permanently lost. Q4 shows the strongest performance, consistent with holiday purchasing. Management should invest in February promotions and capitalize on the November peak with adequate inventory planning.</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5974013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reveals a classic retail seasonality pattern. February is the weakest month at only $20K — less than 18% of the peak November figure. The March recovery to $59K suggests demand is latent, not permanently lost. Q4 shows the strongest performance, consistent with holiday purchasing. Management should invest in February promotions and capitalize on the November peak with adequate inventory planning.</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22347280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reveals a classic retail seasonality pattern. February is the weakest month at only $20K — less than 18% of the peak November figure. The March recovery to $59K suggests demand is latent, not permanently lost. Q4 shows the strongest performance, consistent with holiday purchasing. Management should invest in February promotions and capitalize on the November peak with adequate inventory planning.</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2844433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Analysis dashboard provides a 360-degree view of customer performance. Three KPI cards at the top show Total Customers (693), Returning Customers (781), and Average Orders per Customer (6.32). Below these are five visualizations: a monthly customer growth area chart, a purchase behavior grouped bar chart, a US state map, a customer segmentation donut, and a top-10 customers table. All visuals respond to Year, Region, Category, and Segment filters.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covers the Products Analysis dashboard — our third and final dashboard. This section goes deep into product-level performance, including profitability by sub-category, revenue hierarchy, and sales target tracking.</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reveals a classic retail seasonality pattern. February is the weakest month at only $20K — less than 18% of the peak November figure. The March recovery to $59K suggests demand is latent, not permanently lost. Q4 shows the strongest performance, consistent with holiday purchasing. Management should invest in February promotions and capitalize on the November peak with adequate inventory planning.</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2799343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reveals a classic retail seasonality pattern. February is the weakest month at only $20K — less than 18% of the peak November figure. The March recovery to $59K suggests demand is latent, not permanently lost. Q4 shows the strongest performance, consistent with holiday purchasing. Management should invest in February promotions and capitalize on the November peak with adequate inventory planning.</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7274065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reveals a classic retail seasonality pattern. February is the weakest month at only $20K — less than 18% of the peak November figure. The March recovery to $59K suggests demand is latent, not permanently lost. Q4 shows the strongest performance, consistent with holiday purchasing. Management should invest in February promotions and capitalize on the November peak with adequate inventory planning.</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31959807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reveals a classic retail seasonality pattern. February is the weakest month at only $20K — less than 18% of the peak November figure. The March recovery to $59K suggests demand is latent, not permanently lost. Q4 shows the strongest performance, consistent with holiday purchasing. Management should invest in February promotions and capitalize on the November peak with adequate inventory planning.</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4948423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reveals a classic retail seasonality pattern. February is the weakest month at only $20K — less than 18% of the peak November figure. The March recovery to $59K suggests demand is latent, not permanently lost. Q4 shows the strongest performance, consistent with holiday purchasing. Management should invest in February promotions and capitalize on the November peak with adequate inventory planning.</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31570268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reveals a classic retail seasonality pattern. February is the weakest month at only $20K — less than 18% of the peak November figure. The March recovery to $59K suggests demand is latent, not permanently lost. Q4 shows the strongest performance, consistent with holiday purchasing. Management should invest in February promotions and capitalize on the November peak with adequate inventory planning.</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39733700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reveals a classic retail seasonality pattern. February is the weakest month at only $20K — less than 18% of the peak November figure. The March recovery to $59K suggests demand is latent, not permanently lost. Q4 shows the strongest performance, consistent with holiday purchasing. Management should invest in February promotions and capitalize on the November peak with adequate inventory planning.</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34307145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Products Analysis dashboard contains three KPI cards: Top Product (Phones $105K), Highest Revenue Category (Technology $272K), and Average Profit ($28.21). The four charts below show: Monthly Sales vs Target (combo bar-line), Revenue Treemap, Sales vs Profit per Sub-Category (dual horizontal bar), and Monthly Profit waterfall chart. Filters for Year, Region, and Segment are available at the top.</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six consolidates the most important discoveries across all three dashboards into a structured findings presentation.</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sales findings represent the most important discoveries from the Sales Overview dashboard. The two Critical findings — the revenue-profit growth divergence and the consistent target misses — should be the primary agenda items at the next executive review. The High findings around seasonality and regional inequality are addressable through targeted campaigns and investment.</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consolidates critical customer and product insights. The customer loyalty finding is very positive — the company is excellent at retaining customers. However, the individual account-level analysis reveals that some accounts are loss-making. On the product side, Tables being profit-negative is a structural problem that requires immediate action. Copiers being the most efficient product suggests the company should actively promote them in corporate bundles.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seven translates our analytical findings into ten strategic recommendations. Each recommendation is grounded in specific data points from the three dashboards.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first four recommendations target the most urgent revenue and growth opportunities. The February campaign addresses seasonality. The target-gap resolution requires both operational and planning improvements. Geographic expansion into underperforming regions is a significant growth lever. And fixing the negative-profit states stops the bleeding immediately.</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five through eight address customer loyalty, product profitability, margin management, and cross-selling. The loyalty program capitalizes on the strong retention trend. Eliminating loss-making products and accounts is non-negotiable. The discount optimization recommendation alone could add $40,000–$60,000 in annual profit if implemented effectively.</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two recommendations focus on segment-specific strategies and supply chain preparation for peak periods. Segmentation ensures that each customer type receives the most relevant offer. Inventory optimization using our own dashboard data to forecast Q4 demand is one of the highest-ROI actions the company can take — preventing stockouts during the $118K November peak.</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section brings everything together in a concise executive summary suitable for presentation to senior leadership or academic evaluators.</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executive summary consolidates every major finding and recommendation onto a single slide. The six KPI metrics at the top confirm 2023 as a record year. The three columns highlight critical findings that require action, our top recommendations prioritized by impact, and the expected business benefits if recommendations are implemented. This slide is designed for C-suite consumption — all the signal, none of the noise.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impact section demonstrates the tangible value delivered by this project. Decision-making is accelerated, cost centers are exposed, and accountability is established through monthly target tracking. The challenges section is important for intellectual honesty — we acknowledge the encoding issues, data limitations, and absence of external benchmarks. These limitations are not failures but opportunities for future enhancement.</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We are now open for questions. Our team has built a complete, production-grade analytics solution that transforms 9,994 raw transactions into three interactive, interconnected dashboards — delivering actionable intelligence on sales performance, customer behavior, and product profitability. We are confident this solution will support data-driven decision-making across all levels of the organization.</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240"/>
        </a:solidFill>
        <a:effectLst/>
      </p:bgPr>
    </p:bg>
    <p:spTree>
      <p:nvGrpSpPr>
        <p:cNvPr id="1" name=""/>
        <p:cNvGrpSpPr/>
        <p:nvPr/>
      </p:nvGrpSpPr>
      <p:grpSpPr>
        <a:xfrm>
          <a:off x="0" y="0"/>
          <a:ext cx="0" cy="0"/>
          <a:chOff x="0" y="0"/>
          <a:chExt cx="0" cy="0"/>
        </a:xfrm>
      </p:grpSpPr>
      <p:sp>
        <p:nvSpPr>
          <p:cNvPr id="3" name="Shape 1"/>
          <p:cNvSpPr/>
          <p:nvPr/>
        </p:nvSpPr>
        <p:spPr>
          <a:xfrm>
            <a:off x="0" y="0"/>
            <a:ext cx="3200400" cy="109728"/>
          </a:xfrm>
          <a:prstGeom prst="rect">
            <a:avLst/>
          </a:prstGeom>
          <a:solidFill>
            <a:srgbClr val="00A896"/>
          </a:solidFill>
          <a:ln/>
        </p:spPr>
      </p:sp>
      <p:sp>
        <p:nvSpPr>
          <p:cNvPr id="4" name="Shape 2"/>
          <p:cNvSpPr/>
          <p:nvPr/>
        </p:nvSpPr>
        <p:spPr>
          <a:xfrm>
            <a:off x="5943600" y="5033772"/>
            <a:ext cx="3200400" cy="109728"/>
          </a:xfrm>
          <a:prstGeom prst="rect">
            <a:avLst/>
          </a:prstGeom>
          <a:solidFill>
            <a:srgbClr val="00A896"/>
          </a:solidFill>
          <a:ln/>
        </p:spPr>
      </p:sp>
      <p:sp>
        <p:nvSpPr>
          <p:cNvPr id="5" name="Text 3"/>
          <p:cNvSpPr/>
          <p:nvPr/>
        </p:nvSpPr>
        <p:spPr>
          <a:xfrm>
            <a:off x="3871372" y="777240"/>
            <a:ext cx="5303520" cy="457200"/>
          </a:xfrm>
          <a:prstGeom prst="rect">
            <a:avLst/>
          </a:prstGeom>
          <a:noFill/>
          <a:ln/>
        </p:spPr>
        <p:txBody>
          <a:bodyPr wrap="square" rtlCol="0" anchor="ctr"/>
          <a:lstStyle/>
          <a:p>
            <a:pPr marL="0" indent="0">
              <a:buNone/>
            </a:pPr>
            <a:r>
              <a:rPr lang="en-US" sz="1400" b="1" kern="0" spc="800" dirty="0">
                <a:solidFill>
                  <a:srgbClr val="00A896"/>
                </a:solidFill>
                <a:latin typeface="Calibri" pitchFamily="34" charset="0"/>
                <a:ea typeface="Calibri" pitchFamily="34" charset="-122"/>
                <a:cs typeface="Calibri" pitchFamily="34" charset="-120"/>
              </a:rPr>
              <a:t>DEPI</a:t>
            </a:r>
            <a:endParaRPr lang="en-US" sz="1400" dirty="0"/>
          </a:p>
        </p:txBody>
      </p:sp>
      <p:sp>
        <p:nvSpPr>
          <p:cNvPr id="6" name="Text 4"/>
          <p:cNvSpPr/>
          <p:nvPr/>
        </p:nvSpPr>
        <p:spPr>
          <a:xfrm>
            <a:off x="1464276" y="1216358"/>
            <a:ext cx="5875638" cy="958596"/>
          </a:xfrm>
          <a:prstGeom prst="rect">
            <a:avLst/>
          </a:prstGeom>
          <a:noFill/>
          <a:ln/>
        </p:spPr>
        <p:txBody>
          <a:bodyPr wrap="square"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Sales &amp; Customer  Performance</a:t>
            </a:r>
            <a:endParaRPr lang="en-US" sz="3800" dirty="0"/>
          </a:p>
        </p:txBody>
      </p:sp>
      <p:sp>
        <p:nvSpPr>
          <p:cNvPr id="7" name="Text 5"/>
          <p:cNvSpPr/>
          <p:nvPr/>
        </p:nvSpPr>
        <p:spPr>
          <a:xfrm>
            <a:off x="3102864" y="2543000"/>
            <a:ext cx="5303520" cy="457200"/>
          </a:xfrm>
          <a:prstGeom prst="rect">
            <a:avLst/>
          </a:prstGeom>
          <a:noFill/>
          <a:ln/>
        </p:spPr>
        <p:txBody>
          <a:bodyPr wrap="square" rtlCol="0" anchor="ctr"/>
          <a:lstStyle/>
          <a:p>
            <a:pPr marL="0" indent="0">
              <a:buNone/>
            </a:pPr>
            <a:r>
              <a:rPr lang="en-US" sz="1800" dirty="0">
                <a:solidFill>
                  <a:srgbClr val="D5E8F4"/>
                </a:solidFill>
                <a:latin typeface="Calibri" pitchFamily="34" charset="0"/>
                <a:ea typeface="Calibri" pitchFamily="34" charset="-122"/>
                <a:cs typeface="Calibri" pitchFamily="34" charset="-120"/>
              </a:rPr>
              <a:t>Dashboard Analysis Project</a:t>
            </a:r>
            <a:endParaRPr lang="en-US" sz="1800" dirty="0"/>
          </a:p>
        </p:txBody>
      </p:sp>
      <p:sp>
        <p:nvSpPr>
          <p:cNvPr id="8" name="Shape 6"/>
          <p:cNvSpPr/>
          <p:nvPr/>
        </p:nvSpPr>
        <p:spPr>
          <a:xfrm flipV="1">
            <a:off x="1464276" y="3144425"/>
            <a:ext cx="5875638" cy="45719"/>
          </a:xfrm>
          <a:prstGeom prst="rect">
            <a:avLst/>
          </a:prstGeom>
          <a:solidFill>
            <a:srgbClr val="00A896"/>
          </a:solidFill>
          <a:ln/>
        </p:spPr>
      </p:sp>
      <p:sp>
        <p:nvSpPr>
          <p:cNvPr id="9" name="Text 7"/>
          <p:cNvSpPr/>
          <p:nvPr/>
        </p:nvSpPr>
        <p:spPr>
          <a:xfrm>
            <a:off x="1750335" y="3318145"/>
            <a:ext cx="5303520" cy="640080"/>
          </a:xfrm>
          <a:prstGeom prst="rect">
            <a:avLst/>
          </a:prstGeom>
          <a:noFill/>
          <a:ln/>
        </p:spPr>
        <p:txBody>
          <a:bodyPr wrap="square" rtlCol="0" anchor="ctr"/>
          <a:lstStyle/>
          <a:p>
            <a:pPr marL="0" indent="0" algn="ctr">
              <a:buNone/>
            </a:pPr>
            <a:r>
              <a:rPr lang="en-US" sz="1300" dirty="0">
                <a:solidFill>
                  <a:srgbClr val="D5E8F4"/>
                </a:solidFill>
                <a:latin typeface="Calibri" pitchFamily="34" charset="0"/>
                <a:ea typeface="Calibri" pitchFamily="34" charset="-122"/>
                <a:cs typeface="Calibri" pitchFamily="34" charset="-120"/>
              </a:rPr>
              <a:t>Tableau </a:t>
            </a:r>
          </a:p>
          <a:p>
            <a:pPr marL="0" indent="0" algn="ctr">
              <a:buNone/>
            </a:pPr>
            <a:r>
              <a:rPr lang="en-US" sz="1300" dirty="0">
                <a:solidFill>
                  <a:srgbClr val="D5E8F4"/>
                </a:solidFill>
                <a:latin typeface="Calibri" pitchFamily="34" charset="0"/>
                <a:ea typeface="Calibri" pitchFamily="34" charset="-122"/>
                <a:cs typeface="Calibri" pitchFamily="34" charset="-120"/>
              </a:rPr>
              <a:t>Retail Sales Data 2020–2023</a:t>
            </a:r>
            <a:endParaRPr lang="en-US" sz="1300" dirty="0"/>
          </a:p>
        </p:txBody>
      </p:sp>
      <p:sp>
        <p:nvSpPr>
          <p:cNvPr id="12" name="Text 10"/>
          <p:cNvSpPr/>
          <p:nvPr/>
        </p:nvSpPr>
        <p:spPr>
          <a:xfrm>
            <a:off x="-662240" y="3824915"/>
            <a:ext cx="2834640" cy="1097280"/>
          </a:xfrm>
          <a:prstGeom prst="rect">
            <a:avLst/>
          </a:prstGeom>
          <a:noFill/>
          <a:ln/>
        </p:spPr>
        <p:txBody>
          <a:bodyPr wrap="square" rtlCol="0" anchor="ctr"/>
          <a:lstStyle/>
          <a:p>
            <a:pPr marL="0" indent="0" algn="ctr">
              <a:buNone/>
            </a:pPr>
            <a:endParaRPr lang="en-US" sz="1300" dirty="0"/>
          </a:p>
        </p:txBody>
      </p:sp>
      <p:sp>
        <p:nvSpPr>
          <p:cNvPr id="13" name="Shape 2">
            <a:extLst>
              <a:ext uri="{FF2B5EF4-FFF2-40B4-BE49-F238E27FC236}">
                <a16:creationId xmlns:a16="http://schemas.microsoft.com/office/drawing/2014/main" id="{7B5B4BFF-5B54-C216-07CB-8CDBD5444DCF}"/>
              </a:ext>
            </a:extLst>
          </p:cNvPr>
          <p:cNvSpPr/>
          <p:nvPr/>
        </p:nvSpPr>
        <p:spPr>
          <a:xfrm>
            <a:off x="0" y="5033772"/>
            <a:ext cx="3200400" cy="109728"/>
          </a:xfrm>
          <a:prstGeom prst="rect">
            <a:avLst/>
          </a:prstGeom>
          <a:solidFill>
            <a:srgbClr val="00A896"/>
          </a:solidFill>
          <a:ln/>
        </p:spPr>
      </p:sp>
      <p:sp>
        <p:nvSpPr>
          <p:cNvPr id="15" name="TextBox 14">
            <a:extLst>
              <a:ext uri="{FF2B5EF4-FFF2-40B4-BE49-F238E27FC236}">
                <a16:creationId xmlns:a16="http://schemas.microsoft.com/office/drawing/2014/main" id="{99205DA9-A8FA-B6A6-551E-5E71A4598BC6}"/>
              </a:ext>
            </a:extLst>
          </p:cNvPr>
          <p:cNvSpPr txBox="1"/>
          <p:nvPr/>
        </p:nvSpPr>
        <p:spPr>
          <a:xfrm>
            <a:off x="398380" y="4407396"/>
            <a:ext cx="5109518" cy="584775"/>
          </a:xfrm>
          <a:prstGeom prst="rect">
            <a:avLst/>
          </a:prstGeom>
          <a:noFill/>
        </p:spPr>
        <p:txBody>
          <a:bodyPr wrap="square">
            <a:spAutoFit/>
          </a:bodyPr>
          <a:lstStyle/>
          <a:p>
            <a:pPr marL="0" indent="0">
              <a:buNone/>
            </a:pPr>
            <a:r>
              <a:rPr lang="en-US" sz="1600" b="1" dirty="0">
                <a:solidFill>
                  <a:srgbClr val="FFFFFF"/>
                </a:solidFill>
                <a:latin typeface="Calibri" pitchFamily="34" charset="0"/>
                <a:ea typeface="Calibri" pitchFamily="34" charset="-122"/>
                <a:cs typeface="Calibri" pitchFamily="34" charset="-120"/>
              </a:rPr>
              <a:t>PREPARED BY:</a:t>
            </a:r>
          </a:p>
          <a:p>
            <a:pPr marL="0" indent="0">
              <a:buNone/>
            </a:pPr>
            <a:r>
              <a:rPr lang="en-US" sz="1600" b="1" dirty="0">
                <a:solidFill>
                  <a:srgbClr val="FFFFFF"/>
                </a:solidFill>
                <a:latin typeface="Calibri" pitchFamily="34" charset="0"/>
                <a:ea typeface="Calibri" pitchFamily="34" charset="-122"/>
                <a:cs typeface="Calibri" pitchFamily="34" charset="-120"/>
              </a:rPr>
              <a:t>Arwa Yasser</a:t>
            </a:r>
          </a:p>
        </p:txBody>
      </p:sp>
      <p:sp>
        <p:nvSpPr>
          <p:cNvPr id="2" name="Shape 2">
            <a:extLst>
              <a:ext uri="{FF2B5EF4-FFF2-40B4-BE49-F238E27FC236}">
                <a16:creationId xmlns:a16="http://schemas.microsoft.com/office/drawing/2014/main" id="{3932D1D2-A6FC-0406-76BE-E7CCFE48D412}"/>
              </a:ext>
            </a:extLst>
          </p:cNvPr>
          <p:cNvSpPr/>
          <p:nvPr/>
        </p:nvSpPr>
        <p:spPr>
          <a:xfrm>
            <a:off x="5943600" y="0"/>
            <a:ext cx="3200400" cy="109728"/>
          </a:xfrm>
          <a:prstGeom prst="rect">
            <a:avLst/>
          </a:prstGeom>
          <a:solidFill>
            <a:srgbClr val="00A896"/>
          </a:solidFill>
          <a:ln/>
        </p:spPr>
      </p:sp>
      <p:sp>
        <p:nvSpPr>
          <p:cNvPr id="16" name="TextBox 8">
            <a:extLst>
              <a:ext uri="{FF2B5EF4-FFF2-40B4-BE49-F238E27FC236}">
                <a16:creationId xmlns:a16="http://schemas.microsoft.com/office/drawing/2014/main" id="{85031FB8-B6B8-6FCC-F6E7-3C6E9C7D2D09}"/>
              </a:ext>
            </a:extLst>
          </p:cNvPr>
          <p:cNvSpPr txBox="1"/>
          <p:nvPr/>
        </p:nvSpPr>
        <p:spPr>
          <a:xfrm>
            <a:off x="6311087" y="4399697"/>
            <a:ext cx="2378928" cy="584775"/>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r>
              <a:rPr lang="en-US" sz="1600" b="1" dirty="0">
                <a:solidFill>
                  <a:schemeClr val="bg1"/>
                </a:solidFill>
                <a:latin typeface="+mn-lt"/>
              </a:rPr>
              <a:t>SUPERVISED BY:</a:t>
            </a:r>
          </a:p>
          <a:p>
            <a:pPr algn="ctr"/>
            <a:r>
              <a:rPr lang="en-US" sz="1600" b="1" dirty="0">
                <a:solidFill>
                  <a:schemeClr val="bg1"/>
                </a:solidFill>
                <a:latin typeface="+mn-lt"/>
              </a:rPr>
              <a:t>Dr. Ahmed Ismail</a:t>
            </a:r>
          </a:p>
        </p:txBody>
      </p:sp>
      <p:pic>
        <p:nvPicPr>
          <p:cNvPr id="1028" name="Picture 4" descr="‫وزارة الاتصالات وتكنولوجيا المعلومات- مصر (@MCITEgypt) / Posts / X‬‎">
            <a:extLst>
              <a:ext uri="{FF2B5EF4-FFF2-40B4-BE49-F238E27FC236}">
                <a16:creationId xmlns:a16="http://schemas.microsoft.com/office/drawing/2014/main" id="{CFAA2152-2C6D-8EB1-DBA5-AEDAAAE8EE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209" y="227650"/>
            <a:ext cx="1372835" cy="98870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Picture 2">
            <a:extLst>
              <a:ext uri="{FF2B5EF4-FFF2-40B4-BE49-F238E27FC236}">
                <a16:creationId xmlns:a16="http://schemas.microsoft.com/office/drawing/2014/main" id="{121EE431-6566-918D-2820-B3CA5F9E38B1}"/>
              </a:ext>
            </a:extLst>
          </p:cNvPr>
          <p:cNvPicPr>
            <a:picLocks noChangeAspect="1" noChangeArrowheads="1"/>
          </p:cNvPicPr>
          <p:nvPr/>
        </p:nvPicPr>
        <p:blipFill>
          <a:blip r:embed="rId4"/>
          <a:srcRect t="6292" b="2851"/>
          <a:stretch/>
        </p:blipFill>
        <p:spPr bwMode="auto">
          <a:xfrm>
            <a:off x="7373552" y="221635"/>
            <a:ext cx="1557638" cy="98870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4" name="Text 8">
            <a:extLst>
              <a:ext uri="{FF2B5EF4-FFF2-40B4-BE49-F238E27FC236}">
                <a16:creationId xmlns:a16="http://schemas.microsoft.com/office/drawing/2014/main" id="{47720497-725B-42CF-F0B9-FCA254D026EB}"/>
              </a:ext>
            </a:extLst>
          </p:cNvPr>
          <p:cNvSpPr/>
          <p:nvPr/>
        </p:nvSpPr>
        <p:spPr>
          <a:xfrm>
            <a:off x="4098736" y="4626202"/>
            <a:ext cx="5303520" cy="73152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JUN/2026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Table of Contents</a:t>
            </a:r>
            <a:endParaRPr lang="en-US" sz="2200" dirty="0"/>
          </a:p>
        </p:txBody>
      </p:sp>
      <p:sp>
        <p:nvSpPr>
          <p:cNvPr id="4" name="Shape 2"/>
          <p:cNvSpPr/>
          <p:nvPr/>
        </p:nvSpPr>
        <p:spPr>
          <a:xfrm>
            <a:off x="0" y="4892040"/>
            <a:ext cx="9144000" cy="251460"/>
          </a:xfrm>
          <a:prstGeom prst="rect">
            <a:avLst/>
          </a:prstGeom>
          <a:solidFill>
            <a:srgbClr val="1B3A6B"/>
          </a:solidFill>
          <a:ln/>
        </p:spPr>
      </p:sp>
      <p:sp>
        <p:nvSpPr>
          <p:cNvPr id="6" name="Text 4"/>
          <p:cNvSpPr/>
          <p:nvPr/>
        </p:nvSpPr>
        <p:spPr>
          <a:xfrm>
            <a:off x="8686800" y="4901184"/>
            <a:ext cx="365760" cy="228600"/>
          </a:xfrm>
          <a:prstGeom prst="rect">
            <a:avLst/>
          </a:prstGeom>
          <a:noFill/>
          <a:ln/>
        </p:spPr>
        <p:txBody>
          <a:bodyPr wrap="square" lIns="0" tIns="0" rIns="0" bIns="0" rtlCol="0" anchor="ctr"/>
          <a:lstStyle/>
          <a:p>
            <a:pPr marL="0" indent="0" algn="r">
              <a:buNone/>
            </a:pPr>
            <a:r>
              <a:rPr lang="en-US" sz="900" dirty="0">
                <a:solidFill>
                  <a:srgbClr val="D5E8F4"/>
                </a:solidFill>
                <a:latin typeface="Calibri" pitchFamily="34" charset="0"/>
                <a:ea typeface="Calibri" pitchFamily="34" charset="-122"/>
                <a:cs typeface="Calibri" pitchFamily="34" charset="-120"/>
              </a:rPr>
              <a:t>2</a:t>
            </a:r>
            <a:endParaRPr lang="en-US" sz="900" dirty="0"/>
          </a:p>
        </p:txBody>
      </p:sp>
      <p:sp>
        <p:nvSpPr>
          <p:cNvPr id="7" name="Shape 5"/>
          <p:cNvSpPr/>
          <p:nvPr/>
        </p:nvSpPr>
        <p:spPr>
          <a:xfrm>
            <a:off x="0" y="0"/>
            <a:ext cx="9144000" cy="640080"/>
          </a:xfrm>
          <a:prstGeom prst="rect">
            <a:avLst/>
          </a:prstGeom>
          <a:solidFill>
            <a:schemeClr val="accent1">
              <a:lumMod val="50000"/>
            </a:schemeClr>
          </a:solidFill>
          <a:ln/>
        </p:spPr>
      </p:sp>
      <p:sp>
        <p:nvSpPr>
          <p:cNvPr id="8" name="Text 6"/>
          <p:cNvSpPr/>
          <p:nvPr/>
        </p:nvSpPr>
        <p:spPr>
          <a:xfrm>
            <a:off x="274320" y="45720"/>
            <a:ext cx="859536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Table of Contents</a:t>
            </a:r>
            <a:endParaRPr lang="en-US" sz="2200" dirty="0"/>
          </a:p>
        </p:txBody>
      </p:sp>
      <p:sp>
        <p:nvSpPr>
          <p:cNvPr id="9" name="Shape 7"/>
          <p:cNvSpPr/>
          <p:nvPr/>
        </p:nvSpPr>
        <p:spPr>
          <a:xfrm>
            <a:off x="365760" y="777240"/>
            <a:ext cx="4114800" cy="868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0" name="Shape 8"/>
          <p:cNvSpPr/>
          <p:nvPr/>
        </p:nvSpPr>
        <p:spPr>
          <a:xfrm>
            <a:off x="365760" y="777240"/>
            <a:ext cx="502920" cy="868680"/>
          </a:xfrm>
          <a:prstGeom prst="rect">
            <a:avLst/>
          </a:prstGeom>
          <a:solidFill>
            <a:srgbClr val="1B3A6B"/>
          </a:solidFill>
          <a:ln/>
        </p:spPr>
      </p:sp>
      <p:sp>
        <p:nvSpPr>
          <p:cNvPr id="11" name="Text 9"/>
          <p:cNvSpPr/>
          <p:nvPr/>
        </p:nvSpPr>
        <p:spPr>
          <a:xfrm>
            <a:off x="384048" y="978408"/>
            <a:ext cx="466344" cy="457200"/>
          </a:xfrm>
          <a:prstGeom prst="rect">
            <a:avLst/>
          </a:prstGeom>
          <a:noFill/>
          <a:ln/>
        </p:spPr>
        <p:txBody>
          <a:bodyPr wrap="square" lIns="0" tIns="0" rIns="0" bIns="0" rtlCol="0" anchor="ctr"/>
          <a:lstStyle/>
          <a:p>
            <a:pPr marL="0" indent="0" algn="ctr">
              <a:buNone/>
            </a:pPr>
            <a:r>
              <a:rPr lang="en-US" sz="1800" b="1" dirty="0">
                <a:solidFill>
                  <a:srgbClr val="00A896"/>
                </a:solidFill>
                <a:latin typeface="Calibri" pitchFamily="34" charset="0"/>
                <a:ea typeface="Calibri" pitchFamily="34" charset="-122"/>
                <a:cs typeface="Calibri" pitchFamily="34" charset="-120"/>
              </a:rPr>
              <a:t>01</a:t>
            </a:r>
            <a:endParaRPr lang="en-US" sz="1800" dirty="0"/>
          </a:p>
        </p:txBody>
      </p:sp>
      <p:sp>
        <p:nvSpPr>
          <p:cNvPr id="12" name="Text 10"/>
          <p:cNvSpPr/>
          <p:nvPr/>
        </p:nvSpPr>
        <p:spPr>
          <a:xfrm>
            <a:off x="932688" y="832104"/>
            <a:ext cx="3429000" cy="320040"/>
          </a:xfrm>
          <a:prstGeom prst="rect">
            <a:avLst/>
          </a:prstGeom>
          <a:noFill/>
          <a:ln/>
        </p:spPr>
        <p:txBody>
          <a:bodyPr wrap="square" lIns="0" tIns="0" rIns="0" bIns="0"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Project Overview</a:t>
            </a:r>
            <a:endParaRPr lang="en-US" sz="1300" dirty="0"/>
          </a:p>
        </p:txBody>
      </p:sp>
      <p:sp>
        <p:nvSpPr>
          <p:cNvPr id="13" name="Text 11"/>
          <p:cNvSpPr/>
          <p:nvPr/>
        </p:nvSpPr>
        <p:spPr>
          <a:xfrm>
            <a:off x="932688" y="1197864"/>
            <a:ext cx="3429000"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Background, Problem, Objectives &amp; Scope</a:t>
            </a:r>
            <a:endParaRPr lang="en-US" sz="950" dirty="0"/>
          </a:p>
        </p:txBody>
      </p:sp>
      <p:sp>
        <p:nvSpPr>
          <p:cNvPr id="14" name="Shape 12"/>
          <p:cNvSpPr/>
          <p:nvPr/>
        </p:nvSpPr>
        <p:spPr>
          <a:xfrm>
            <a:off x="365760" y="1789938"/>
            <a:ext cx="4114800" cy="868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5" name="Shape 13"/>
          <p:cNvSpPr/>
          <p:nvPr/>
        </p:nvSpPr>
        <p:spPr>
          <a:xfrm>
            <a:off x="365760" y="1783080"/>
            <a:ext cx="502920" cy="868680"/>
          </a:xfrm>
          <a:prstGeom prst="rect">
            <a:avLst/>
          </a:prstGeom>
          <a:solidFill>
            <a:srgbClr val="1B3A6B"/>
          </a:solidFill>
          <a:ln/>
        </p:spPr>
      </p:sp>
      <p:sp>
        <p:nvSpPr>
          <p:cNvPr id="16" name="Text 14"/>
          <p:cNvSpPr/>
          <p:nvPr/>
        </p:nvSpPr>
        <p:spPr>
          <a:xfrm>
            <a:off x="384048" y="1984248"/>
            <a:ext cx="466344" cy="457200"/>
          </a:xfrm>
          <a:prstGeom prst="rect">
            <a:avLst/>
          </a:prstGeom>
          <a:noFill/>
          <a:ln/>
        </p:spPr>
        <p:txBody>
          <a:bodyPr wrap="square" lIns="0" tIns="0" rIns="0" bIns="0" rtlCol="0" anchor="ctr"/>
          <a:lstStyle/>
          <a:p>
            <a:pPr marL="0" indent="0" algn="ctr">
              <a:buNone/>
            </a:pPr>
            <a:r>
              <a:rPr lang="en-US" sz="1800" b="1" dirty="0">
                <a:solidFill>
                  <a:srgbClr val="00A896"/>
                </a:solidFill>
                <a:latin typeface="Calibri" pitchFamily="34" charset="0"/>
                <a:ea typeface="Calibri" pitchFamily="34" charset="-122"/>
                <a:cs typeface="Calibri" pitchFamily="34" charset="-120"/>
              </a:rPr>
              <a:t>02</a:t>
            </a:r>
            <a:endParaRPr lang="en-US" sz="1800" dirty="0"/>
          </a:p>
        </p:txBody>
      </p:sp>
      <p:sp>
        <p:nvSpPr>
          <p:cNvPr id="17" name="Text 15"/>
          <p:cNvSpPr/>
          <p:nvPr/>
        </p:nvSpPr>
        <p:spPr>
          <a:xfrm>
            <a:off x="932688" y="1837944"/>
            <a:ext cx="3429000" cy="320040"/>
          </a:xfrm>
          <a:prstGeom prst="rect">
            <a:avLst/>
          </a:prstGeom>
          <a:noFill/>
          <a:ln/>
        </p:spPr>
        <p:txBody>
          <a:bodyPr wrap="square" lIns="0" tIns="0" rIns="0" bIns="0"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Dataset &amp; Methodology</a:t>
            </a:r>
            <a:endParaRPr lang="en-US" sz="1300" dirty="0"/>
          </a:p>
        </p:txBody>
      </p:sp>
      <p:sp>
        <p:nvSpPr>
          <p:cNvPr id="18" name="Text 16"/>
          <p:cNvSpPr/>
          <p:nvPr/>
        </p:nvSpPr>
        <p:spPr>
          <a:xfrm>
            <a:off x="932688" y="2203704"/>
            <a:ext cx="3429000"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Data sources, cleaning, transformation &amp; modeling</a:t>
            </a:r>
            <a:endParaRPr lang="en-US" sz="950" dirty="0"/>
          </a:p>
        </p:txBody>
      </p:sp>
      <p:sp>
        <p:nvSpPr>
          <p:cNvPr id="19" name="Shape 17"/>
          <p:cNvSpPr/>
          <p:nvPr/>
        </p:nvSpPr>
        <p:spPr>
          <a:xfrm>
            <a:off x="365760" y="2788920"/>
            <a:ext cx="4114800" cy="868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0" name="Shape 18"/>
          <p:cNvSpPr/>
          <p:nvPr/>
        </p:nvSpPr>
        <p:spPr>
          <a:xfrm>
            <a:off x="365760" y="2788920"/>
            <a:ext cx="502920" cy="868680"/>
          </a:xfrm>
          <a:prstGeom prst="rect">
            <a:avLst/>
          </a:prstGeom>
          <a:solidFill>
            <a:srgbClr val="1B3A6B"/>
          </a:solidFill>
          <a:ln/>
        </p:spPr>
      </p:sp>
      <p:sp>
        <p:nvSpPr>
          <p:cNvPr id="21" name="Text 19"/>
          <p:cNvSpPr/>
          <p:nvPr/>
        </p:nvSpPr>
        <p:spPr>
          <a:xfrm>
            <a:off x="384048" y="2990088"/>
            <a:ext cx="466344" cy="457200"/>
          </a:xfrm>
          <a:prstGeom prst="rect">
            <a:avLst/>
          </a:prstGeom>
          <a:noFill/>
          <a:ln/>
        </p:spPr>
        <p:txBody>
          <a:bodyPr wrap="square" lIns="0" tIns="0" rIns="0" bIns="0" rtlCol="0" anchor="ctr"/>
          <a:lstStyle/>
          <a:p>
            <a:pPr marL="0" indent="0" algn="ctr">
              <a:buNone/>
            </a:pPr>
            <a:r>
              <a:rPr lang="en-US" sz="1800" b="1" dirty="0">
                <a:solidFill>
                  <a:srgbClr val="00A896"/>
                </a:solidFill>
                <a:latin typeface="Calibri" pitchFamily="34" charset="0"/>
                <a:ea typeface="Calibri" pitchFamily="34" charset="-122"/>
                <a:cs typeface="Calibri" pitchFamily="34" charset="-120"/>
              </a:rPr>
              <a:t>03</a:t>
            </a:r>
            <a:endParaRPr lang="en-US" sz="1800" dirty="0"/>
          </a:p>
        </p:txBody>
      </p:sp>
      <p:sp>
        <p:nvSpPr>
          <p:cNvPr id="22" name="Text 20"/>
          <p:cNvSpPr/>
          <p:nvPr/>
        </p:nvSpPr>
        <p:spPr>
          <a:xfrm>
            <a:off x="932688" y="2843784"/>
            <a:ext cx="3429000" cy="320040"/>
          </a:xfrm>
          <a:prstGeom prst="rect">
            <a:avLst/>
          </a:prstGeom>
          <a:noFill/>
          <a:ln/>
        </p:spPr>
        <p:txBody>
          <a:bodyPr wrap="square" lIns="0" tIns="0" rIns="0" bIns="0"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Dashboard Sales Overview</a:t>
            </a:r>
            <a:endParaRPr lang="en-US" sz="1300" dirty="0"/>
          </a:p>
        </p:txBody>
      </p:sp>
      <p:sp>
        <p:nvSpPr>
          <p:cNvPr id="23" name="Text 21"/>
          <p:cNvSpPr/>
          <p:nvPr/>
        </p:nvSpPr>
        <p:spPr>
          <a:xfrm>
            <a:off x="932688" y="3209544"/>
            <a:ext cx="3429000"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KPIs, trends, categories &amp; regional performance</a:t>
            </a:r>
            <a:endParaRPr lang="en-US" sz="950" dirty="0"/>
          </a:p>
        </p:txBody>
      </p:sp>
      <p:sp>
        <p:nvSpPr>
          <p:cNvPr id="24" name="Shape 22"/>
          <p:cNvSpPr/>
          <p:nvPr/>
        </p:nvSpPr>
        <p:spPr>
          <a:xfrm>
            <a:off x="365760" y="3794760"/>
            <a:ext cx="4114800" cy="868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5" name="Shape 23"/>
          <p:cNvSpPr/>
          <p:nvPr/>
        </p:nvSpPr>
        <p:spPr>
          <a:xfrm>
            <a:off x="365760" y="3794760"/>
            <a:ext cx="502920" cy="868680"/>
          </a:xfrm>
          <a:prstGeom prst="rect">
            <a:avLst/>
          </a:prstGeom>
          <a:solidFill>
            <a:srgbClr val="1B3A6B"/>
          </a:solidFill>
          <a:ln/>
        </p:spPr>
      </p:sp>
      <p:sp>
        <p:nvSpPr>
          <p:cNvPr id="26" name="Text 24"/>
          <p:cNvSpPr/>
          <p:nvPr/>
        </p:nvSpPr>
        <p:spPr>
          <a:xfrm>
            <a:off x="384048" y="3995928"/>
            <a:ext cx="466344" cy="457200"/>
          </a:xfrm>
          <a:prstGeom prst="rect">
            <a:avLst/>
          </a:prstGeom>
          <a:noFill/>
          <a:ln/>
        </p:spPr>
        <p:txBody>
          <a:bodyPr wrap="square" lIns="0" tIns="0" rIns="0" bIns="0" rtlCol="0" anchor="ctr"/>
          <a:lstStyle/>
          <a:p>
            <a:pPr marL="0" indent="0" algn="ctr">
              <a:buNone/>
            </a:pPr>
            <a:r>
              <a:rPr lang="en-US" sz="1800" b="1" dirty="0">
                <a:solidFill>
                  <a:srgbClr val="00A896"/>
                </a:solidFill>
                <a:latin typeface="Calibri" pitchFamily="34" charset="0"/>
                <a:ea typeface="Calibri" pitchFamily="34" charset="-122"/>
                <a:cs typeface="Calibri" pitchFamily="34" charset="-120"/>
              </a:rPr>
              <a:t>04</a:t>
            </a:r>
            <a:endParaRPr lang="en-US" sz="1800" dirty="0"/>
          </a:p>
        </p:txBody>
      </p:sp>
      <p:sp>
        <p:nvSpPr>
          <p:cNvPr id="27" name="Text 25"/>
          <p:cNvSpPr/>
          <p:nvPr/>
        </p:nvSpPr>
        <p:spPr>
          <a:xfrm>
            <a:off x="932688" y="3849624"/>
            <a:ext cx="3429000" cy="320040"/>
          </a:xfrm>
          <a:prstGeom prst="rect">
            <a:avLst/>
          </a:prstGeom>
          <a:noFill/>
          <a:ln/>
        </p:spPr>
        <p:txBody>
          <a:bodyPr wrap="square" lIns="0" tIns="0" rIns="0" bIns="0"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Dashboard Customer Analysis</a:t>
            </a:r>
            <a:endParaRPr lang="en-US" sz="1300" dirty="0"/>
          </a:p>
        </p:txBody>
      </p:sp>
      <p:sp>
        <p:nvSpPr>
          <p:cNvPr id="28" name="Text 26"/>
          <p:cNvSpPr/>
          <p:nvPr/>
        </p:nvSpPr>
        <p:spPr>
          <a:xfrm>
            <a:off x="932688" y="4215384"/>
            <a:ext cx="3429000"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Customer growth, segmentation, behavior &amp; geography</a:t>
            </a:r>
            <a:endParaRPr lang="en-US" sz="950" dirty="0"/>
          </a:p>
        </p:txBody>
      </p:sp>
      <p:sp>
        <p:nvSpPr>
          <p:cNvPr id="29" name="Shape 27"/>
          <p:cNvSpPr/>
          <p:nvPr/>
        </p:nvSpPr>
        <p:spPr>
          <a:xfrm>
            <a:off x="4754880" y="777240"/>
            <a:ext cx="4114800" cy="868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Shape 28"/>
          <p:cNvSpPr/>
          <p:nvPr/>
        </p:nvSpPr>
        <p:spPr>
          <a:xfrm>
            <a:off x="4754880" y="777240"/>
            <a:ext cx="502920" cy="868680"/>
          </a:xfrm>
          <a:prstGeom prst="rect">
            <a:avLst/>
          </a:prstGeom>
          <a:solidFill>
            <a:srgbClr val="1B3A6B"/>
          </a:solidFill>
          <a:ln/>
        </p:spPr>
      </p:sp>
      <p:sp>
        <p:nvSpPr>
          <p:cNvPr id="31" name="Text 29"/>
          <p:cNvSpPr/>
          <p:nvPr/>
        </p:nvSpPr>
        <p:spPr>
          <a:xfrm>
            <a:off x="4773168" y="978408"/>
            <a:ext cx="466344" cy="457200"/>
          </a:xfrm>
          <a:prstGeom prst="rect">
            <a:avLst/>
          </a:prstGeom>
          <a:noFill/>
          <a:ln/>
        </p:spPr>
        <p:txBody>
          <a:bodyPr wrap="square" lIns="0" tIns="0" rIns="0" bIns="0" rtlCol="0" anchor="ctr"/>
          <a:lstStyle/>
          <a:p>
            <a:pPr marL="0" indent="0" algn="ctr">
              <a:buNone/>
            </a:pPr>
            <a:r>
              <a:rPr lang="en-US" sz="1800" b="1" dirty="0">
                <a:solidFill>
                  <a:srgbClr val="00A896"/>
                </a:solidFill>
                <a:latin typeface="Calibri" pitchFamily="34" charset="0"/>
                <a:ea typeface="Calibri" pitchFamily="34" charset="-122"/>
                <a:cs typeface="Calibri" pitchFamily="34" charset="-120"/>
              </a:rPr>
              <a:t>05</a:t>
            </a:r>
            <a:endParaRPr lang="en-US" sz="1800" dirty="0"/>
          </a:p>
        </p:txBody>
      </p:sp>
      <p:sp>
        <p:nvSpPr>
          <p:cNvPr id="32" name="Text 30"/>
          <p:cNvSpPr/>
          <p:nvPr/>
        </p:nvSpPr>
        <p:spPr>
          <a:xfrm>
            <a:off x="5321808" y="832104"/>
            <a:ext cx="3429000" cy="320040"/>
          </a:xfrm>
          <a:prstGeom prst="rect">
            <a:avLst/>
          </a:prstGeom>
          <a:noFill/>
          <a:ln/>
        </p:spPr>
        <p:txBody>
          <a:bodyPr wrap="square" lIns="0" tIns="0" rIns="0" bIns="0"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Dashboard Products Analysis</a:t>
            </a:r>
            <a:endParaRPr lang="en-US" sz="1300" dirty="0"/>
          </a:p>
        </p:txBody>
      </p:sp>
      <p:sp>
        <p:nvSpPr>
          <p:cNvPr id="33" name="Text 31"/>
          <p:cNvSpPr/>
          <p:nvPr/>
        </p:nvSpPr>
        <p:spPr>
          <a:xfrm>
            <a:off x="5321808" y="1197864"/>
            <a:ext cx="3429000"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Product KPIs, treemap, sales vs. target &amp; profit</a:t>
            </a:r>
            <a:endParaRPr lang="en-US" sz="950" dirty="0"/>
          </a:p>
        </p:txBody>
      </p:sp>
      <p:sp>
        <p:nvSpPr>
          <p:cNvPr id="34" name="Shape 32"/>
          <p:cNvSpPr/>
          <p:nvPr/>
        </p:nvSpPr>
        <p:spPr>
          <a:xfrm>
            <a:off x="4754880" y="1783080"/>
            <a:ext cx="4114800" cy="868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5" name="Shape 33"/>
          <p:cNvSpPr/>
          <p:nvPr/>
        </p:nvSpPr>
        <p:spPr>
          <a:xfrm>
            <a:off x="4754880" y="1783080"/>
            <a:ext cx="502920" cy="868680"/>
          </a:xfrm>
          <a:prstGeom prst="rect">
            <a:avLst/>
          </a:prstGeom>
          <a:solidFill>
            <a:srgbClr val="1B3A6B"/>
          </a:solidFill>
          <a:ln/>
        </p:spPr>
      </p:sp>
      <p:sp>
        <p:nvSpPr>
          <p:cNvPr id="36" name="Text 34"/>
          <p:cNvSpPr/>
          <p:nvPr/>
        </p:nvSpPr>
        <p:spPr>
          <a:xfrm>
            <a:off x="4773168" y="1984248"/>
            <a:ext cx="466344" cy="457200"/>
          </a:xfrm>
          <a:prstGeom prst="rect">
            <a:avLst/>
          </a:prstGeom>
          <a:noFill/>
          <a:ln/>
        </p:spPr>
        <p:txBody>
          <a:bodyPr wrap="square" lIns="0" tIns="0" rIns="0" bIns="0" rtlCol="0" anchor="ctr"/>
          <a:lstStyle/>
          <a:p>
            <a:pPr marL="0" indent="0" algn="ctr">
              <a:buNone/>
            </a:pPr>
            <a:r>
              <a:rPr lang="en-US" sz="1800" b="1" dirty="0">
                <a:solidFill>
                  <a:srgbClr val="00A896"/>
                </a:solidFill>
                <a:latin typeface="Calibri" pitchFamily="34" charset="0"/>
                <a:ea typeface="Calibri" pitchFamily="34" charset="-122"/>
                <a:cs typeface="Calibri" pitchFamily="34" charset="-120"/>
              </a:rPr>
              <a:t>06</a:t>
            </a:r>
            <a:endParaRPr lang="en-US" sz="1800" dirty="0"/>
          </a:p>
        </p:txBody>
      </p:sp>
      <p:sp>
        <p:nvSpPr>
          <p:cNvPr id="37" name="Text 35"/>
          <p:cNvSpPr/>
          <p:nvPr/>
        </p:nvSpPr>
        <p:spPr>
          <a:xfrm>
            <a:off x="5321808" y="1837944"/>
            <a:ext cx="3429000" cy="320040"/>
          </a:xfrm>
          <a:prstGeom prst="rect">
            <a:avLst/>
          </a:prstGeom>
          <a:noFill/>
          <a:ln/>
        </p:spPr>
        <p:txBody>
          <a:bodyPr wrap="square" lIns="0" tIns="0" rIns="0" bIns="0"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Key Findings &amp; Insights</a:t>
            </a:r>
            <a:endParaRPr lang="en-US" sz="1300" dirty="0"/>
          </a:p>
        </p:txBody>
      </p:sp>
      <p:sp>
        <p:nvSpPr>
          <p:cNvPr id="38" name="Text 36"/>
          <p:cNvSpPr/>
          <p:nvPr/>
        </p:nvSpPr>
        <p:spPr>
          <a:xfrm>
            <a:off x="5321808" y="2203704"/>
            <a:ext cx="3429000"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Critical discoveries across all three dashboards</a:t>
            </a:r>
            <a:endParaRPr lang="en-US" sz="950" dirty="0"/>
          </a:p>
        </p:txBody>
      </p:sp>
      <p:sp>
        <p:nvSpPr>
          <p:cNvPr id="39" name="Shape 37"/>
          <p:cNvSpPr/>
          <p:nvPr/>
        </p:nvSpPr>
        <p:spPr>
          <a:xfrm>
            <a:off x="4754880" y="2788920"/>
            <a:ext cx="4114800" cy="868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40" name="Shape 38"/>
          <p:cNvSpPr/>
          <p:nvPr/>
        </p:nvSpPr>
        <p:spPr>
          <a:xfrm>
            <a:off x="4754880" y="2788920"/>
            <a:ext cx="502920" cy="868680"/>
          </a:xfrm>
          <a:prstGeom prst="rect">
            <a:avLst/>
          </a:prstGeom>
          <a:solidFill>
            <a:srgbClr val="1B3A6B"/>
          </a:solidFill>
          <a:ln/>
        </p:spPr>
      </p:sp>
      <p:sp>
        <p:nvSpPr>
          <p:cNvPr id="41" name="Text 39"/>
          <p:cNvSpPr/>
          <p:nvPr/>
        </p:nvSpPr>
        <p:spPr>
          <a:xfrm>
            <a:off x="4773168" y="2990088"/>
            <a:ext cx="466344" cy="457200"/>
          </a:xfrm>
          <a:prstGeom prst="rect">
            <a:avLst/>
          </a:prstGeom>
          <a:noFill/>
          <a:ln/>
        </p:spPr>
        <p:txBody>
          <a:bodyPr wrap="square" lIns="0" tIns="0" rIns="0" bIns="0" rtlCol="0" anchor="ctr"/>
          <a:lstStyle/>
          <a:p>
            <a:pPr marL="0" indent="0" algn="ctr">
              <a:buNone/>
            </a:pPr>
            <a:r>
              <a:rPr lang="en-US" sz="1800" b="1" dirty="0">
                <a:solidFill>
                  <a:srgbClr val="00A896"/>
                </a:solidFill>
                <a:latin typeface="Calibri" pitchFamily="34" charset="0"/>
                <a:ea typeface="Calibri" pitchFamily="34" charset="-122"/>
                <a:cs typeface="Calibri" pitchFamily="34" charset="-120"/>
              </a:rPr>
              <a:t>07</a:t>
            </a:r>
            <a:endParaRPr lang="en-US" sz="1800" dirty="0"/>
          </a:p>
        </p:txBody>
      </p:sp>
      <p:sp>
        <p:nvSpPr>
          <p:cNvPr id="42" name="Text 40"/>
          <p:cNvSpPr/>
          <p:nvPr/>
        </p:nvSpPr>
        <p:spPr>
          <a:xfrm>
            <a:off x="5321808" y="2843784"/>
            <a:ext cx="3429000" cy="320040"/>
          </a:xfrm>
          <a:prstGeom prst="rect">
            <a:avLst/>
          </a:prstGeom>
          <a:noFill/>
          <a:ln/>
        </p:spPr>
        <p:txBody>
          <a:bodyPr wrap="square" lIns="0" tIns="0" rIns="0" bIns="0"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Strategic Recommendations</a:t>
            </a:r>
            <a:endParaRPr lang="en-US" sz="1300" dirty="0"/>
          </a:p>
        </p:txBody>
      </p:sp>
      <p:sp>
        <p:nvSpPr>
          <p:cNvPr id="43" name="Text 41"/>
          <p:cNvSpPr/>
          <p:nvPr/>
        </p:nvSpPr>
        <p:spPr>
          <a:xfrm>
            <a:off x="5321808" y="3209544"/>
            <a:ext cx="3429000"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Data-driven actions for business growth</a:t>
            </a:r>
            <a:endParaRPr lang="en-US" sz="950" dirty="0"/>
          </a:p>
        </p:txBody>
      </p:sp>
      <p:sp>
        <p:nvSpPr>
          <p:cNvPr id="44" name="Shape 42"/>
          <p:cNvSpPr/>
          <p:nvPr/>
        </p:nvSpPr>
        <p:spPr>
          <a:xfrm>
            <a:off x="4754880" y="3794760"/>
            <a:ext cx="4114800" cy="868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45" name="Shape 43"/>
          <p:cNvSpPr/>
          <p:nvPr/>
        </p:nvSpPr>
        <p:spPr>
          <a:xfrm>
            <a:off x="4754880" y="3794760"/>
            <a:ext cx="502920" cy="868680"/>
          </a:xfrm>
          <a:prstGeom prst="rect">
            <a:avLst/>
          </a:prstGeom>
          <a:solidFill>
            <a:srgbClr val="1B3A6B"/>
          </a:solidFill>
          <a:ln/>
        </p:spPr>
      </p:sp>
      <p:sp>
        <p:nvSpPr>
          <p:cNvPr id="46" name="Text 44"/>
          <p:cNvSpPr/>
          <p:nvPr/>
        </p:nvSpPr>
        <p:spPr>
          <a:xfrm>
            <a:off x="4773168" y="3995928"/>
            <a:ext cx="466344" cy="457200"/>
          </a:xfrm>
          <a:prstGeom prst="rect">
            <a:avLst/>
          </a:prstGeom>
          <a:noFill/>
          <a:ln/>
        </p:spPr>
        <p:txBody>
          <a:bodyPr wrap="square" lIns="0" tIns="0" rIns="0" bIns="0" rtlCol="0" anchor="ctr"/>
          <a:lstStyle/>
          <a:p>
            <a:pPr marL="0" indent="0" algn="ctr">
              <a:buNone/>
            </a:pPr>
            <a:r>
              <a:rPr lang="en-US" sz="1800" b="1" dirty="0">
                <a:solidFill>
                  <a:srgbClr val="00A896"/>
                </a:solidFill>
                <a:latin typeface="Calibri" pitchFamily="34" charset="0"/>
                <a:ea typeface="Calibri" pitchFamily="34" charset="-122"/>
                <a:cs typeface="Calibri" pitchFamily="34" charset="-120"/>
              </a:rPr>
              <a:t>08</a:t>
            </a:r>
            <a:endParaRPr lang="en-US" sz="1800" dirty="0"/>
          </a:p>
        </p:txBody>
      </p:sp>
      <p:sp>
        <p:nvSpPr>
          <p:cNvPr id="47" name="Text 45"/>
          <p:cNvSpPr/>
          <p:nvPr/>
        </p:nvSpPr>
        <p:spPr>
          <a:xfrm>
            <a:off x="5321808" y="3849624"/>
            <a:ext cx="3429000" cy="320040"/>
          </a:xfrm>
          <a:prstGeom prst="rect">
            <a:avLst/>
          </a:prstGeom>
          <a:noFill/>
          <a:ln/>
        </p:spPr>
        <p:txBody>
          <a:bodyPr wrap="square" lIns="0" tIns="0" rIns="0" bIns="0"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Executive Summary</a:t>
            </a:r>
            <a:endParaRPr lang="en-US" sz="1300" dirty="0"/>
          </a:p>
        </p:txBody>
      </p:sp>
      <p:sp>
        <p:nvSpPr>
          <p:cNvPr id="48" name="Text 46"/>
          <p:cNvSpPr/>
          <p:nvPr/>
        </p:nvSpPr>
        <p:spPr>
          <a:xfrm>
            <a:off x="5321808" y="4215384"/>
            <a:ext cx="3429000"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Conclusions, impact &amp; next steps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240"/>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A896"/>
          </a:solidFill>
          <a:ln/>
        </p:spPr>
      </p:sp>
      <p:sp>
        <p:nvSpPr>
          <p:cNvPr id="3" name="Text 1"/>
          <p:cNvSpPr/>
          <p:nvPr/>
        </p:nvSpPr>
        <p:spPr>
          <a:xfrm>
            <a:off x="457200" y="1645920"/>
            <a:ext cx="8229600" cy="109728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01 | Project Overview</a:t>
            </a:r>
            <a:endParaRPr lang="en-US" sz="4400" dirty="0"/>
          </a:p>
        </p:txBody>
      </p:sp>
      <p:sp>
        <p:nvSpPr>
          <p:cNvPr id="4" name="Text 2"/>
          <p:cNvSpPr/>
          <p:nvPr/>
        </p:nvSpPr>
        <p:spPr>
          <a:xfrm>
            <a:off x="457200" y="2834640"/>
            <a:ext cx="8229600" cy="640080"/>
          </a:xfrm>
          <a:prstGeom prst="rect">
            <a:avLst/>
          </a:prstGeom>
          <a:noFill/>
          <a:ln/>
        </p:spPr>
        <p:txBody>
          <a:bodyPr wrap="square" rtlCol="0" anchor="ctr"/>
          <a:lstStyle/>
          <a:p>
            <a:pPr marL="0" indent="0" algn="ctr">
              <a:buNone/>
            </a:pPr>
            <a:r>
              <a:rPr lang="en-US" sz="1800" dirty="0">
                <a:solidFill>
                  <a:srgbClr val="D5E8F4"/>
                </a:solidFill>
                <a:latin typeface="Calibri" pitchFamily="34" charset="0"/>
                <a:ea typeface="Calibri" pitchFamily="34" charset="-122"/>
                <a:cs typeface="Calibri" pitchFamily="34" charset="-120"/>
              </a:rPr>
              <a:t>Background · Business Problem · Objectives · Scope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Project Overview — Background &amp; Business Problem</a:t>
            </a:r>
            <a:endParaRPr lang="en-US" sz="2200" dirty="0"/>
          </a:p>
        </p:txBody>
      </p:sp>
      <p:sp>
        <p:nvSpPr>
          <p:cNvPr id="4" name="Shape 2"/>
          <p:cNvSpPr/>
          <p:nvPr/>
        </p:nvSpPr>
        <p:spPr>
          <a:xfrm>
            <a:off x="0" y="4892040"/>
            <a:ext cx="9144000" cy="251460"/>
          </a:xfrm>
          <a:prstGeom prst="rect">
            <a:avLst/>
          </a:prstGeom>
          <a:solidFill>
            <a:srgbClr val="1B3A6B"/>
          </a:solidFill>
          <a:ln/>
        </p:spPr>
      </p:sp>
      <p:sp>
        <p:nvSpPr>
          <p:cNvPr id="6" name="Text 4"/>
          <p:cNvSpPr/>
          <p:nvPr/>
        </p:nvSpPr>
        <p:spPr>
          <a:xfrm>
            <a:off x="8686800" y="4901184"/>
            <a:ext cx="365760" cy="228600"/>
          </a:xfrm>
          <a:prstGeom prst="rect">
            <a:avLst/>
          </a:prstGeom>
          <a:noFill/>
          <a:ln/>
        </p:spPr>
        <p:txBody>
          <a:bodyPr wrap="square" lIns="0" tIns="0" rIns="0" bIns="0" rtlCol="0" anchor="ctr"/>
          <a:lstStyle/>
          <a:p>
            <a:pPr marL="0" indent="0" algn="r">
              <a:buNone/>
            </a:pPr>
            <a:r>
              <a:rPr lang="en-US" sz="900" dirty="0">
                <a:solidFill>
                  <a:srgbClr val="D5E8F4"/>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274320" y="777240"/>
            <a:ext cx="4114800" cy="39319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8" name="Shape 6"/>
          <p:cNvSpPr/>
          <p:nvPr/>
        </p:nvSpPr>
        <p:spPr>
          <a:xfrm>
            <a:off x="274320" y="777240"/>
            <a:ext cx="4114800" cy="54864"/>
          </a:xfrm>
          <a:prstGeom prst="rect">
            <a:avLst/>
          </a:prstGeom>
          <a:solidFill>
            <a:srgbClr val="028090"/>
          </a:solidFill>
          <a:ln/>
        </p:spPr>
      </p:sp>
      <p:sp>
        <p:nvSpPr>
          <p:cNvPr id="9" name="Text 7"/>
          <p:cNvSpPr/>
          <p:nvPr/>
        </p:nvSpPr>
        <p:spPr>
          <a:xfrm>
            <a:off x="457200" y="868680"/>
            <a:ext cx="3749040" cy="365760"/>
          </a:xfrm>
          <a:prstGeom prst="rect">
            <a:avLst/>
          </a:prstGeom>
          <a:noFill/>
          <a:ln/>
        </p:spPr>
        <p:txBody>
          <a:bodyPr wrap="square" lIns="0" tIns="0" rIns="0" bIns="0"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  Background</a:t>
            </a:r>
            <a:endParaRPr lang="en-US" sz="1400" dirty="0"/>
          </a:p>
        </p:txBody>
      </p:sp>
      <p:sp>
        <p:nvSpPr>
          <p:cNvPr id="10" name="Text 8"/>
          <p:cNvSpPr/>
          <p:nvPr/>
        </p:nvSpPr>
        <p:spPr>
          <a:xfrm>
            <a:off x="457200" y="1298448"/>
            <a:ext cx="3749040" cy="3200400"/>
          </a:xfrm>
          <a:prstGeom prst="rect">
            <a:avLst/>
          </a:prstGeom>
          <a:noFill/>
          <a:ln/>
        </p:spPr>
        <p:txBody>
          <a:bodyPr wrap="square" lIns="0" tIns="0" rIns="0" bIns="0" rtlCol="0" anchor="ctr"/>
          <a:lstStyle/>
          <a:p>
            <a:pPr marL="0" indent="0">
              <a:buNone/>
            </a:pPr>
            <a:r>
              <a:rPr lang="en-US" sz="1200" dirty="0">
                <a:solidFill>
                  <a:srgbClr val="36454F"/>
                </a:solidFill>
                <a:latin typeface="Calibri" pitchFamily="34" charset="0"/>
                <a:ea typeface="Calibri" pitchFamily="34" charset="-122"/>
                <a:cs typeface="Calibri" pitchFamily="34" charset="-120"/>
              </a:rPr>
              <a:t>An American retail company sells products across three major categories — Furniture, Office Supplies, and Technology — operating in four US regions: Central, East, South, and West.</a:t>
            </a:r>
            <a:endParaRPr lang="en-US" sz="1200" dirty="0"/>
          </a:p>
          <a:p>
            <a:pPr marL="0" indent="0">
              <a:buNone/>
            </a:pPr>
            <a:endParaRPr lang="en-US" sz="1200" dirty="0"/>
          </a:p>
          <a:p>
            <a:pPr marL="0" indent="0">
              <a:buNone/>
            </a:pPr>
            <a:r>
              <a:rPr lang="en-US" sz="1200" dirty="0">
                <a:solidFill>
                  <a:srgbClr val="36454F"/>
                </a:solidFill>
                <a:latin typeface="Calibri" pitchFamily="34" charset="0"/>
                <a:ea typeface="Calibri" pitchFamily="34" charset="-122"/>
                <a:cs typeface="Calibri" pitchFamily="34" charset="-120"/>
              </a:rPr>
              <a:t>With four years of transactional data (2020–2023) and nearly 10,000 order records, management lacked a unified analytics platform to monitor KPIs and make data-driven decisions.</a:t>
            </a:r>
            <a:endParaRPr lang="en-US" sz="1200" dirty="0"/>
          </a:p>
          <a:p>
            <a:pPr marL="0" indent="0">
              <a:buNone/>
            </a:pPr>
            <a:endParaRPr lang="en-US" sz="1200" dirty="0"/>
          </a:p>
          <a:p>
            <a:pPr marL="0" indent="0">
              <a:buNone/>
            </a:pPr>
            <a:r>
              <a:rPr lang="en-US" sz="1200" dirty="0">
                <a:solidFill>
                  <a:srgbClr val="36454F"/>
                </a:solidFill>
                <a:latin typeface="Calibri" pitchFamily="34" charset="0"/>
                <a:ea typeface="Calibri" pitchFamily="34" charset="-122"/>
                <a:cs typeface="Calibri" pitchFamily="34" charset="-120"/>
              </a:rPr>
              <a:t>The company needed a solution that transforms raw data into actionable intelligence.</a:t>
            </a:r>
            <a:endParaRPr lang="en-US" sz="1200" dirty="0"/>
          </a:p>
        </p:txBody>
      </p:sp>
      <p:sp>
        <p:nvSpPr>
          <p:cNvPr id="11" name="Shape 9"/>
          <p:cNvSpPr/>
          <p:nvPr/>
        </p:nvSpPr>
        <p:spPr>
          <a:xfrm>
            <a:off x="4663440" y="777240"/>
            <a:ext cx="4206240" cy="39319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2" name="Shape 10"/>
          <p:cNvSpPr/>
          <p:nvPr/>
        </p:nvSpPr>
        <p:spPr>
          <a:xfrm>
            <a:off x="4663440" y="777240"/>
            <a:ext cx="4206240" cy="54864"/>
          </a:xfrm>
          <a:prstGeom prst="rect">
            <a:avLst/>
          </a:prstGeom>
          <a:solidFill>
            <a:srgbClr val="F59E0B"/>
          </a:solidFill>
          <a:ln/>
        </p:spPr>
      </p:sp>
      <p:sp>
        <p:nvSpPr>
          <p:cNvPr id="13" name="Text 11"/>
          <p:cNvSpPr/>
          <p:nvPr/>
        </p:nvSpPr>
        <p:spPr>
          <a:xfrm>
            <a:off x="4846320" y="868680"/>
            <a:ext cx="3840480" cy="365760"/>
          </a:xfrm>
          <a:prstGeom prst="rect">
            <a:avLst/>
          </a:prstGeom>
          <a:noFill/>
          <a:ln/>
        </p:spPr>
        <p:txBody>
          <a:bodyPr wrap="square" lIns="0" tIns="0" rIns="0" bIns="0"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  Business Problem</a:t>
            </a:r>
            <a:endParaRPr lang="en-US" sz="1400" dirty="0"/>
          </a:p>
        </p:txBody>
      </p:sp>
      <p:sp>
        <p:nvSpPr>
          <p:cNvPr id="14" name="Text 12"/>
          <p:cNvSpPr/>
          <p:nvPr/>
        </p:nvSpPr>
        <p:spPr>
          <a:xfrm>
            <a:off x="4846320" y="1298448"/>
            <a:ext cx="3840480" cy="3200400"/>
          </a:xfrm>
          <a:prstGeom prst="rect">
            <a:avLst/>
          </a:prstGeom>
          <a:noFill/>
          <a:ln/>
        </p:spPr>
        <p:txBody>
          <a:bodyPr wrap="square" lIns="0" tIns="0" rIns="0" bIns="0" rtlCol="0" anchor="ctr"/>
          <a:lstStyle/>
          <a:p>
            <a:pPr marL="0" indent="0">
              <a:buNone/>
            </a:pPr>
            <a:r>
              <a:rPr lang="en-US" sz="1150" dirty="0">
                <a:solidFill>
                  <a:srgbClr val="36454F"/>
                </a:solidFill>
                <a:latin typeface="Calibri" pitchFamily="34" charset="0"/>
                <a:ea typeface="Calibri" pitchFamily="34" charset="-122"/>
                <a:cs typeface="Calibri" pitchFamily="34" charset="-120"/>
              </a:rPr>
              <a:t>1. No unified view of sales, profit, and order KPIs across years</a:t>
            </a:r>
            <a:endParaRPr lang="en-US" sz="115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36454F"/>
                </a:solidFill>
                <a:latin typeface="Calibri" pitchFamily="34" charset="0"/>
                <a:ea typeface="Calibri" pitchFamily="34" charset="-122"/>
                <a:cs typeface="Calibri" pitchFamily="34" charset="-120"/>
              </a:rPr>
              <a:t>2. Inability to compare current vs. prior year performance dynamically</a:t>
            </a:r>
            <a:endParaRPr lang="en-US" sz="115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36454F"/>
                </a:solidFill>
                <a:latin typeface="Calibri" pitchFamily="34" charset="0"/>
                <a:ea typeface="Calibri" pitchFamily="34" charset="-122"/>
                <a:cs typeface="Calibri" pitchFamily="34" charset="-120"/>
              </a:rPr>
              <a:t>3. No visibility into which products, regions, or segments drive profit</a:t>
            </a:r>
            <a:endParaRPr lang="en-US" sz="115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36454F"/>
                </a:solidFill>
                <a:latin typeface="Calibri" pitchFamily="34" charset="0"/>
                <a:ea typeface="Calibri" pitchFamily="34" charset="-122"/>
                <a:cs typeface="Calibri" pitchFamily="34" charset="-120"/>
              </a:rPr>
              <a:t>4. Customer behavior and retention trends were not being tracked</a:t>
            </a:r>
            <a:endParaRPr lang="en-US" sz="115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36454F"/>
                </a:solidFill>
                <a:latin typeface="Calibri" pitchFamily="34" charset="0"/>
                <a:ea typeface="Calibri" pitchFamily="34" charset="-122"/>
                <a:cs typeface="Calibri" pitchFamily="34" charset="-120"/>
              </a:rPr>
              <a:t>5. Monthly and seasonal patterns were invisible to decision-makers</a:t>
            </a:r>
            <a:endParaRPr lang="en-US" sz="115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36454F"/>
                </a:solidFill>
                <a:latin typeface="Calibri" pitchFamily="34" charset="0"/>
                <a:ea typeface="Calibri" pitchFamily="34" charset="-122"/>
                <a:cs typeface="Calibri" pitchFamily="34" charset="-120"/>
              </a:rPr>
              <a:t>6. Product performance gaps vs. sales targets were unmonitored</a:t>
            </a:r>
            <a:endParaRPr lang="en-US" sz="115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Project Objectives &amp; Scope</a:t>
            </a:r>
            <a:endParaRPr lang="en-US" sz="2200" dirty="0"/>
          </a:p>
        </p:txBody>
      </p:sp>
      <p:sp>
        <p:nvSpPr>
          <p:cNvPr id="4" name="Shape 2"/>
          <p:cNvSpPr/>
          <p:nvPr/>
        </p:nvSpPr>
        <p:spPr>
          <a:xfrm>
            <a:off x="0" y="4892040"/>
            <a:ext cx="9144000" cy="251460"/>
          </a:xfrm>
          <a:prstGeom prst="rect">
            <a:avLst/>
          </a:prstGeom>
          <a:solidFill>
            <a:srgbClr val="1B3A6B"/>
          </a:solidFill>
          <a:ln/>
        </p:spPr>
      </p:sp>
      <p:sp>
        <p:nvSpPr>
          <p:cNvPr id="6" name="Text 4"/>
          <p:cNvSpPr/>
          <p:nvPr/>
        </p:nvSpPr>
        <p:spPr>
          <a:xfrm>
            <a:off x="8686800" y="4901184"/>
            <a:ext cx="365760" cy="228600"/>
          </a:xfrm>
          <a:prstGeom prst="rect">
            <a:avLst/>
          </a:prstGeom>
          <a:noFill/>
          <a:ln/>
        </p:spPr>
        <p:txBody>
          <a:bodyPr wrap="square" lIns="0" tIns="0" rIns="0" bIns="0" rtlCol="0" anchor="ctr"/>
          <a:lstStyle/>
          <a:p>
            <a:pPr marL="0" indent="0" algn="r">
              <a:buNone/>
            </a:pPr>
            <a:r>
              <a:rPr lang="en-US" sz="900" dirty="0">
                <a:solidFill>
                  <a:srgbClr val="D5E8F4"/>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274320" y="731520"/>
            <a:ext cx="8595360" cy="320040"/>
          </a:xfrm>
          <a:prstGeom prst="rect">
            <a:avLst/>
          </a:prstGeom>
          <a:noFill/>
          <a:ln/>
        </p:spPr>
        <p:txBody>
          <a:bodyPr wrap="square" rtlCol="0" anchor="ctr"/>
          <a:lstStyle/>
          <a:p>
            <a:pPr marL="0" indent="0">
              <a:buNone/>
            </a:pPr>
            <a:r>
              <a:rPr lang="en-US" sz="1400" i="1" dirty="0">
                <a:solidFill>
                  <a:srgbClr val="028090"/>
                </a:solidFill>
                <a:latin typeface="Calibri" pitchFamily="34" charset="0"/>
                <a:ea typeface="Calibri" pitchFamily="34" charset="-122"/>
                <a:cs typeface="Calibri" pitchFamily="34" charset="-120"/>
              </a:rPr>
              <a:t>Three dashboards, one unified analytical story</a:t>
            </a:r>
            <a:endParaRPr lang="en-US" sz="1400" dirty="0"/>
          </a:p>
        </p:txBody>
      </p:sp>
      <p:sp>
        <p:nvSpPr>
          <p:cNvPr id="8" name="Shape 6"/>
          <p:cNvSpPr/>
          <p:nvPr/>
        </p:nvSpPr>
        <p:spPr>
          <a:xfrm>
            <a:off x="274320" y="1143000"/>
            <a:ext cx="2743200" cy="16002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9" name="Shape 7"/>
          <p:cNvSpPr/>
          <p:nvPr/>
        </p:nvSpPr>
        <p:spPr>
          <a:xfrm>
            <a:off x="274320" y="1143000"/>
            <a:ext cx="2743200" cy="54864"/>
          </a:xfrm>
          <a:prstGeom prst="rect">
            <a:avLst/>
          </a:prstGeom>
          <a:solidFill>
            <a:srgbClr val="028090"/>
          </a:solidFill>
          <a:ln/>
        </p:spPr>
      </p:sp>
      <p:sp>
        <p:nvSpPr>
          <p:cNvPr id="10" name="Text 8"/>
          <p:cNvSpPr/>
          <p:nvPr/>
        </p:nvSpPr>
        <p:spPr>
          <a:xfrm>
            <a:off x="384048" y="1234440"/>
            <a:ext cx="2523744" cy="347472"/>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  Sales Performance</a:t>
            </a:r>
            <a:endParaRPr lang="en-US" sz="1200" dirty="0"/>
          </a:p>
        </p:txBody>
      </p:sp>
      <p:sp>
        <p:nvSpPr>
          <p:cNvPr id="11" name="Text 9"/>
          <p:cNvSpPr/>
          <p:nvPr/>
        </p:nvSpPr>
        <p:spPr>
          <a:xfrm>
            <a:off x="384048" y="1618488"/>
            <a:ext cx="2523744" cy="1005840"/>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Track Total Sales ($733K), Profit ($93K), Orders (1,687) and Growth Rate (+20.4%) with YoY comparison for any selected year.</a:t>
            </a:r>
            <a:endParaRPr lang="en-US" sz="950" dirty="0"/>
          </a:p>
        </p:txBody>
      </p:sp>
      <p:sp>
        <p:nvSpPr>
          <p:cNvPr id="12" name="Shape 10"/>
          <p:cNvSpPr/>
          <p:nvPr/>
        </p:nvSpPr>
        <p:spPr>
          <a:xfrm>
            <a:off x="3227832" y="1143000"/>
            <a:ext cx="2743200" cy="16002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3" name="Shape 11"/>
          <p:cNvSpPr/>
          <p:nvPr/>
        </p:nvSpPr>
        <p:spPr>
          <a:xfrm>
            <a:off x="3227832" y="1143000"/>
            <a:ext cx="2743200" cy="54864"/>
          </a:xfrm>
          <a:prstGeom prst="rect">
            <a:avLst/>
          </a:prstGeom>
          <a:solidFill>
            <a:srgbClr val="028090"/>
          </a:solidFill>
          <a:ln/>
        </p:spPr>
      </p:sp>
      <p:sp>
        <p:nvSpPr>
          <p:cNvPr id="14" name="Text 12"/>
          <p:cNvSpPr/>
          <p:nvPr/>
        </p:nvSpPr>
        <p:spPr>
          <a:xfrm>
            <a:off x="3337560" y="1234440"/>
            <a:ext cx="2523744" cy="347472"/>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  Customer Analytics</a:t>
            </a:r>
            <a:endParaRPr lang="en-US" sz="1200" dirty="0"/>
          </a:p>
        </p:txBody>
      </p:sp>
      <p:sp>
        <p:nvSpPr>
          <p:cNvPr id="15" name="Text 13"/>
          <p:cNvSpPr/>
          <p:nvPr/>
        </p:nvSpPr>
        <p:spPr>
          <a:xfrm>
            <a:off x="3337560" y="1618488"/>
            <a:ext cx="2523744" cy="1005840"/>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Monitor 693 active customers, 493 returning customers (within-year), and 2.4 avg orders/customer with monthly and segment-level drill-down.</a:t>
            </a:r>
            <a:endParaRPr lang="en-US" sz="950" dirty="0"/>
          </a:p>
        </p:txBody>
      </p:sp>
      <p:sp>
        <p:nvSpPr>
          <p:cNvPr id="16" name="Shape 14"/>
          <p:cNvSpPr/>
          <p:nvPr/>
        </p:nvSpPr>
        <p:spPr>
          <a:xfrm>
            <a:off x="6181344" y="1143000"/>
            <a:ext cx="2743200" cy="16002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7" name="Shape 15"/>
          <p:cNvSpPr/>
          <p:nvPr/>
        </p:nvSpPr>
        <p:spPr>
          <a:xfrm>
            <a:off x="6181344" y="1143000"/>
            <a:ext cx="2743200" cy="54864"/>
          </a:xfrm>
          <a:prstGeom prst="rect">
            <a:avLst/>
          </a:prstGeom>
          <a:solidFill>
            <a:srgbClr val="028090"/>
          </a:solidFill>
          <a:ln/>
        </p:spPr>
      </p:sp>
      <p:sp>
        <p:nvSpPr>
          <p:cNvPr id="18" name="Text 16"/>
          <p:cNvSpPr/>
          <p:nvPr/>
        </p:nvSpPr>
        <p:spPr>
          <a:xfrm>
            <a:off x="6291072" y="1234440"/>
            <a:ext cx="2523744" cy="347472"/>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  Product Intelligence</a:t>
            </a:r>
            <a:endParaRPr lang="en-US" sz="1200" dirty="0"/>
          </a:p>
        </p:txBody>
      </p:sp>
      <p:sp>
        <p:nvSpPr>
          <p:cNvPr id="19" name="Text 17"/>
          <p:cNvSpPr/>
          <p:nvPr/>
        </p:nvSpPr>
        <p:spPr>
          <a:xfrm>
            <a:off x="6291072" y="1618488"/>
            <a:ext cx="2523744" cy="1005840"/>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Identify top-selling products (Phones $105K), highest-revenue categories (Technology $272K), and profitability by sub-category.</a:t>
            </a:r>
            <a:endParaRPr lang="en-US" sz="950" dirty="0"/>
          </a:p>
        </p:txBody>
      </p:sp>
      <p:sp>
        <p:nvSpPr>
          <p:cNvPr id="20" name="Shape 18"/>
          <p:cNvSpPr/>
          <p:nvPr/>
        </p:nvSpPr>
        <p:spPr>
          <a:xfrm>
            <a:off x="274320" y="2971800"/>
            <a:ext cx="2743200" cy="16002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1" name="Shape 19"/>
          <p:cNvSpPr/>
          <p:nvPr/>
        </p:nvSpPr>
        <p:spPr>
          <a:xfrm>
            <a:off x="274320" y="2971800"/>
            <a:ext cx="2743200" cy="54864"/>
          </a:xfrm>
          <a:prstGeom prst="rect">
            <a:avLst/>
          </a:prstGeom>
          <a:solidFill>
            <a:srgbClr val="00A896"/>
          </a:solidFill>
          <a:ln/>
        </p:spPr>
      </p:sp>
      <p:sp>
        <p:nvSpPr>
          <p:cNvPr id="22" name="Text 20"/>
          <p:cNvSpPr/>
          <p:nvPr/>
        </p:nvSpPr>
        <p:spPr>
          <a:xfrm>
            <a:off x="384048" y="3063240"/>
            <a:ext cx="2523744" cy="347472"/>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  Geographic Insights</a:t>
            </a:r>
            <a:endParaRPr lang="en-US" sz="1200" dirty="0"/>
          </a:p>
        </p:txBody>
      </p:sp>
      <p:sp>
        <p:nvSpPr>
          <p:cNvPr id="23" name="Text 21"/>
          <p:cNvSpPr/>
          <p:nvPr/>
        </p:nvSpPr>
        <p:spPr>
          <a:xfrm>
            <a:off x="384048" y="3447288"/>
            <a:ext cx="2523744" cy="1005840"/>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Visualize revenue and profit by US state and region; flag negative-profit states like Illinois (-$6.75K) for corrective action.</a:t>
            </a:r>
            <a:endParaRPr lang="en-US" sz="950" dirty="0"/>
          </a:p>
        </p:txBody>
      </p:sp>
      <p:sp>
        <p:nvSpPr>
          <p:cNvPr id="24" name="Shape 22"/>
          <p:cNvSpPr/>
          <p:nvPr/>
        </p:nvSpPr>
        <p:spPr>
          <a:xfrm>
            <a:off x="3227832" y="2971800"/>
            <a:ext cx="2743200" cy="16002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5" name="Shape 23"/>
          <p:cNvSpPr/>
          <p:nvPr/>
        </p:nvSpPr>
        <p:spPr>
          <a:xfrm>
            <a:off x="3227832" y="2971800"/>
            <a:ext cx="2743200" cy="54864"/>
          </a:xfrm>
          <a:prstGeom prst="rect">
            <a:avLst/>
          </a:prstGeom>
          <a:solidFill>
            <a:srgbClr val="00A896"/>
          </a:solidFill>
          <a:ln/>
        </p:spPr>
      </p:sp>
      <p:sp>
        <p:nvSpPr>
          <p:cNvPr id="26" name="Text 24"/>
          <p:cNvSpPr/>
          <p:nvPr/>
        </p:nvSpPr>
        <p:spPr>
          <a:xfrm>
            <a:off x="3337560" y="3063240"/>
            <a:ext cx="2523744" cy="347472"/>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  Interactivity</a:t>
            </a:r>
            <a:endParaRPr lang="en-US" sz="1200" dirty="0"/>
          </a:p>
        </p:txBody>
      </p:sp>
      <p:sp>
        <p:nvSpPr>
          <p:cNvPr id="27" name="Text 25"/>
          <p:cNvSpPr/>
          <p:nvPr/>
        </p:nvSpPr>
        <p:spPr>
          <a:xfrm>
            <a:off x="3337560" y="3447288"/>
            <a:ext cx="2523744" cy="1005840"/>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Enable stakeholders to filter by Year, Region, Category, and Segment across all three dashboards with cross-dashboard navigation.</a:t>
            </a:r>
            <a:endParaRPr lang="en-US" sz="950" dirty="0"/>
          </a:p>
        </p:txBody>
      </p:sp>
      <p:sp>
        <p:nvSpPr>
          <p:cNvPr id="28" name="Shape 26"/>
          <p:cNvSpPr/>
          <p:nvPr/>
        </p:nvSpPr>
        <p:spPr>
          <a:xfrm>
            <a:off x="6181344" y="2971800"/>
            <a:ext cx="2743200" cy="16002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9" name="Shape 27"/>
          <p:cNvSpPr/>
          <p:nvPr/>
        </p:nvSpPr>
        <p:spPr>
          <a:xfrm>
            <a:off x="6181344" y="2971800"/>
            <a:ext cx="2743200" cy="54864"/>
          </a:xfrm>
          <a:prstGeom prst="rect">
            <a:avLst/>
          </a:prstGeom>
          <a:solidFill>
            <a:srgbClr val="00A896"/>
          </a:solidFill>
          <a:ln/>
        </p:spPr>
      </p:sp>
      <p:sp>
        <p:nvSpPr>
          <p:cNvPr id="30" name="Text 28"/>
          <p:cNvSpPr/>
          <p:nvPr/>
        </p:nvSpPr>
        <p:spPr>
          <a:xfrm>
            <a:off x="6291072" y="3063240"/>
            <a:ext cx="2523744" cy="347472"/>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  Strategic Support</a:t>
            </a:r>
            <a:endParaRPr lang="en-US" sz="1200" dirty="0"/>
          </a:p>
        </p:txBody>
      </p:sp>
      <p:sp>
        <p:nvSpPr>
          <p:cNvPr id="31" name="Text 29"/>
          <p:cNvSpPr/>
          <p:nvPr/>
        </p:nvSpPr>
        <p:spPr>
          <a:xfrm>
            <a:off x="6291072" y="3447288"/>
            <a:ext cx="2523744" cy="1005840"/>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Surface actionable gaps — seasonal dips (Feb $20K), mixed monthly target performance in 2023 (5 months exceeded, 4 months missed) — to guide marketing and inventory decisions.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240"/>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A896"/>
          </a:solidFill>
          <a:ln/>
        </p:spPr>
      </p:sp>
      <p:sp>
        <p:nvSpPr>
          <p:cNvPr id="3" name="Text 1"/>
          <p:cNvSpPr/>
          <p:nvPr/>
        </p:nvSpPr>
        <p:spPr>
          <a:xfrm>
            <a:off x="457200" y="1645920"/>
            <a:ext cx="8229600" cy="109728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02 | Dataset &amp; Methodology</a:t>
            </a:r>
            <a:endParaRPr lang="en-US" sz="4400" dirty="0"/>
          </a:p>
        </p:txBody>
      </p:sp>
      <p:sp>
        <p:nvSpPr>
          <p:cNvPr id="4" name="Text 2"/>
          <p:cNvSpPr/>
          <p:nvPr/>
        </p:nvSpPr>
        <p:spPr>
          <a:xfrm>
            <a:off x="457200" y="2834640"/>
            <a:ext cx="8229600" cy="640080"/>
          </a:xfrm>
          <a:prstGeom prst="rect">
            <a:avLst/>
          </a:prstGeom>
          <a:noFill/>
          <a:ln/>
        </p:spPr>
        <p:txBody>
          <a:bodyPr wrap="square" rtlCol="0" anchor="ctr"/>
          <a:lstStyle/>
          <a:p>
            <a:pPr marL="0" indent="0" algn="ctr">
              <a:buNone/>
            </a:pPr>
            <a:r>
              <a:rPr lang="en-US" sz="1800" dirty="0">
                <a:solidFill>
                  <a:srgbClr val="D5E8F4"/>
                </a:solidFill>
                <a:latin typeface="Calibri" pitchFamily="34" charset="0"/>
                <a:ea typeface="Calibri" pitchFamily="34" charset="-122"/>
                <a:cs typeface="Calibri" pitchFamily="34" charset="-120"/>
              </a:rPr>
              <a:t>Data Sources · Cleaning · Transformation · Star Schema</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Dataset Description — Four Interconnected CSV Files</a:t>
            </a:r>
            <a:endParaRPr lang="en-US" sz="2200" dirty="0"/>
          </a:p>
        </p:txBody>
      </p:sp>
      <p:sp>
        <p:nvSpPr>
          <p:cNvPr id="4" name="Shape 2"/>
          <p:cNvSpPr/>
          <p:nvPr/>
        </p:nvSpPr>
        <p:spPr>
          <a:xfrm>
            <a:off x="0" y="4892040"/>
            <a:ext cx="9144000" cy="251460"/>
          </a:xfrm>
          <a:prstGeom prst="rect">
            <a:avLst/>
          </a:prstGeom>
          <a:solidFill>
            <a:srgbClr val="1B3A6B"/>
          </a:solidFill>
          <a:ln/>
        </p:spPr>
      </p:sp>
      <p:sp>
        <p:nvSpPr>
          <p:cNvPr id="7" name="Shape 5"/>
          <p:cNvSpPr/>
          <p:nvPr/>
        </p:nvSpPr>
        <p:spPr>
          <a:xfrm>
            <a:off x="274320" y="777240"/>
            <a:ext cx="4160520" cy="19202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8" name="Shape 6"/>
          <p:cNvSpPr/>
          <p:nvPr/>
        </p:nvSpPr>
        <p:spPr>
          <a:xfrm>
            <a:off x="274320" y="777240"/>
            <a:ext cx="4160520" cy="502920"/>
          </a:xfrm>
          <a:prstGeom prst="rect">
            <a:avLst/>
          </a:prstGeom>
          <a:solidFill>
            <a:srgbClr val="028090"/>
          </a:solidFill>
          <a:ln/>
        </p:spPr>
      </p:sp>
      <p:sp>
        <p:nvSpPr>
          <p:cNvPr id="9" name="Text 7"/>
          <p:cNvSpPr/>
          <p:nvPr/>
        </p:nvSpPr>
        <p:spPr>
          <a:xfrm>
            <a:off x="411480" y="822960"/>
            <a:ext cx="2926080" cy="256032"/>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Orders</a:t>
            </a:r>
            <a:endParaRPr lang="en-US" sz="1600" dirty="0"/>
          </a:p>
        </p:txBody>
      </p:sp>
      <p:sp>
        <p:nvSpPr>
          <p:cNvPr id="10" name="Text 8"/>
          <p:cNvSpPr/>
          <p:nvPr/>
        </p:nvSpPr>
        <p:spPr>
          <a:xfrm>
            <a:off x="411480" y="1051560"/>
            <a:ext cx="2926080" cy="20116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Fact Table</a:t>
            </a:r>
            <a:endParaRPr lang="en-US" sz="1000" dirty="0"/>
          </a:p>
        </p:txBody>
      </p:sp>
      <p:sp>
        <p:nvSpPr>
          <p:cNvPr id="11" name="Text 9"/>
          <p:cNvSpPr/>
          <p:nvPr/>
        </p:nvSpPr>
        <p:spPr>
          <a:xfrm>
            <a:off x="3108960" y="868680"/>
            <a:ext cx="1188720" cy="347472"/>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9,994 rows · 15 columns</a:t>
            </a:r>
            <a:endParaRPr lang="en-US" sz="1000" dirty="0"/>
          </a:p>
        </p:txBody>
      </p:sp>
      <p:sp>
        <p:nvSpPr>
          <p:cNvPr id="12" name="Text 10"/>
          <p:cNvSpPr/>
          <p:nvPr/>
        </p:nvSpPr>
        <p:spPr>
          <a:xfrm>
            <a:off x="411480" y="1344168"/>
            <a:ext cx="3840480" cy="1261872"/>
          </a:xfrm>
          <a:prstGeom prst="rect">
            <a:avLst/>
          </a:prstGeom>
          <a:noFill/>
          <a:ln/>
        </p:spPr>
        <p:txBody>
          <a:bodyPr wrap="square" lIns="0" tIns="0" rIns="0" bIns="0" rtlCol="0" anchor="ctr"/>
          <a:lstStyle/>
          <a:p>
            <a:pPr marL="0" indent="0">
              <a:buNone/>
            </a:pPr>
            <a:r>
              <a:rPr lang="en-US" sz="1000" b="1" dirty="0">
                <a:solidFill>
                  <a:srgbClr val="1B3A6B"/>
                </a:solidFill>
                <a:latin typeface="Calibri" pitchFamily="34" charset="0"/>
                <a:ea typeface="Calibri" pitchFamily="34" charset="-122"/>
                <a:cs typeface="Calibri" pitchFamily="34" charset="-120"/>
              </a:rPr>
              <a:t>🔑 Key: </a:t>
            </a:r>
            <a:r>
              <a:rPr lang="en-US" sz="1000" dirty="0">
                <a:solidFill>
                  <a:srgbClr val="36454F"/>
                </a:solidFill>
                <a:latin typeface="Calibri" pitchFamily="34" charset="0"/>
                <a:ea typeface="Calibri" pitchFamily="34" charset="-122"/>
                <a:cs typeface="Calibri" pitchFamily="34" charset="-120"/>
              </a:rPr>
              <a:t>Order ID, Customer ID, Product ID, Postal Code
</a:t>
            </a:r>
            <a:r>
              <a:rPr lang="en-US" sz="1000" b="1" dirty="0">
                <a:solidFill>
                  <a:srgbClr val="1B3A6B"/>
                </a:solidFill>
                <a:latin typeface="Calibri" pitchFamily="34" charset="0"/>
                <a:ea typeface="Calibri" pitchFamily="34" charset="-122"/>
                <a:cs typeface="Calibri" pitchFamily="34" charset="-120"/>
              </a:rPr>
              <a:t>📋 Fields: </a:t>
            </a:r>
            <a:r>
              <a:rPr lang="en-US" sz="1000" dirty="0">
                <a:solidFill>
                  <a:srgbClr val="36454F"/>
                </a:solidFill>
                <a:latin typeface="Calibri" pitchFamily="34" charset="0"/>
                <a:ea typeface="Calibri" pitchFamily="34" charset="-122"/>
                <a:cs typeface="Calibri" pitchFamily="34" charset="-120"/>
              </a:rPr>
              <a:t>Sales, Profit, Quantity, Discount, Ship Date, Segment</a:t>
            </a:r>
            <a:endParaRPr lang="en-US" sz="1000" dirty="0"/>
          </a:p>
        </p:txBody>
      </p:sp>
      <p:sp>
        <p:nvSpPr>
          <p:cNvPr id="13" name="Shape 11"/>
          <p:cNvSpPr/>
          <p:nvPr/>
        </p:nvSpPr>
        <p:spPr>
          <a:xfrm>
            <a:off x="4709160" y="777240"/>
            <a:ext cx="4160520" cy="19202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4" name="Shape 12"/>
          <p:cNvSpPr/>
          <p:nvPr/>
        </p:nvSpPr>
        <p:spPr>
          <a:xfrm>
            <a:off x="4709160" y="777240"/>
            <a:ext cx="4160520" cy="502920"/>
          </a:xfrm>
          <a:prstGeom prst="rect">
            <a:avLst/>
          </a:prstGeom>
          <a:solidFill>
            <a:srgbClr val="00A896"/>
          </a:solidFill>
          <a:ln/>
        </p:spPr>
      </p:sp>
      <p:sp>
        <p:nvSpPr>
          <p:cNvPr id="15" name="Text 13"/>
          <p:cNvSpPr/>
          <p:nvPr/>
        </p:nvSpPr>
        <p:spPr>
          <a:xfrm>
            <a:off x="4846320" y="822960"/>
            <a:ext cx="2926080" cy="256032"/>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Customers</a:t>
            </a:r>
            <a:endParaRPr lang="en-US" sz="1600" dirty="0"/>
          </a:p>
        </p:txBody>
      </p:sp>
      <p:sp>
        <p:nvSpPr>
          <p:cNvPr id="16" name="Text 14"/>
          <p:cNvSpPr/>
          <p:nvPr/>
        </p:nvSpPr>
        <p:spPr>
          <a:xfrm>
            <a:off x="4846320" y="1051560"/>
            <a:ext cx="2926080" cy="20116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Dimension</a:t>
            </a:r>
            <a:endParaRPr lang="en-US" sz="1000" dirty="0"/>
          </a:p>
        </p:txBody>
      </p:sp>
      <p:sp>
        <p:nvSpPr>
          <p:cNvPr id="17" name="Text 15"/>
          <p:cNvSpPr/>
          <p:nvPr/>
        </p:nvSpPr>
        <p:spPr>
          <a:xfrm>
            <a:off x="7543800" y="868680"/>
            <a:ext cx="1188720" cy="347472"/>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793 rows · 2 columns</a:t>
            </a:r>
            <a:endParaRPr lang="en-US" sz="1000" dirty="0"/>
          </a:p>
        </p:txBody>
      </p:sp>
      <p:sp>
        <p:nvSpPr>
          <p:cNvPr id="18" name="Text 16"/>
          <p:cNvSpPr/>
          <p:nvPr/>
        </p:nvSpPr>
        <p:spPr>
          <a:xfrm>
            <a:off x="4846320" y="1344168"/>
            <a:ext cx="3840480" cy="1261872"/>
          </a:xfrm>
          <a:prstGeom prst="rect">
            <a:avLst/>
          </a:prstGeom>
          <a:noFill/>
          <a:ln/>
        </p:spPr>
        <p:txBody>
          <a:bodyPr wrap="square" lIns="0" tIns="0" rIns="0" bIns="0" rtlCol="0" anchor="ctr"/>
          <a:lstStyle/>
          <a:p>
            <a:pPr marL="0" indent="0">
              <a:buNone/>
            </a:pPr>
            <a:r>
              <a:rPr lang="en-US" sz="1000" b="1" dirty="0">
                <a:solidFill>
                  <a:srgbClr val="1B3A6B"/>
                </a:solidFill>
                <a:latin typeface="Calibri" pitchFamily="34" charset="0"/>
                <a:ea typeface="Calibri" pitchFamily="34" charset="-122"/>
                <a:cs typeface="Calibri" pitchFamily="34" charset="-120"/>
              </a:rPr>
              <a:t>🔑 Key: </a:t>
            </a:r>
            <a:r>
              <a:rPr lang="en-US" sz="1000" dirty="0">
                <a:solidFill>
                  <a:srgbClr val="36454F"/>
                </a:solidFill>
                <a:latin typeface="Calibri" pitchFamily="34" charset="0"/>
                <a:ea typeface="Calibri" pitchFamily="34" charset="-122"/>
                <a:cs typeface="Calibri" pitchFamily="34" charset="-120"/>
              </a:rPr>
              <a:t>Customer ID
</a:t>
            </a:r>
            <a:r>
              <a:rPr lang="en-US" sz="1000" b="1" dirty="0">
                <a:solidFill>
                  <a:srgbClr val="1B3A6B"/>
                </a:solidFill>
                <a:latin typeface="Calibri" pitchFamily="34" charset="0"/>
                <a:ea typeface="Calibri" pitchFamily="34" charset="-122"/>
                <a:cs typeface="Calibri" pitchFamily="34" charset="-120"/>
              </a:rPr>
              <a:t>📋 Fields: </a:t>
            </a:r>
            <a:r>
              <a:rPr lang="en-US" sz="1000" dirty="0">
                <a:solidFill>
                  <a:srgbClr val="36454F"/>
                </a:solidFill>
                <a:latin typeface="Calibri" pitchFamily="34" charset="0"/>
                <a:ea typeface="Calibri" pitchFamily="34" charset="-122"/>
                <a:cs typeface="Calibri" pitchFamily="34" charset="-120"/>
              </a:rPr>
              <a:t>Customer ID, Customer Name — unique customer registry</a:t>
            </a:r>
            <a:endParaRPr lang="en-US" sz="1000" dirty="0"/>
          </a:p>
        </p:txBody>
      </p:sp>
      <p:sp>
        <p:nvSpPr>
          <p:cNvPr id="19" name="Shape 17"/>
          <p:cNvSpPr/>
          <p:nvPr/>
        </p:nvSpPr>
        <p:spPr>
          <a:xfrm>
            <a:off x="274320" y="2880360"/>
            <a:ext cx="4160520" cy="19202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0" name="Shape 18"/>
          <p:cNvSpPr/>
          <p:nvPr/>
        </p:nvSpPr>
        <p:spPr>
          <a:xfrm>
            <a:off x="274320" y="2880360"/>
            <a:ext cx="4160520" cy="502920"/>
          </a:xfrm>
          <a:prstGeom prst="rect">
            <a:avLst/>
          </a:prstGeom>
          <a:solidFill>
            <a:srgbClr val="F59E0B"/>
          </a:solidFill>
          <a:ln/>
        </p:spPr>
      </p:sp>
      <p:sp>
        <p:nvSpPr>
          <p:cNvPr id="21" name="Text 19"/>
          <p:cNvSpPr/>
          <p:nvPr/>
        </p:nvSpPr>
        <p:spPr>
          <a:xfrm>
            <a:off x="411480" y="2926080"/>
            <a:ext cx="2926080" cy="256032"/>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Location</a:t>
            </a:r>
            <a:endParaRPr lang="en-US" sz="1600" dirty="0"/>
          </a:p>
        </p:txBody>
      </p:sp>
      <p:sp>
        <p:nvSpPr>
          <p:cNvPr id="22" name="Text 20"/>
          <p:cNvSpPr/>
          <p:nvPr/>
        </p:nvSpPr>
        <p:spPr>
          <a:xfrm>
            <a:off x="411480" y="3154680"/>
            <a:ext cx="2926080" cy="20116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Dimension</a:t>
            </a:r>
            <a:endParaRPr lang="en-US" sz="1000" dirty="0"/>
          </a:p>
        </p:txBody>
      </p:sp>
      <p:sp>
        <p:nvSpPr>
          <p:cNvPr id="23" name="Text 21"/>
          <p:cNvSpPr/>
          <p:nvPr/>
        </p:nvSpPr>
        <p:spPr>
          <a:xfrm>
            <a:off x="3108960" y="2971800"/>
            <a:ext cx="1188720" cy="347472"/>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632 rows · 5 columns</a:t>
            </a:r>
            <a:endParaRPr lang="en-US" sz="1000" dirty="0"/>
          </a:p>
        </p:txBody>
      </p:sp>
      <p:sp>
        <p:nvSpPr>
          <p:cNvPr id="24" name="Text 22"/>
          <p:cNvSpPr/>
          <p:nvPr/>
        </p:nvSpPr>
        <p:spPr>
          <a:xfrm>
            <a:off x="411480" y="3447288"/>
            <a:ext cx="3840480" cy="1261872"/>
          </a:xfrm>
          <a:prstGeom prst="rect">
            <a:avLst/>
          </a:prstGeom>
          <a:noFill/>
          <a:ln/>
        </p:spPr>
        <p:txBody>
          <a:bodyPr wrap="square" lIns="0" tIns="0" rIns="0" bIns="0" rtlCol="0" anchor="ctr"/>
          <a:lstStyle/>
          <a:p>
            <a:pPr marL="0" indent="0">
              <a:buNone/>
            </a:pPr>
            <a:r>
              <a:rPr lang="en-US" sz="1000" b="1" dirty="0">
                <a:solidFill>
                  <a:srgbClr val="1B3A6B"/>
                </a:solidFill>
                <a:latin typeface="Calibri" pitchFamily="34" charset="0"/>
                <a:ea typeface="Calibri" pitchFamily="34" charset="-122"/>
                <a:cs typeface="Calibri" pitchFamily="34" charset="-120"/>
              </a:rPr>
              <a:t>🔑 Key: </a:t>
            </a:r>
            <a:r>
              <a:rPr lang="en-US" sz="1000" dirty="0">
                <a:solidFill>
                  <a:srgbClr val="36454F"/>
                </a:solidFill>
                <a:latin typeface="Calibri" pitchFamily="34" charset="0"/>
                <a:ea typeface="Calibri" pitchFamily="34" charset="-122"/>
                <a:cs typeface="Calibri" pitchFamily="34" charset="-120"/>
              </a:rPr>
              <a:t>Postal Code
</a:t>
            </a:r>
            <a:r>
              <a:rPr lang="en-US" sz="1000" b="1" dirty="0">
                <a:solidFill>
                  <a:srgbClr val="1B3A6B"/>
                </a:solidFill>
                <a:latin typeface="Calibri" pitchFamily="34" charset="0"/>
                <a:ea typeface="Calibri" pitchFamily="34" charset="-122"/>
                <a:cs typeface="Calibri" pitchFamily="34" charset="-120"/>
              </a:rPr>
              <a:t>📋 Fields: </a:t>
            </a:r>
            <a:r>
              <a:rPr lang="en-US" sz="1000" dirty="0">
                <a:solidFill>
                  <a:srgbClr val="36454F"/>
                </a:solidFill>
                <a:latin typeface="Calibri" pitchFamily="34" charset="0"/>
                <a:ea typeface="Calibri" pitchFamily="34" charset="-122"/>
                <a:cs typeface="Calibri" pitchFamily="34" charset="-120"/>
              </a:rPr>
              <a:t>City, State, Region, Country/Region — geographic dimension</a:t>
            </a:r>
            <a:endParaRPr lang="en-US" sz="1000" dirty="0"/>
          </a:p>
        </p:txBody>
      </p:sp>
      <p:sp>
        <p:nvSpPr>
          <p:cNvPr id="25" name="Shape 23"/>
          <p:cNvSpPr/>
          <p:nvPr/>
        </p:nvSpPr>
        <p:spPr>
          <a:xfrm>
            <a:off x="4709160" y="2880360"/>
            <a:ext cx="4160520" cy="19202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6" name="Shape 24"/>
          <p:cNvSpPr/>
          <p:nvPr/>
        </p:nvSpPr>
        <p:spPr>
          <a:xfrm>
            <a:off x="4709160" y="2880360"/>
            <a:ext cx="4160520" cy="502920"/>
          </a:xfrm>
          <a:prstGeom prst="rect">
            <a:avLst/>
          </a:prstGeom>
          <a:solidFill>
            <a:srgbClr val="9333EA"/>
          </a:solidFill>
          <a:ln/>
        </p:spPr>
      </p:sp>
      <p:sp>
        <p:nvSpPr>
          <p:cNvPr id="27" name="Text 25"/>
          <p:cNvSpPr/>
          <p:nvPr/>
        </p:nvSpPr>
        <p:spPr>
          <a:xfrm>
            <a:off x="4846320" y="2926080"/>
            <a:ext cx="2926080" cy="256032"/>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Products</a:t>
            </a:r>
            <a:endParaRPr lang="en-US" sz="1600" dirty="0"/>
          </a:p>
        </p:txBody>
      </p:sp>
      <p:sp>
        <p:nvSpPr>
          <p:cNvPr id="28" name="Text 26"/>
          <p:cNvSpPr/>
          <p:nvPr/>
        </p:nvSpPr>
        <p:spPr>
          <a:xfrm>
            <a:off x="4846320" y="3154680"/>
            <a:ext cx="2926080" cy="20116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Dimension</a:t>
            </a:r>
            <a:endParaRPr lang="en-US" sz="1000" dirty="0"/>
          </a:p>
        </p:txBody>
      </p:sp>
      <p:sp>
        <p:nvSpPr>
          <p:cNvPr id="29" name="Text 27"/>
          <p:cNvSpPr/>
          <p:nvPr/>
        </p:nvSpPr>
        <p:spPr>
          <a:xfrm>
            <a:off x="7543800" y="2971800"/>
            <a:ext cx="1188720" cy="347472"/>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1,894 rows · 4 columns</a:t>
            </a:r>
            <a:endParaRPr lang="en-US" sz="1000" dirty="0"/>
          </a:p>
        </p:txBody>
      </p:sp>
      <p:sp>
        <p:nvSpPr>
          <p:cNvPr id="30" name="Text 28"/>
          <p:cNvSpPr/>
          <p:nvPr/>
        </p:nvSpPr>
        <p:spPr>
          <a:xfrm>
            <a:off x="4846320" y="3447288"/>
            <a:ext cx="3840480" cy="1261872"/>
          </a:xfrm>
          <a:prstGeom prst="rect">
            <a:avLst/>
          </a:prstGeom>
          <a:noFill/>
          <a:ln/>
        </p:spPr>
        <p:txBody>
          <a:bodyPr wrap="square" lIns="0" tIns="0" rIns="0" bIns="0" rtlCol="0" anchor="ctr"/>
          <a:lstStyle/>
          <a:p>
            <a:pPr marL="0" indent="0">
              <a:buNone/>
            </a:pPr>
            <a:r>
              <a:rPr lang="en-US" sz="1000" b="1" dirty="0">
                <a:solidFill>
                  <a:srgbClr val="1B3A6B"/>
                </a:solidFill>
                <a:latin typeface="Calibri" pitchFamily="34" charset="0"/>
                <a:ea typeface="Calibri" pitchFamily="34" charset="-122"/>
                <a:cs typeface="Calibri" pitchFamily="34" charset="-120"/>
              </a:rPr>
              <a:t>🔑 Key: </a:t>
            </a:r>
            <a:r>
              <a:rPr lang="en-US" sz="1000" dirty="0">
                <a:solidFill>
                  <a:srgbClr val="36454F"/>
                </a:solidFill>
                <a:latin typeface="Calibri" pitchFamily="34" charset="0"/>
                <a:ea typeface="Calibri" pitchFamily="34" charset="-122"/>
                <a:cs typeface="Calibri" pitchFamily="34" charset="-120"/>
              </a:rPr>
              <a:t>Product ID
</a:t>
            </a:r>
            <a:r>
              <a:rPr lang="en-US" sz="1000" b="1" dirty="0">
                <a:solidFill>
                  <a:srgbClr val="1B3A6B"/>
                </a:solidFill>
                <a:latin typeface="Calibri" pitchFamily="34" charset="0"/>
                <a:ea typeface="Calibri" pitchFamily="34" charset="-122"/>
                <a:cs typeface="Calibri" pitchFamily="34" charset="-120"/>
              </a:rPr>
              <a:t>📋 Fields: </a:t>
            </a:r>
            <a:r>
              <a:rPr lang="en-US" sz="1000" dirty="0">
                <a:solidFill>
                  <a:srgbClr val="36454F"/>
                </a:solidFill>
                <a:latin typeface="Calibri" pitchFamily="34" charset="0"/>
                <a:ea typeface="Calibri" pitchFamily="34" charset="-122"/>
                <a:cs typeface="Calibri" pitchFamily="34" charset="-120"/>
              </a:rPr>
              <a:t>Category, Sub-Category, Product Name — product hierarchy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Data Cleaning &amp; Transformation — Power Query Editor</a:t>
            </a:r>
            <a:endParaRPr lang="en-US" sz="2200" dirty="0"/>
          </a:p>
        </p:txBody>
      </p:sp>
      <p:sp>
        <p:nvSpPr>
          <p:cNvPr id="4" name="Shape 2"/>
          <p:cNvSpPr/>
          <p:nvPr/>
        </p:nvSpPr>
        <p:spPr>
          <a:xfrm>
            <a:off x="0" y="4892040"/>
            <a:ext cx="9144000" cy="251460"/>
          </a:xfrm>
          <a:prstGeom prst="rect">
            <a:avLst/>
          </a:prstGeom>
          <a:solidFill>
            <a:srgbClr val="1B3A6B"/>
          </a:solidFill>
          <a:ln/>
        </p:spPr>
      </p:sp>
      <p:pic>
        <p:nvPicPr>
          <p:cNvPr id="7" name="Image 0" descr="/home/claude/s30_pq_orders.png"/>
          <p:cNvPicPr>
            <a:picLocks noChangeAspect="1"/>
          </p:cNvPicPr>
          <p:nvPr/>
        </p:nvPicPr>
        <p:blipFill>
          <a:blip r:embed="rId3"/>
          <a:srcRect/>
          <a:stretch/>
        </p:blipFill>
        <p:spPr>
          <a:xfrm>
            <a:off x="274320" y="749808"/>
            <a:ext cx="5120640" cy="3904488"/>
          </a:xfrm>
          <a:prstGeom prst="rect">
            <a:avLst/>
          </a:prstGeom>
        </p:spPr>
      </p:pic>
      <p:sp>
        <p:nvSpPr>
          <p:cNvPr id="8" name="Shape 5"/>
          <p:cNvSpPr/>
          <p:nvPr/>
        </p:nvSpPr>
        <p:spPr>
          <a:xfrm>
            <a:off x="5669280" y="749808"/>
            <a:ext cx="3200400" cy="4020713"/>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9" name="Text 6"/>
          <p:cNvSpPr/>
          <p:nvPr/>
        </p:nvSpPr>
        <p:spPr>
          <a:xfrm>
            <a:off x="5669280" y="822960"/>
            <a:ext cx="3108960" cy="320040"/>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Applied Cleaning Steps</a:t>
            </a:r>
            <a:r>
              <a:rPr lang="ar-EG" sz="1200" b="1" dirty="0">
                <a:solidFill>
                  <a:srgbClr val="1B3A6B"/>
                </a:solidFill>
                <a:latin typeface="Calibri" pitchFamily="34" charset="0"/>
                <a:ea typeface="Calibri" pitchFamily="34" charset="-122"/>
                <a:cs typeface="Calibri" pitchFamily="34" charset="-120"/>
              </a:rPr>
              <a:t>   </a:t>
            </a:r>
            <a:r>
              <a:rPr lang="en-US" sz="1200" b="1" dirty="0">
                <a:solidFill>
                  <a:srgbClr val="1B3A6B"/>
                </a:solidFill>
                <a:latin typeface="Calibri" pitchFamily="34" charset="0"/>
                <a:ea typeface="Calibri" pitchFamily="34" charset="-122"/>
                <a:cs typeface="Calibri" pitchFamily="34" charset="-120"/>
              </a:rPr>
              <a:t> (Orders)</a:t>
            </a:r>
            <a:endParaRPr lang="en-US" sz="1200" dirty="0"/>
          </a:p>
        </p:txBody>
      </p:sp>
      <p:sp>
        <p:nvSpPr>
          <p:cNvPr id="10" name="Shape 7"/>
          <p:cNvSpPr/>
          <p:nvPr/>
        </p:nvSpPr>
        <p:spPr>
          <a:xfrm>
            <a:off x="5669280" y="1234440"/>
            <a:ext cx="45720" cy="274320"/>
          </a:xfrm>
          <a:prstGeom prst="rect">
            <a:avLst/>
          </a:prstGeom>
          <a:solidFill>
            <a:srgbClr val="028090"/>
          </a:solidFill>
          <a:ln/>
        </p:spPr>
      </p:sp>
      <p:sp>
        <p:nvSpPr>
          <p:cNvPr id="11" name="Text 8"/>
          <p:cNvSpPr/>
          <p:nvPr/>
        </p:nvSpPr>
        <p:spPr>
          <a:xfrm>
            <a:off x="5779008" y="1234440"/>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Source</a:t>
            </a:r>
            <a:endParaRPr lang="en-US" sz="950" dirty="0"/>
          </a:p>
        </p:txBody>
      </p:sp>
      <p:sp>
        <p:nvSpPr>
          <p:cNvPr id="13" name="Shape 10"/>
          <p:cNvSpPr/>
          <p:nvPr/>
        </p:nvSpPr>
        <p:spPr>
          <a:xfrm>
            <a:off x="5669280" y="1627632"/>
            <a:ext cx="45720" cy="274320"/>
          </a:xfrm>
          <a:prstGeom prst="rect">
            <a:avLst/>
          </a:prstGeom>
          <a:solidFill>
            <a:srgbClr val="028090"/>
          </a:solidFill>
          <a:ln/>
        </p:spPr>
      </p:sp>
      <p:sp>
        <p:nvSpPr>
          <p:cNvPr id="14" name="Text 11"/>
          <p:cNvSpPr/>
          <p:nvPr/>
        </p:nvSpPr>
        <p:spPr>
          <a:xfrm>
            <a:off x="5779008" y="1627632"/>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Promote Headers</a:t>
            </a:r>
            <a:endParaRPr lang="en-US" sz="950" dirty="0"/>
          </a:p>
        </p:txBody>
      </p:sp>
      <p:sp>
        <p:nvSpPr>
          <p:cNvPr id="16" name="Shape 13"/>
          <p:cNvSpPr/>
          <p:nvPr/>
        </p:nvSpPr>
        <p:spPr>
          <a:xfrm>
            <a:off x="5669280" y="2020824"/>
            <a:ext cx="45720" cy="274320"/>
          </a:xfrm>
          <a:prstGeom prst="rect">
            <a:avLst/>
          </a:prstGeom>
          <a:solidFill>
            <a:srgbClr val="028090"/>
          </a:solidFill>
          <a:ln/>
        </p:spPr>
      </p:sp>
      <p:sp>
        <p:nvSpPr>
          <p:cNvPr id="17" name="Text 14"/>
          <p:cNvSpPr/>
          <p:nvPr/>
        </p:nvSpPr>
        <p:spPr>
          <a:xfrm>
            <a:off x="5779008" y="2020824"/>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Change Types</a:t>
            </a:r>
            <a:endParaRPr lang="en-US" sz="950" dirty="0"/>
          </a:p>
        </p:txBody>
      </p:sp>
      <p:sp>
        <p:nvSpPr>
          <p:cNvPr id="19" name="Shape 16"/>
          <p:cNvSpPr/>
          <p:nvPr/>
        </p:nvSpPr>
        <p:spPr>
          <a:xfrm>
            <a:off x="5669280" y="2414016"/>
            <a:ext cx="45720" cy="274320"/>
          </a:xfrm>
          <a:prstGeom prst="rect">
            <a:avLst/>
          </a:prstGeom>
          <a:solidFill>
            <a:srgbClr val="00A896"/>
          </a:solidFill>
          <a:ln/>
        </p:spPr>
      </p:sp>
      <p:sp>
        <p:nvSpPr>
          <p:cNvPr id="20" name="Text 17"/>
          <p:cNvSpPr/>
          <p:nvPr/>
        </p:nvSpPr>
        <p:spPr>
          <a:xfrm>
            <a:off x="5779008" y="2414016"/>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Remove Duplicates</a:t>
            </a:r>
            <a:endParaRPr lang="en-US" sz="950" dirty="0"/>
          </a:p>
        </p:txBody>
      </p:sp>
      <p:sp>
        <p:nvSpPr>
          <p:cNvPr id="22" name="Shape 19"/>
          <p:cNvSpPr/>
          <p:nvPr/>
        </p:nvSpPr>
        <p:spPr>
          <a:xfrm>
            <a:off x="5669280" y="2807208"/>
            <a:ext cx="45720" cy="274320"/>
          </a:xfrm>
          <a:prstGeom prst="rect">
            <a:avLst/>
          </a:prstGeom>
          <a:solidFill>
            <a:srgbClr val="00A896"/>
          </a:solidFill>
          <a:ln/>
        </p:spPr>
      </p:sp>
      <p:sp>
        <p:nvSpPr>
          <p:cNvPr id="23" name="Text 20"/>
          <p:cNvSpPr/>
          <p:nvPr/>
        </p:nvSpPr>
        <p:spPr>
          <a:xfrm>
            <a:off x="5779008" y="2807208"/>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Remove Blank Rows</a:t>
            </a:r>
            <a:endParaRPr lang="en-US" sz="950" dirty="0"/>
          </a:p>
        </p:txBody>
      </p:sp>
      <p:sp>
        <p:nvSpPr>
          <p:cNvPr id="25" name="Shape 22"/>
          <p:cNvSpPr/>
          <p:nvPr/>
        </p:nvSpPr>
        <p:spPr>
          <a:xfrm>
            <a:off x="5669280" y="3200400"/>
            <a:ext cx="45720" cy="274320"/>
          </a:xfrm>
          <a:prstGeom prst="rect">
            <a:avLst/>
          </a:prstGeom>
          <a:solidFill>
            <a:srgbClr val="00A896"/>
          </a:solidFill>
          <a:ln/>
        </p:spPr>
      </p:sp>
      <p:sp>
        <p:nvSpPr>
          <p:cNvPr id="26" name="Text 23"/>
          <p:cNvSpPr/>
          <p:nvPr/>
        </p:nvSpPr>
        <p:spPr>
          <a:xfrm>
            <a:off x="5779008" y="3200400"/>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Trimmed &amp; Cleaned Text</a:t>
            </a:r>
            <a:endParaRPr lang="en-US" sz="950" dirty="0"/>
          </a:p>
        </p:txBody>
      </p:sp>
      <p:sp>
        <p:nvSpPr>
          <p:cNvPr id="28" name="Shape 25"/>
          <p:cNvSpPr/>
          <p:nvPr/>
        </p:nvSpPr>
        <p:spPr>
          <a:xfrm>
            <a:off x="5669280" y="3593592"/>
            <a:ext cx="45720" cy="274320"/>
          </a:xfrm>
          <a:prstGeom prst="rect">
            <a:avLst/>
          </a:prstGeom>
          <a:solidFill>
            <a:srgbClr val="00A896"/>
          </a:solidFill>
          <a:ln/>
        </p:spPr>
      </p:sp>
      <p:sp>
        <p:nvSpPr>
          <p:cNvPr id="29" name="Text 26"/>
          <p:cNvSpPr/>
          <p:nvPr/>
        </p:nvSpPr>
        <p:spPr>
          <a:xfrm>
            <a:off x="5779008" y="3593592"/>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Capitalize Each Word</a:t>
            </a:r>
            <a:endParaRPr lang="en-US" sz="950" dirty="0"/>
          </a:p>
        </p:txBody>
      </p:sp>
      <p:sp>
        <p:nvSpPr>
          <p:cNvPr id="31" name="Shape 28"/>
          <p:cNvSpPr/>
          <p:nvPr/>
        </p:nvSpPr>
        <p:spPr>
          <a:xfrm>
            <a:off x="5669280" y="3986784"/>
            <a:ext cx="45720" cy="274320"/>
          </a:xfrm>
          <a:prstGeom prst="rect">
            <a:avLst/>
          </a:prstGeom>
          <a:solidFill>
            <a:srgbClr val="00A896"/>
          </a:solidFill>
          <a:ln/>
        </p:spPr>
      </p:sp>
      <p:sp>
        <p:nvSpPr>
          <p:cNvPr id="32" name="Text 29"/>
          <p:cNvSpPr/>
          <p:nvPr/>
        </p:nvSpPr>
        <p:spPr>
          <a:xfrm>
            <a:off x="5779008" y="3986784"/>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Filtered Rows</a:t>
            </a:r>
            <a:endParaRPr lang="en-US" sz="950" dirty="0"/>
          </a:p>
        </p:txBody>
      </p:sp>
      <p:sp>
        <p:nvSpPr>
          <p:cNvPr id="34" name="Shape 31"/>
          <p:cNvSpPr/>
          <p:nvPr/>
        </p:nvSpPr>
        <p:spPr>
          <a:xfrm>
            <a:off x="5669280" y="4379976"/>
            <a:ext cx="45720" cy="274320"/>
          </a:xfrm>
          <a:prstGeom prst="rect">
            <a:avLst/>
          </a:prstGeom>
          <a:solidFill>
            <a:srgbClr val="00A896"/>
          </a:solidFill>
          <a:ln/>
        </p:spPr>
      </p:sp>
      <p:sp>
        <p:nvSpPr>
          <p:cNvPr id="35" name="Text 32"/>
          <p:cNvSpPr/>
          <p:nvPr/>
        </p:nvSpPr>
        <p:spPr>
          <a:xfrm>
            <a:off x="5779008" y="4379976"/>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Inserted Year/Month</a:t>
            </a:r>
            <a:endParaRPr lang="en-US" sz="950" dirty="0"/>
          </a:p>
        </p:txBody>
      </p:sp>
    </p:spTree>
    <p:extLst>
      <p:ext uri="{BB962C8B-B14F-4D97-AF65-F5344CB8AC3E}">
        <p14:creationId xmlns:p14="http://schemas.microsoft.com/office/powerpoint/2010/main" val="4217396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Data Cleaning &amp; Transformation — Power Query Editor</a:t>
            </a:r>
            <a:endParaRPr lang="en-US" sz="2200" dirty="0"/>
          </a:p>
        </p:txBody>
      </p:sp>
      <p:sp>
        <p:nvSpPr>
          <p:cNvPr id="4" name="Shape 2"/>
          <p:cNvSpPr/>
          <p:nvPr/>
        </p:nvSpPr>
        <p:spPr>
          <a:xfrm>
            <a:off x="0" y="4892040"/>
            <a:ext cx="9144000" cy="251460"/>
          </a:xfrm>
          <a:prstGeom prst="rect">
            <a:avLst/>
          </a:prstGeom>
          <a:solidFill>
            <a:srgbClr val="1B3A6B"/>
          </a:solidFill>
          <a:ln/>
        </p:spPr>
      </p:sp>
      <p:pic>
        <p:nvPicPr>
          <p:cNvPr id="7" name="Image 0"/>
          <p:cNvPicPr>
            <a:picLocks noChangeAspect="1"/>
          </p:cNvPicPr>
          <p:nvPr/>
        </p:nvPicPr>
        <p:blipFill>
          <a:blip r:embed="rId3"/>
          <a:srcRect/>
          <a:stretch/>
        </p:blipFill>
        <p:spPr>
          <a:xfrm>
            <a:off x="274320" y="772668"/>
            <a:ext cx="5120640" cy="3506724"/>
          </a:xfrm>
          <a:prstGeom prst="rect">
            <a:avLst/>
          </a:prstGeom>
        </p:spPr>
      </p:pic>
      <p:sp>
        <p:nvSpPr>
          <p:cNvPr id="8" name="Shape 5"/>
          <p:cNvSpPr/>
          <p:nvPr/>
        </p:nvSpPr>
        <p:spPr>
          <a:xfrm>
            <a:off x="5613400" y="749808"/>
            <a:ext cx="3256280" cy="3570731"/>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9" name="Text 6"/>
          <p:cNvSpPr/>
          <p:nvPr/>
        </p:nvSpPr>
        <p:spPr>
          <a:xfrm>
            <a:off x="5669280" y="822960"/>
            <a:ext cx="3108960" cy="320040"/>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Applied Cleaning Steps (Customers)</a:t>
            </a:r>
            <a:endParaRPr lang="en-US" sz="1200" dirty="0"/>
          </a:p>
        </p:txBody>
      </p:sp>
      <p:sp>
        <p:nvSpPr>
          <p:cNvPr id="10" name="Shape 7"/>
          <p:cNvSpPr/>
          <p:nvPr/>
        </p:nvSpPr>
        <p:spPr>
          <a:xfrm>
            <a:off x="5669280" y="1234440"/>
            <a:ext cx="45720" cy="274320"/>
          </a:xfrm>
          <a:prstGeom prst="rect">
            <a:avLst/>
          </a:prstGeom>
          <a:solidFill>
            <a:srgbClr val="028090"/>
          </a:solidFill>
          <a:ln/>
        </p:spPr>
      </p:sp>
      <p:sp>
        <p:nvSpPr>
          <p:cNvPr id="11" name="Text 8"/>
          <p:cNvSpPr/>
          <p:nvPr/>
        </p:nvSpPr>
        <p:spPr>
          <a:xfrm>
            <a:off x="5779008" y="1234440"/>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Source</a:t>
            </a:r>
            <a:endParaRPr lang="en-US" sz="950" dirty="0"/>
          </a:p>
        </p:txBody>
      </p:sp>
      <p:sp>
        <p:nvSpPr>
          <p:cNvPr id="13" name="Shape 10"/>
          <p:cNvSpPr/>
          <p:nvPr/>
        </p:nvSpPr>
        <p:spPr>
          <a:xfrm>
            <a:off x="5669280" y="1627632"/>
            <a:ext cx="45720" cy="274320"/>
          </a:xfrm>
          <a:prstGeom prst="rect">
            <a:avLst/>
          </a:prstGeom>
          <a:solidFill>
            <a:srgbClr val="028090"/>
          </a:solidFill>
          <a:ln/>
        </p:spPr>
      </p:sp>
      <p:sp>
        <p:nvSpPr>
          <p:cNvPr id="14" name="Text 11"/>
          <p:cNvSpPr/>
          <p:nvPr/>
        </p:nvSpPr>
        <p:spPr>
          <a:xfrm>
            <a:off x="5779008" y="1627632"/>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Promote Headers</a:t>
            </a:r>
            <a:endParaRPr lang="en-US" sz="950" dirty="0"/>
          </a:p>
        </p:txBody>
      </p:sp>
      <p:sp>
        <p:nvSpPr>
          <p:cNvPr id="16" name="Shape 13"/>
          <p:cNvSpPr/>
          <p:nvPr/>
        </p:nvSpPr>
        <p:spPr>
          <a:xfrm>
            <a:off x="5669280" y="2020824"/>
            <a:ext cx="45720" cy="274320"/>
          </a:xfrm>
          <a:prstGeom prst="rect">
            <a:avLst/>
          </a:prstGeom>
          <a:solidFill>
            <a:srgbClr val="028090"/>
          </a:solidFill>
          <a:ln/>
        </p:spPr>
      </p:sp>
      <p:sp>
        <p:nvSpPr>
          <p:cNvPr id="17" name="Text 14"/>
          <p:cNvSpPr/>
          <p:nvPr/>
        </p:nvSpPr>
        <p:spPr>
          <a:xfrm>
            <a:off x="5779008" y="2020824"/>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Change Types</a:t>
            </a:r>
            <a:endParaRPr lang="en-US" sz="950" dirty="0"/>
          </a:p>
        </p:txBody>
      </p:sp>
      <p:sp>
        <p:nvSpPr>
          <p:cNvPr id="19" name="Shape 16"/>
          <p:cNvSpPr/>
          <p:nvPr/>
        </p:nvSpPr>
        <p:spPr>
          <a:xfrm>
            <a:off x="5669280" y="2414016"/>
            <a:ext cx="45720" cy="274320"/>
          </a:xfrm>
          <a:prstGeom prst="rect">
            <a:avLst/>
          </a:prstGeom>
          <a:solidFill>
            <a:srgbClr val="00A896"/>
          </a:solidFill>
          <a:ln/>
        </p:spPr>
      </p:sp>
      <p:sp>
        <p:nvSpPr>
          <p:cNvPr id="20" name="Text 17"/>
          <p:cNvSpPr/>
          <p:nvPr/>
        </p:nvSpPr>
        <p:spPr>
          <a:xfrm>
            <a:off x="5779008" y="2414016"/>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Remove Duplicates</a:t>
            </a:r>
            <a:endParaRPr lang="en-US" sz="950" dirty="0"/>
          </a:p>
        </p:txBody>
      </p:sp>
      <p:sp>
        <p:nvSpPr>
          <p:cNvPr id="22" name="Shape 19"/>
          <p:cNvSpPr/>
          <p:nvPr/>
        </p:nvSpPr>
        <p:spPr>
          <a:xfrm>
            <a:off x="5669280" y="2807208"/>
            <a:ext cx="45720" cy="274320"/>
          </a:xfrm>
          <a:prstGeom prst="rect">
            <a:avLst/>
          </a:prstGeom>
          <a:solidFill>
            <a:srgbClr val="00A896"/>
          </a:solidFill>
          <a:ln/>
        </p:spPr>
      </p:sp>
      <p:sp>
        <p:nvSpPr>
          <p:cNvPr id="23" name="Text 20"/>
          <p:cNvSpPr/>
          <p:nvPr/>
        </p:nvSpPr>
        <p:spPr>
          <a:xfrm>
            <a:off x="5779008" y="2807208"/>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Remove Blank Rows</a:t>
            </a:r>
            <a:endParaRPr lang="en-US" sz="950" dirty="0"/>
          </a:p>
        </p:txBody>
      </p:sp>
      <p:sp>
        <p:nvSpPr>
          <p:cNvPr id="25" name="Shape 22"/>
          <p:cNvSpPr/>
          <p:nvPr/>
        </p:nvSpPr>
        <p:spPr>
          <a:xfrm>
            <a:off x="5669280" y="3200400"/>
            <a:ext cx="45720" cy="274320"/>
          </a:xfrm>
          <a:prstGeom prst="rect">
            <a:avLst/>
          </a:prstGeom>
          <a:solidFill>
            <a:srgbClr val="00A896"/>
          </a:solidFill>
          <a:ln/>
        </p:spPr>
      </p:sp>
      <p:sp>
        <p:nvSpPr>
          <p:cNvPr id="26" name="Text 23"/>
          <p:cNvSpPr/>
          <p:nvPr/>
        </p:nvSpPr>
        <p:spPr>
          <a:xfrm>
            <a:off x="5779008" y="3200400"/>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Trimmed &amp; Cleaned Text</a:t>
            </a:r>
            <a:endParaRPr lang="en-US" sz="950" dirty="0"/>
          </a:p>
        </p:txBody>
      </p:sp>
      <p:sp>
        <p:nvSpPr>
          <p:cNvPr id="28" name="Shape 25"/>
          <p:cNvSpPr/>
          <p:nvPr/>
        </p:nvSpPr>
        <p:spPr>
          <a:xfrm>
            <a:off x="5669280" y="3593592"/>
            <a:ext cx="45720" cy="274320"/>
          </a:xfrm>
          <a:prstGeom prst="rect">
            <a:avLst/>
          </a:prstGeom>
          <a:solidFill>
            <a:srgbClr val="00A896"/>
          </a:solidFill>
          <a:ln/>
        </p:spPr>
      </p:sp>
      <p:sp>
        <p:nvSpPr>
          <p:cNvPr id="29" name="Text 26"/>
          <p:cNvSpPr/>
          <p:nvPr/>
        </p:nvSpPr>
        <p:spPr>
          <a:xfrm>
            <a:off x="5779008" y="3593592"/>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Capitalize Each Word</a:t>
            </a:r>
            <a:endParaRPr lang="en-US" sz="950" dirty="0"/>
          </a:p>
        </p:txBody>
      </p:sp>
      <p:sp>
        <p:nvSpPr>
          <p:cNvPr id="37" name="Text 26">
            <a:extLst>
              <a:ext uri="{FF2B5EF4-FFF2-40B4-BE49-F238E27FC236}">
                <a16:creationId xmlns:a16="http://schemas.microsoft.com/office/drawing/2014/main" id="{A8455983-C218-A8AA-AEBB-31DBDA24D50F}"/>
              </a:ext>
            </a:extLst>
          </p:cNvPr>
          <p:cNvSpPr/>
          <p:nvPr/>
        </p:nvSpPr>
        <p:spPr>
          <a:xfrm>
            <a:off x="5779008" y="3995448"/>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Cleaned Text</a:t>
            </a:r>
            <a:endParaRPr lang="en-US" sz="950" dirty="0"/>
          </a:p>
        </p:txBody>
      </p:sp>
      <p:sp>
        <p:nvSpPr>
          <p:cNvPr id="38" name="Shape 25">
            <a:extLst>
              <a:ext uri="{FF2B5EF4-FFF2-40B4-BE49-F238E27FC236}">
                <a16:creationId xmlns:a16="http://schemas.microsoft.com/office/drawing/2014/main" id="{520DE036-55BE-01E5-E0C5-EE49C5AF8743}"/>
              </a:ext>
            </a:extLst>
          </p:cNvPr>
          <p:cNvSpPr/>
          <p:nvPr/>
        </p:nvSpPr>
        <p:spPr>
          <a:xfrm>
            <a:off x="5669280" y="3944192"/>
            <a:ext cx="45720" cy="274320"/>
          </a:xfrm>
          <a:prstGeom prst="rect">
            <a:avLst/>
          </a:prstGeom>
          <a:solidFill>
            <a:srgbClr val="00A896"/>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Data Cleaning &amp; Transformation — Power Query Editor</a:t>
            </a:r>
            <a:endParaRPr lang="en-US" sz="2200" dirty="0"/>
          </a:p>
        </p:txBody>
      </p:sp>
      <p:sp>
        <p:nvSpPr>
          <p:cNvPr id="4" name="Shape 2"/>
          <p:cNvSpPr/>
          <p:nvPr/>
        </p:nvSpPr>
        <p:spPr>
          <a:xfrm>
            <a:off x="0" y="4892040"/>
            <a:ext cx="9144000" cy="251460"/>
          </a:xfrm>
          <a:prstGeom prst="rect">
            <a:avLst/>
          </a:prstGeom>
          <a:solidFill>
            <a:srgbClr val="1B3A6B"/>
          </a:solidFill>
          <a:ln/>
        </p:spPr>
      </p:sp>
      <p:pic>
        <p:nvPicPr>
          <p:cNvPr id="7" name="Image 0"/>
          <p:cNvPicPr>
            <a:picLocks noChangeAspect="1"/>
          </p:cNvPicPr>
          <p:nvPr/>
        </p:nvPicPr>
        <p:blipFill>
          <a:blip r:embed="rId3"/>
          <a:srcRect/>
          <a:stretch/>
        </p:blipFill>
        <p:spPr>
          <a:xfrm>
            <a:off x="274320" y="1261872"/>
            <a:ext cx="5120640" cy="2880360"/>
          </a:xfrm>
          <a:prstGeom prst="rect">
            <a:avLst/>
          </a:prstGeom>
        </p:spPr>
      </p:pic>
      <p:sp>
        <p:nvSpPr>
          <p:cNvPr id="8" name="Shape 5"/>
          <p:cNvSpPr/>
          <p:nvPr/>
        </p:nvSpPr>
        <p:spPr>
          <a:xfrm>
            <a:off x="5669280" y="749808"/>
            <a:ext cx="3200400" cy="4020713"/>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9" name="Text 6"/>
          <p:cNvSpPr/>
          <p:nvPr/>
        </p:nvSpPr>
        <p:spPr>
          <a:xfrm>
            <a:off x="5669280" y="822960"/>
            <a:ext cx="3108960" cy="320040"/>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Applied Cleaning Steps</a:t>
            </a:r>
            <a:r>
              <a:rPr lang="ar-EG" sz="1200" b="1" dirty="0">
                <a:solidFill>
                  <a:srgbClr val="1B3A6B"/>
                </a:solidFill>
                <a:latin typeface="Calibri" pitchFamily="34" charset="0"/>
                <a:ea typeface="Calibri" pitchFamily="34" charset="-122"/>
                <a:cs typeface="Calibri" pitchFamily="34" charset="-120"/>
              </a:rPr>
              <a:t>   </a:t>
            </a:r>
            <a:r>
              <a:rPr lang="en-US" sz="1200" b="1" dirty="0">
                <a:solidFill>
                  <a:srgbClr val="1B3A6B"/>
                </a:solidFill>
                <a:latin typeface="Calibri" pitchFamily="34" charset="0"/>
                <a:ea typeface="Calibri" pitchFamily="34" charset="-122"/>
                <a:cs typeface="Calibri" pitchFamily="34" charset="-120"/>
              </a:rPr>
              <a:t> (Location)</a:t>
            </a:r>
            <a:endParaRPr lang="en-US" sz="1200" dirty="0"/>
          </a:p>
        </p:txBody>
      </p:sp>
      <p:sp>
        <p:nvSpPr>
          <p:cNvPr id="10" name="Shape 7"/>
          <p:cNvSpPr/>
          <p:nvPr/>
        </p:nvSpPr>
        <p:spPr>
          <a:xfrm>
            <a:off x="5669280" y="1234440"/>
            <a:ext cx="45720" cy="274320"/>
          </a:xfrm>
          <a:prstGeom prst="rect">
            <a:avLst/>
          </a:prstGeom>
          <a:solidFill>
            <a:srgbClr val="028090"/>
          </a:solidFill>
          <a:ln/>
        </p:spPr>
      </p:sp>
      <p:sp>
        <p:nvSpPr>
          <p:cNvPr id="11" name="Text 8"/>
          <p:cNvSpPr/>
          <p:nvPr/>
        </p:nvSpPr>
        <p:spPr>
          <a:xfrm>
            <a:off x="5779008" y="1234440"/>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Source</a:t>
            </a:r>
            <a:endParaRPr lang="en-US" sz="950" dirty="0"/>
          </a:p>
        </p:txBody>
      </p:sp>
      <p:sp>
        <p:nvSpPr>
          <p:cNvPr id="13" name="Shape 10"/>
          <p:cNvSpPr/>
          <p:nvPr/>
        </p:nvSpPr>
        <p:spPr>
          <a:xfrm>
            <a:off x="5669280" y="1627632"/>
            <a:ext cx="45720" cy="274320"/>
          </a:xfrm>
          <a:prstGeom prst="rect">
            <a:avLst/>
          </a:prstGeom>
          <a:solidFill>
            <a:srgbClr val="028090"/>
          </a:solidFill>
          <a:ln/>
        </p:spPr>
      </p:sp>
      <p:sp>
        <p:nvSpPr>
          <p:cNvPr id="14" name="Text 11"/>
          <p:cNvSpPr/>
          <p:nvPr/>
        </p:nvSpPr>
        <p:spPr>
          <a:xfrm>
            <a:off x="5779008" y="1627632"/>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Promote Headers</a:t>
            </a:r>
            <a:endParaRPr lang="en-US" sz="950" dirty="0"/>
          </a:p>
        </p:txBody>
      </p:sp>
      <p:sp>
        <p:nvSpPr>
          <p:cNvPr id="16" name="Shape 13"/>
          <p:cNvSpPr/>
          <p:nvPr/>
        </p:nvSpPr>
        <p:spPr>
          <a:xfrm>
            <a:off x="5669280" y="2020824"/>
            <a:ext cx="45720" cy="274320"/>
          </a:xfrm>
          <a:prstGeom prst="rect">
            <a:avLst/>
          </a:prstGeom>
          <a:solidFill>
            <a:srgbClr val="028090"/>
          </a:solidFill>
          <a:ln/>
        </p:spPr>
      </p:sp>
      <p:sp>
        <p:nvSpPr>
          <p:cNvPr id="17" name="Text 14"/>
          <p:cNvSpPr/>
          <p:nvPr/>
        </p:nvSpPr>
        <p:spPr>
          <a:xfrm>
            <a:off x="5779008" y="2020824"/>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Change Types</a:t>
            </a:r>
            <a:endParaRPr lang="en-US" sz="950" dirty="0"/>
          </a:p>
        </p:txBody>
      </p:sp>
      <p:sp>
        <p:nvSpPr>
          <p:cNvPr id="19" name="Shape 16"/>
          <p:cNvSpPr/>
          <p:nvPr/>
        </p:nvSpPr>
        <p:spPr>
          <a:xfrm>
            <a:off x="5669280" y="2414016"/>
            <a:ext cx="45720" cy="274320"/>
          </a:xfrm>
          <a:prstGeom prst="rect">
            <a:avLst/>
          </a:prstGeom>
          <a:solidFill>
            <a:srgbClr val="00A896"/>
          </a:solidFill>
          <a:ln/>
        </p:spPr>
      </p:sp>
      <p:sp>
        <p:nvSpPr>
          <p:cNvPr id="20" name="Text 17"/>
          <p:cNvSpPr/>
          <p:nvPr/>
        </p:nvSpPr>
        <p:spPr>
          <a:xfrm>
            <a:off x="5779008" y="2414016"/>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Remove Duplicates</a:t>
            </a:r>
            <a:endParaRPr lang="en-US" sz="950" dirty="0"/>
          </a:p>
        </p:txBody>
      </p:sp>
      <p:sp>
        <p:nvSpPr>
          <p:cNvPr id="22" name="Shape 19"/>
          <p:cNvSpPr/>
          <p:nvPr/>
        </p:nvSpPr>
        <p:spPr>
          <a:xfrm>
            <a:off x="5669280" y="2807208"/>
            <a:ext cx="45720" cy="274320"/>
          </a:xfrm>
          <a:prstGeom prst="rect">
            <a:avLst/>
          </a:prstGeom>
          <a:solidFill>
            <a:srgbClr val="00A896"/>
          </a:solidFill>
          <a:ln/>
        </p:spPr>
      </p:sp>
      <p:sp>
        <p:nvSpPr>
          <p:cNvPr id="23" name="Text 20"/>
          <p:cNvSpPr/>
          <p:nvPr/>
        </p:nvSpPr>
        <p:spPr>
          <a:xfrm>
            <a:off x="5779008" y="2807208"/>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Remove Blank Rows</a:t>
            </a:r>
            <a:endParaRPr lang="en-US" sz="950" dirty="0"/>
          </a:p>
        </p:txBody>
      </p:sp>
      <p:sp>
        <p:nvSpPr>
          <p:cNvPr id="25" name="Shape 22"/>
          <p:cNvSpPr/>
          <p:nvPr/>
        </p:nvSpPr>
        <p:spPr>
          <a:xfrm>
            <a:off x="5669280" y="3200400"/>
            <a:ext cx="45720" cy="274320"/>
          </a:xfrm>
          <a:prstGeom prst="rect">
            <a:avLst/>
          </a:prstGeom>
          <a:solidFill>
            <a:srgbClr val="00A896"/>
          </a:solidFill>
          <a:ln/>
        </p:spPr>
      </p:sp>
      <p:sp>
        <p:nvSpPr>
          <p:cNvPr id="26" name="Text 23"/>
          <p:cNvSpPr/>
          <p:nvPr/>
        </p:nvSpPr>
        <p:spPr>
          <a:xfrm>
            <a:off x="5779008" y="3200400"/>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Trimmed &amp; Cleaned Text</a:t>
            </a:r>
            <a:endParaRPr lang="en-US" sz="950" dirty="0"/>
          </a:p>
        </p:txBody>
      </p:sp>
      <p:sp>
        <p:nvSpPr>
          <p:cNvPr id="28" name="Shape 25"/>
          <p:cNvSpPr/>
          <p:nvPr/>
        </p:nvSpPr>
        <p:spPr>
          <a:xfrm>
            <a:off x="5669280" y="3593592"/>
            <a:ext cx="45720" cy="274320"/>
          </a:xfrm>
          <a:prstGeom prst="rect">
            <a:avLst/>
          </a:prstGeom>
          <a:solidFill>
            <a:srgbClr val="00A896"/>
          </a:solidFill>
          <a:ln/>
        </p:spPr>
      </p:sp>
      <p:sp>
        <p:nvSpPr>
          <p:cNvPr id="29" name="Text 26"/>
          <p:cNvSpPr/>
          <p:nvPr/>
        </p:nvSpPr>
        <p:spPr>
          <a:xfrm>
            <a:off x="5779008" y="3648456"/>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Capitalize Each Word</a:t>
            </a:r>
            <a:endParaRPr lang="en-US" sz="950" dirty="0"/>
          </a:p>
        </p:txBody>
      </p:sp>
      <p:sp>
        <p:nvSpPr>
          <p:cNvPr id="31" name="Shape 28"/>
          <p:cNvSpPr/>
          <p:nvPr/>
        </p:nvSpPr>
        <p:spPr>
          <a:xfrm>
            <a:off x="5669280" y="3986784"/>
            <a:ext cx="45720" cy="274320"/>
          </a:xfrm>
          <a:prstGeom prst="rect">
            <a:avLst/>
          </a:prstGeom>
          <a:solidFill>
            <a:srgbClr val="00A896"/>
          </a:solidFill>
          <a:ln/>
        </p:spPr>
      </p:sp>
      <p:sp>
        <p:nvSpPr>
          <p:cNvPr id="32" name="Text 29"/>
          <p:cNvSpPr/>
          <p:nvPr/>
        </p:nvSpPr>
        <p:spPr>
          <a:xfrm>
            <a:off x="5779008" y="3986784"/>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Filtered Rows</a:t>
            </a:r>
            <a:endParaRPr lang="en-US" sz="950" dirty="0"/>
          </a:p>
        </p:txBody>
      </p:sp>
      <p:sp>
        <p:nvSpPr>
          <p:cNvPr id="34" name="Shape 31"/>
          <p:cNvSpPr/>
          <p:nvPr/>
        </p:nvSpPr>
        <p:spPr>
          <a:xfrm>
            <a:off x="5669280" y="4379976"/>
            <a:ext cx="45720" cy="274320"/>
          </a:xfrm>
          <a:prstGeom prst="rect">
            <a:avLst/>
          </a:prstGeom>
          <a:solidFill>
            <a:srgbClr val="00A896"/>
          </a:solidFill>
          <a:ln/>
        </p:spPr>
      </p:sp>
      <p:sp>
        <p:nvSpPr>
          <p:cNvPr id="35" name="Text 32"/>
          <p:cNvSpPr/>
          <p:nvPr/>
        </p:nvSpPr>
        <p:spPr>
          <a:xfrm>
            <a:off x="5779008" y="4411980"/>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Cleaned Text</a:t>
            </a:r>
            <a:endParaRPr lang="en-US" sz="950" dirty="0"/>
          </a:p>
        </p:txBody>
      </p:sp>
    </p:spTree>
    <p:extLst>
      <p:ext uri="{BB962C8B-B14F-4D97-AF65-F5344CB8AC3E}">
        <p14:creationId xmlns:p14="http://schemas.microsoft.com/office/powerpoint/2010/main" val="2069911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Data Cleaning &amp; Transformation — Power Query Editor</a:t>
            </a:r>
            <a:endParaRPr lang="en-US" sz="2200" dirty="0"/>
          </a:p>
        </p:txBody>
      </p:sp>
      <p:sp>
        <p:nvSpPr>
          <p:cNvPr id="4" name="Shape 2"/>
          <p:cNvSpPr/>
          <p:nvPr/>
        </p:nvSpPr>
        <p:spPr>
          <a:xfrm>
            <a:off x="0" y="4892040"/>
            <a:ext cx="9144000" cy="251460"/>
          </a:xfrm>
          <a:prstGeom prst="rect">
            <a:avLst/>
          </a:prstGeom>
          <a:solidFill>
            <a:srgbClr val="1B3A6B"/>
          </a:solidFill>
          <a:ln/>
        </p:spPr>
      </p:sp>
      <p:pic>
        <p:nvPicPr>
          <p:cNvPr id="7" name="Image 0"/>
          <p:cNvPicPr>
            <a:picLocks noChangeAspect="1"/>
          </p:cNvPicPr>
          <p:nvPr/>
        </p:nvPicPr>
        <p:blipFill>
          <a:blip r:embed="rId3"/>
          <a:srcRect/>
          <a:stretch/>
        </p:blipFill>
        <p:spPr>
          <a:xfrm>
            <a:off x="274320" y="1261872"/>
            <a:ext cx="5120640" cy="2880360"/>
          </a:xfrm>
          <a:prstGeom prst="rect">
            <a:avLst/>
          </a:prstGeom>
        </p:spPr>
      </p:pic>
      <p:sp>
        <p:nvSpPr>
          <p:cNvPr id="8" name="Shape 5"/>
          <p:cNvSpPr/>
          <p:nvPr/>
        </p:nvSpPr>
        <p:spPr>
          <a:xfrm>
            <a:off x="5669280" y="749809"/>
            <a:ext cx="3200400" cy="370187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9" name="Text 6"/>
          <p:cNvSpPr/>
          <p:nvPr/>
        </p:nvSpPr>
        <p:spPr>
          <a:xfrm>
            <a:off x="5669280" y="822960"/>
            <a:ext cx="3108960" cy="320040"/>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Applied Cleaning Steps</a:t>
            </a:r>
            <a:r>
              <a:rPr lang="ar-EG" sz="1200" b="1" dirty="0">
                <a:solidFill>
                  <a:srgbClr val="1B3A6B"/>
                </a:solidFill>
                <a:latin typeface="Calibri" pitchFamily="34" charset="0"/>
                <a:ea typeface="Calibri" pitchFamily="34" charset="-122"/>
                <a:cs typeface="Calibri" pitchFamily="34" charset="-120"/>
              </a:rPr>
              <a:t>   </a:t>
            </a:r>
            <a:r>
              <a:rPr lang="en-US" sz="1200" b="1" dirty="0">
                <a:solidFill>
                  <a:srgbClr val="1B3A6B"/>
                </a:solidFill>
                <a:latin typeface="Calibri" pitchFamily="34" charset="0"/>
                <a:ea typeface="Calibri" pitchFamily="34" charset="-122"/>
                <a:cs typeface="Calibri" pitchFamily="34" charset="-120"/>
              </a:rPr>
              <a:t> (Products)</a:t>
            </a:r>
            <a:endParaRPr lang="en-US" sz="1200" dirty="0"/>
          </a:p>
        </p:txBody>
      </p:sp>
      <p:sp>
        <p:nvSpPr>
          <p:cNvPr id="10" name="Shape 7"/>
          <p:cNvSpPr/>
          <p:nvPr/>
        </p:nvSpPr>
        <p:spPr>
          <a:xfrm>
            <a:off x="5669280" y="1234440"/>
            <a:ext cx="45720" cy="274320"/>
          </a:xfrm>
          <a:prstGeom prst="rect">
            <a:avLst/>
          </a:prstGeom>
          <a:solidFill>
            <a:srgbClr val="028090"/>
          </a:solidFill>
          <a:ln/>
        </p:spPr>
      </p:sp>
      <p:sp>
        <p:nvSpPr>
          <p:cNvPr id="11" name="Text 8"/>
          <p:cNvSpPr/>
          <p:nvPr/>
        </p:nvSpPr>
        <p:spPr>
          <a:xfrm>
            <a:off x="5779008" y="1234440"/>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Source</a:t>
            </a:r>
            <a:endParaRPr lang="en-US" sz="950" dirty="0"/>
          </a:p>
        </p:txBody>
      </p:sp>
      <p:sp>
        <p:nvSpPr>
          <p:cNvPr id="13" name="Shape 10"/>
          <p:cNvSpPr/>
          <p:nvPr/>
        </p:nvSpPr>
        <p:spPr>
          <a:xfrm>
            <a:off x="5669280" y="1627632"/>
            <a:ext cx="45720" cy="274320"/>
          </a:xfrm>
          <a:prstGeom prst="rect">
            <a:avLst/>
          </a:prstGeom>
          <a:solidFill>
            <a:srgbClr val="028090"/>
          </a:solidFill>
          <a:ln/>
        </p:spPr>
      </p:sp>
      <p:sp>
        <p:nvSpPr>
          <p:cNvPr id="14" name="Text 11"/>
          <p:cNvSpPr/>
          <p:nvPr/>
        </p:nvSpPr>
        <p:spPr>
          <a:xfrm>
            <a:off x="5779008" y="1627632"/>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Promote Headers</a:t>
            </a:r>
            <a:endParaRPr lang="en-US" sz="950" dirty="0"/>
          </a:p>
        </p:txBody>
      </p:sp>
      <p:sp>
        <p:nvSpPr>
          <p:cNvPr id="16" name="Shape 13"/>
          <p:cNvSpPr/>
          <p:nvPr/>
        </p:nvSpPr>
        <p:spPr>
          <a:xfrm>
            <a:off x="5669280" y="2020824"/>
            <a:ext cx="45720" cy="274320"/>
          </a:xfrm>
          <a:prstGeom prst="rect">
            <a:avLst/>
          </a:prstGeom>
          <a:solidFill>
            <a:srgbClr val="028090"/>
          </a:solidFill>
          <a:ln/>
        </p:spPr>
      </p:sp>
      <p:sp>
        <p:nvSpPr>
          <p:cNvPr id="17" name="Text 14"/>
          <p:cNvSpPr/>
          <p:nvPr/>
        </p:nvSpPr>
        <p:spPr>
          <a:xfrm>
            <a:off x="5779008" y="2020824"/>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Change Types</a:t>
            </a:r>
            <a:endParaRPr lang="en-US" sz="950" dirty="0"/>
          </a:p>
        </p:txBody>
      </p:sp>
      <p:sp>
        <p:nvSpPr>
          <p:cNvPr id="19" name="Shape 16"/>
          <p:cNvSpPr/>
          <p:nvPr/>
        </p:nvSpPr>
        <p:spPr>
          <a:xfrm>
            <a:off x="5669280" y="2414016"/>
            <a:ext cx="45720" cy="274320"/>
          </a:xfrm>
          <a:prstGeom prst="rect">
            <a:avLst/>
          </a:prstGeom>
          <a:solidFill>
            <a:srgbClr val="00A896"/>
          </a:solidFill>
          <a:ln/>
        </p:spPr>
      </p:sp>
      <p:sp>
        <p:nvSpPr>
          <p:cNvPr id="20" name="Text 17"/>
          <p:cNvSpPr/>
          <p:nvPr/>
        </p:nvSpPr>
        <p:spPr>
          <a:xfrm>
            <a:off x="5779008" y="2414016"/>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Remove Duplicates</a:t>
            </a:r>
            <a:endParaRPr lang="en-US" sz="950" dirty="0"/>
          </a:p>
        </p:txBody>
      </p:sp>
      <p:sp>
        <p:nvSpPr>
          <p:cNvPr id="22" name="Shape 19"/>
          <p:cNvSpPr/>
          <p:nvPr/>
        </p:nvSpPr>
        <p:spPr>
          <a:xfrm>
            <a:off x="5669280" y="2807208"/>
            <a:ext cx="45720" cy="274320"/>
          </a:xfrm>
          <a:prstGeom prst="rect">
            <a:avLst/>
          </a:prstGeom>
          <a:solidFill>
            <a:srgbClr val="00A896"/>
          </a:solidFill>
          <a:ln/>
        </p:spPr>
      </p:sp>
      <p:sp>
        <p:nvSpPr>
          <p:cNvPr id="23" name="Text 20"/>
          <p:cNvSpPr/>
          <p:nvPr/>
        </p:nvSpPr>
        <p:spPr>
          <a:xfrm>
            <a:off x="5779008" y="2807208"/>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Remove Blank Rows</a:t>
            </a:r>
            <a:endParaRPr lang="en-US" sz="950" dirty="0"/>
          </a:p>
        </p:txBody>
      </p:sp>
      <p:sp>
        <p:nvSpPr>
          <p:cNvPr id="25" name="Shape 22"/>
          <p:cNvSpPr/>
          <p:nvPr/>
        </p:nvSpPr>
        <p:spPr>
          <a:xfrm>
            <a:off x="5669280" y="3200400"/>
            <a:ext cx="45720" cy="274320"/>
          </a:xfrm>
          <a:prstGeom prst="rect">
            <a:avLst/>
          </a:prstGeom>
          <a:solidFill>
            <a:srgbClr val="00A896"/>
          </a:solidFill>
          <a:ln/>
        </p:spPr>
      </p:sp>
      <p:sp>
        <p:nvSpPr>
          <p:cNvPr id="26" name="Text 23"/>
          <p:cNvSpPr/>
          <p:nvPr/>
        </p:nvSpPr>
        <p:spPr>
          <a:xfrm>
            <a:off x="5779008" y="3200400"/>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Trimmed &amp; Cleaned Text</a:t>
            </a:r>
            <a:endParaRPr lang="en-US" sz="950" dirty="0"/>
          </a:p>
        </p:txBody>
      </p:sp>
      <p:sp>
        <p:nvSpPr>
          <p:cNvPr id="28" name="Shape 25"/>
          <p:cNvSpPr/>
          <p:nvPr/>
        </p:nvSpPr>
        <p:spPr>
          <a:xfrm>
            <a:off x="5669280" y="3593592"/>
            <a:ext cx="45720" cy="274320"/>
          </a:xfrm>
          <a:prstGeom prst="rect">
            <a:avLst/>
          </a:prstGeom>
          <a:solidFill>
            <a:srgbClr val="00A896"/>
          </a:solidFill>
          <a:ln/>
        </p:spPr>
      </p:sp>
      <p:sp>
        <p:nvSpPr>
          <p:cNvPr id="29" name="Text 26"/>
          <p:cNvSpPr/>
          <p:nvPr/>
        </p:nvSpPr>
        <p:spPr>
          <a:xfrm>
            <a:off x="5779008" y="3648456"/>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Capitalize Each Word</a:t>
            </a:r>
            <a:endParaRPr lang="en-US" sz="950" dirty="0"/>
          </a:p>
        </p:txBody>
      </p:sp>
      <p:sp>
        <p:nvSpPr>
          <p:cNvPr id="31" name="Shape 28"/>
          <p:cNvSpPr/>
          <p:nvPr/>
        </p:nvSpPr>
        <p:spPr>
          <a:xfrm>
            <a:off x="5669280" y="3986784"/>
            <a:ext cx="45720" cy="274320"/>
          </a:xfrm>
          <a:prstGeom prst="rect">
            <a:avLst/>
          </a:prstGeom>
          <a:solidFill>
            <a:srgbClr val="00A896"/>
          </a:solidFill>
          <a:ln/>
        </p:spPr>
      </p:sp>
      <p:sp>
        <p:nvSpPr>
          <p:cNvPr id="35" name="Text 32"/>
          <p:cNvSpPr/>
          <p:nvPr/>
        </p:nvSpPr>
        <p:spPr>
          <a:xfrm>
            <a:off x="5779008" y="4032504"/>
            <a:ext cx="1371600" cy="164592"/>
          </a:xfrm>
          <a:prstGeom prst="rect">
            <a:avLst/>
          </a:prstGeom>
          <a:noFill/>
          <a:ln/>
        </p:spPr>
        <p:txBody>
          <a:bodyPr wrap="square" lIns="0" tIns="0" rIns="0" bIns="0" rtlCol="0" anchor="ctr"/>
          <a:lstStyle/>
          <a:p>
            <a:pPr marL="0" indent="0">
              <a:buNone/>
            </a:pPr>
            <a:r>
              <a:rPr lang="en-US" sz="950" b="1" dirty="0">
                <a:solidFill>
                  <a:srgbClr val="1B3A6B"/>
                </a:solidFill>
                <a:latin typeface="Calibri" pitchFamily="34" charset="0"/>
                <a:ea typeface="Calibri" pitchFamily="34" charset="-122"/>
                <a:cs typeface="Calibri" pitchFamily="34" charset="-120"/>
              </a:rPr>
              <a:t>Cleaned Text</a:t>
            </a:r>
            <a:endParaRPr lang="en-US" sz="950" dirty="0"/>
          </a:p>
        </p:txBody>
      </p:sp>
    </p:spTree>
    <p:extLst>
      <p:ext uri="{BB962C8B-B14F-4D97-AF65-F5344CB8AC3E}">
        <p14:creationId xmlns:p14="http://schemas.microsoft.com/office/powerpoint/2010/main" val="608679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Data Model — Star Schema Architecture</a:t>
            </a:r>
            <a:endParaRPr lang="en-US" sz="2200" dirty="0"/>
          </a:p>
        </p:txBody>
      </p:sp>
      <p:sp>
        <p:nvSpPr>
          <p:cNvPr id="4" name="Shape 2"/>
          <p:cNvSpPr/>
          <p:nvPr/>
        </p:nvSpPr>
        <p:spPr>
          <a:xfrm>
            <a:off x="0" y="4892040"/>
            <a:ext cx="9144000" cy="251460"/>
          </a:xfrm>
          <a:prstGeom prst="rect">
            <a:avLst/>
          </a:prstGeom>
          <a:solidFill>
            <a:srgbClr val="1B3A6B"/>
          </a:solidFill>
          <a:ln/>
        </p:spPr>
      </p:sp>
      <p:pic>
        <p:nvPicPr>
          <p:cNvPr id="7" name="Image 0" descr="/home/claude/s34_star_schema.png"/>
          <p:cNvPicPr>
            <a:picLocks noChangeAspect="1"/>
          </p:cNvPicPr>
          <p:nvPr/>
        </p:nvPicPr>
        <p:blipFill>
          <a:blip r:embed="rId3"/>
          <a:srcRect/>
          <a:stretch/>
        </p:blipFill>
        <p:spPr>
          <a:xfrm>
            <a:off x="274320" y="749808"/>
            <a:ext cx="5303520" cy="3474720"/>
          </a:xfrm>
          <a:prstGeom prst="rect">
            <a:avLst/>
          </a:prstGeom>
        </p:spPr>
      </p:pic>
      <p:sp>
        <p:nvSpPr>
          <p:cNvPr id="8" name="Shape 5"/>
          <p:cNvSpPr/>
          <p:nvPr/>
        </p:nvSpPr>
        <p:spPr>
          <a:xfrm>
            <a:off x="5760720" y="749808"/>
            <a:ext cx="3154680" cy="41605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9" name="Text 6"/>
          <p:cNvSpPr/>
          <p:nvPr/>
        </p:nvSpPr>
        <p:spPr>
          <a:xfrm>
            <a:off x="5897880" y="822960"/>
            <a:ext cx="2880360" cy="320040"/>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Model Architecture</a:t>
            </a:r>
            <a:endParaRPr lang="en-US" sz="1200" dirty="0"/>
          </a:p>
        </p:txBody>
      </p:sp>
      <p:sp>
        <p:nvSpPr>
          <p:cNvPr id="10" name="Text 7"/>
          <p:cNvSpPr/>
          <p:nvPr/>
        </p:nvSpPr>
        <p:spPr>
          <a:xfrm>
            <a:off x="5897880" y="1234440"/>
            <a:ext cx="2880360" cy="201168"/>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Fact Table</a:t>
            </a:r>
            <a:endParaRPr lang="en-US" sz="1050" dirty="0"/>
          </a:p>
        </p:txBody>
      </p:sp>
      <p:sp>
        <p:nvSpPr>
          <p:cNvPr id="11" name="Text 8"/>
          <p:cNvSpPr/>
          <p:nvPr/>
        </p:nvSpPr>
        <p:spPr>
          <a:xfrm>
            <a:off x="5897880" y="1435608"/>
            <a:ext cx="2880360" cy="228600"/>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Orders (9,994 rows) — central hub of all transactions</a:t>
            </a:r>
            <a:endParaRPr lang="en-US" sz="950" dirty="0"/>
          </a:p>
        </p:txBody>
      </p:sp>
      <p:sp>
        <p:nvSpPr>
          <p:cNvPr id="12" name="Text 9"/>
          <p:cNvSpPr/>
          <p:nvPr/>
        </p:nvSpPr>
        <p:spPr>
          <a:xfrm>
            <a:off x="5897880" y="1719072"/>
            <a:ext cx="2880360" cy="201168"/>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 Customers</a:t>
            </a:r>
            <a:endParaRPr lang="en-US" sz="1050" dirty="0"/>
          </a:p>
        </p:txBody>
      </p:sp>
      <p:sp>
        <p:nvSpPr>
          <p:cNvPr id="13" name="Text 10"/>
          <p:cNvSpPr/>
          <p:nvPr/>
        </p:nvSpPr>
        <p:spPr>
          <a:xfrm>
            <a:off x="5897880" y="1920240"/>
            <a:ext cx="2880360" cy="228600"/>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Joined on Customer ID — who placed each order</a:t>
            </a:r>
            <a:endParaRPr lang="en-US" sz="950" dirty="0"/>
          </a:p>
        </p:txBody>
      </p:sp>
      <p:sp>
        <p:nvSpPr>
          <p:cNvPr id="14" name="Text 11"/>
          <p:cNvSpPr/>
          <p:nvPr/>
        </p:nvSpPr>
        <p:spPr>
          <a:xfrm>
            <a:off x="5897880" y="2203704"/>
            <a:ext cx="2880360" cy="201168"/>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 Location</a:t>
            </a:r>
            <a:endParaRPr lang="en-US" sz="1050" dirty="0"/>
          </a:p>
        </p:txBody>
      </p:sp>
      <p:sp>
        <p:nvSpPr>
          <p:cNvPr id="15" name="Text 12"/>
          <p:cNvSpPr/>
          <p:nvPr/>
        </p:nvSpPr>
        <p:spPr>
          <a:xfrm>
            <a:off x="5897880" y="2404872"/>
            <a:ext cx="2880360" cy="228600"/>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Joined on Postal Code — where orders originated</a:t>
            </a:r>
            <a:endParaRPr lang="en-US" sz="950" dirty="0"/>
          </a:p>
        </p:txBody>
      </p:sp>
      <p:sp>
        <p:nvSpPr>
          <p:cNvPr id="16" name="Text 13"/>
          <p:cNvSpPr/>
          <p:nvPr/>
        </p:nvSpPr>
        <p:spPr>
          <a:xfrm>
            <a:off x="5897880" y="2688336"/>
            <a:ext cx="2880360" cy="201168"/>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 Products</a:t>
            </a:r>
            <a:endParaRPr lang="en-US" sz="1050" dirty="0"/>
          </a:p>
        </p:txBody>
      </p:sp>
      <p:sp>
        <p:nvSpPr>
          <p:cNvPr id="17" name="Text 14"/>
          <p:cNvSpPr/>
          <p:nvPr/>
        </p:nvSpPr>
        <p:spPr>
          <a:xfrm>
            <a:off x="5897880" y="2889504"/>
            <a:ext cx="2880360" cy="228600"/>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Joined on Product ID — what was ordered</a:t>
            </a:r>
            <a:endParaRPr lang="en-US" sz="950" dirty="0"/>
          </a:p>
        </p:txBody>
      </p:sp>
      <p:sp>
        <p:nvSpPr>
          <p:cNvPr id="18" name="Text 15"/>
          <p:cNvSpPr/>
          <p:nvPr/>
        </p:nvSpPr>
        <p:spPr>
          <a:xfrm>
            <a:off x="5897880" y="3172968"/>
            <a:ext cx="2880360" cy="201168"/>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Relationships</a:t>
            </a:r>
            <a:endParaRPr lang="en-US" sz="1050" dirty="0"/>
          </a:p>
        </p:txBody>
      </p:sp>
      <p:sp>
        <p:nvSpPr>
          <p:cNvPr id="19" name="Text 16"/>
          <p:cNvSpPr/>
          <p:nvPr/>
        </p:nvSpPr>
        <p:spPr>
          <a:xfrm>
            <a:off x="5897880" y="3374136"/>
            <a:ext cx="2880360" cy="228600"/>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All Many-to-One from Orders to dimensions</a:t>
            </a:r>
            <a:endParaRPr lang="en-US" sz="950" dirty="0"/>
          </a:p>
        </p:txBody>
      </p:sp>
      <p:sp>
        <p:nvSpPr>
          <p:cNvPr id="20" name="Text 17"/>
          <p:cNvSpPr/>
          <p:nvPr/>
        </p:nvSpPr>
        <p:spPr>
          <a:xfrm>
            <a:off x="5897880" y="3657600"/>
            <a:ext cx="2880360" cy="201168"/>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Calculated Fields</a:t>
            </a:r>
            <a:endParaRPr lang="en-US" sz="1050" dirty="0"/>
          </a:p>
        </p:txBody>
      </p:sp>
      <p:sp>
        <p:nvSpPr>
          <p:cNvPr id="21" name="Text 18"/>
          <p:cNvSpPr/>
          <p:nvPr/>
        </p:nvSpPr>
        <p:spPr>
          <a:xfrm>
            <a:off x="5897880" y="3858768"/>
            <a:ext cx="2880360" cy="228600"/>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24+ custom measures for KPIs and YoY logic</a:t>
            </a:r>
            <a:endParaRPr lang="en-US" sz="950" dirty="0"/>
          </a:p>
        </p:txBody>
      </p:sp>
      <p:sp>
        <p:nvSpPr>
          <p:cNvPr id="22" name="Text 19"/>
          <p:cNvSpPr/>
          <p:nvPr/>
        </p:nvSpPr>
        <p:spPr>
          <a:xfrm>
            <a:off x="5897880" y="4142232"/>
            <a:ext cx="2880360" cy="201168"/>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Parameters</a:t>
            </a:r>
            <a:endParaRPr lang="en-US" sz="1050" dirty="0"/>
          </a:p>
        </p:txBody>
      </p:sp>
      <p:sp>
        <p:nvSpPr>
          <p:cNvPr id="23" name="Text 20"/>
          <p:cNvSpPr/>
          <p:nvPr/>
        </p:nvSpPr>
        <p:spPr>
          <a:xfrm>
            <a:off x="5897880" y="4343400"/>
            <a:ext cx="2880360" cy="228600"/>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Select Year parameter drives all time comparisons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Calculated Fields &amp; Business Logic — Custom Measures</a:t>
            </a:r>
            <a:endParaRPr lang="en-US" sz="2200" dirty="0"/>
          </a:p>
        </p:txBody>
      </p:sp>
      <p:sp>
        <p:nvSpPr>
          <p:cNvPr id="4" name="Shape 2"/>
          <p:cNvSpPr/>
          <p:nvPr/>
        </p:nvSpPr>
        <p:spPr>
          <a:xfrm>
            <a:off x="0" y="4892040"/>
            <a:ext cx="9144000" cy="251460"/>
          </a:xfrm>
          <a:prstGeom prst="rect">
            <a:avLst/>
          </a:prstGeom>
          <a:solidFill>
            <a:srgbClr val="1B3A6B"/>
          </a:solidFill>
          <a:ln/>
        </p:spPr>
      </p:sp>
      <p:sp>
        <p:nvSpPr>
          <p:cNvPr id="7" name="Text 5"/>
          <p:cNvSpPr/>
          <p:nvPr/>
        </p:nvSpPr>
        <p:spPr>
          <a:xfrm>
            <a:off x="274320" y="731520"/>
            <a:ext cx="8595360" cy="292608"/>
          </a:xfrm>
          <a:prstGeom prst="rect">
            <a:avLst/>
          </a:prstGeom>
          <a:noFill/>
          <a:ln/>
        </p:spPr>
        <p:txBody>
          <a:bodyPr wrap="square" rtlCol="0" anchor="ctr"/>
          <a:lstStyle/>
          <a:p>
            <a:pPr marL="0" indent="0">
              <a:buNone/>
            </a:pPr>
            <a:r>
              <a:rPr lang="en-US" sz="1200" i="1" dirty="0">
                <a:solidFill>
                  <a:srgbClr val="028090"/>
                </a:solidFill>
                <a:latin typeface="Calibri" pitchFamily="34" charset="0"/>
                <a:ea typeface="Calibri" pitchFamily="34" charset="-122"/>
                <a:cs typeface="Calibri" pitchFamily="34" charset="-120"/>
              </a:rPr>
              <a:t>Every KPI card and percentage change is powered by a custom-built calculated field or measure</a:t>
            </a:r>
            <a:endParaRPr lang="en-US" sz="1200" dirty="0"/>
          </a:p>
        </p:txBody>
      </p:sp>
      <p:sp>
        <p:nvSpPr>
          <p:cNvPr id="8" name="Shape 6"/>
          <p:cNvSpPr/>
          <p:nvPr/>
        </p:nvSpPr>
        <p:spPr>
          <a:xfrm>
            <a:off x="274320" y="1115568"/>
            <a:ext cx="416052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9" name="Shape 7"/>
          <p:cNvSpPr/>
          <p:nvPr/>
        </p:nvSpPr>
        <p:spPr>
          <a:xfrm>
            <a:off x="274320" y="1115568"/>
            <a:ext cx="73152" cy="1783080"/>
          </a:xfrm>
          <a:prstGeom prst="rect">
            <a:avLst/>
          </a:prstGeom>
          <a:solidFill>
            <a:srgbClr val="028090"/>
          </a:solidFill>
          <a:ln/>
        </p:spPr>
      </p:sp>
      <p:sp>
        <p:nvSpPr>
          <p:cNvPr id="10" name="Text 8"/>
          <p:cNvSpPr/>
          <p:nvPr/>
        </p:nvSpPr>
        <p:spPr>
          <a:xfrm>
            <a:off x="457200" y="1207008"/>
            <a:ext cx="3840480" cy="274320"/>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Sales Measures</a:t>
            </a:r>
            <a:endParaRPr lang="en-US" sz="1200" dirty="0"/>
          </a:p>
        </p:txBody>
      </p:sp>
      <p:sp>
        <p:nvSpPr>
          <p:cNvPr id="11" name="Text 9"/>
          <p:cNvSpPr/>
          <p:nvPr/>
        </p:nvSpPr>
        <p:spPr>
          <a:xfrm>
            <a:off x="457200" y="1527048"/>
            <a:ext cx="3840480" cy="1280160"/>
          </a:xfrm>
          <a:prstGeom prst="rect">
            <a:avLst/>
          </a:prstGeom>
          <a:noFill/>
          <a:ln/>
        </p:spPr>
        <p:txBody>
          <a:bodyPr wrap="square" lIns="0" tIns="0" rIns="0" bIns="0" rtlCol="0" anchor="ctr"/>
          <a:lstStyle/>
          <a:p>
            <a:pPr marL="0" indent="0">
              <a:buNone/>
            </a:pPr>
            <a:r>
              <a:rPr lang="en-US" sz="1000" dirty="0">
                <a:solidFill>
                  <a:srgbClr val="36454F"/>
                </a:solidFill>
                <a:latin typeface="Calibri" pitchFamily="34" charset="0"/>
                <a:ea typeface="Calibri" pitchFamily="34" charset="-122"/>
                <a:cs typeface="Calibri" pitchFamily="34" charset="-120"/>
              </a:rPr>
              <a:t>▪  Current Year Sales (SUM)</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Prior Year Sales (SUM)</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Sales Growth %</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Sales Target </a:t>
            </a:r>
            <a:endParaRPr lang="en-US" sz="1000" dirty="0"/>
          </a:p>
        </p:txBody>
      </p:sp>
      <p:sp>
        <p:nvSpPr>
          <p:cNvPr id="12" name="Shape 10"/>
          <p:cNvSpPr/>
          <p:nvPr/>
        </p:nvSpPr>
        <p:spPr>
          <a:xfrm>
            <a:off x="4709160" y="1115568"/>
            <a:ext cx="416052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3" name="Shape 11"/>
          <p:cNvSpPr/>
          <p:nvPr/>
        </p:nvSpPr>
        <p:spPr>
          <a:xfrm>
            <a:off x="4709160" y="1115568"/>
            <a:ext cx="73152" cy="1783080"/>
          </a:xfrm>
          <a:prstGeom prst="rect">
            <a:avLst/>
          </a:prstGeom>
          <a:solidFill>
            <a:srgbClr val="00A896"/>
          </a:solidFill>
          <a:ln/>
        </p:spPr>
      </p:sp>
      <p:sp>
        <p:nvSpPr>
          <p:cNvPr id="14" name="Text 12"/>
          <p:cNvSpPr/>
          <p:nvPr/>
        </p:nvSpPr>
        <p:spPr>
          <a:xfrm>
            <a:off x="4892040" y="1207008"/>
            <a:ext cx="3840480" cy="274320"/>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Profit Measures</a:t>
            </a:r>
            <a:endParaRPr lang="en-US" sz="1200" dirty="0"/>
          </a:p>
        </p:txBody>
      </p:sp>
      <p:sp>
        <p:nvSpPr>
          <p:cNvPr id="15" name="Text 13"/>
          <p:cNvSpPr/>
          <p:nvPr/>
        </p:nvSpPr>
        <p:spPr>
          <a:xfrm>
            <a:off x="4892040" y="1527048"/>
            <a:ext cx="3840480" cy="1280160"/>
          </a:xfrm>
          <a:prstGeom prst="rect">
            <a:avLst/>
          </a:prstGeom>
          <a:noFill/>
          <a:ln/>
        </p:spPr>
        <p:txBody>
          <a:bodyPr wrap="square" lIns="0" tIns="0" rIns="0" bIns="0" rtlCol="0" anchor="ctr"/>
          <a:lstStyle/>
          <a:p>
            <a:pPr marL="0" indent="0">
              <a:buNone/>
            </a:pPr>
            <a:r>
              <a:rPr lang="en-US" sz="1000" dirty="0">
                <a:solidFill>
                  <a:srgbClr val="36454F"/>
                </a:solidFill>
                <a:latin typeface="Calibri" pitchFamily="34" charset="0"/>
                <a:ea typeface="Calibri" pitchFamily="34" charset="-122"/>
                <a:cs typeface="Calibri" pitchFamily="34" charset="-120"/>
              </a:rPr>
              <a:t>▪  Current Year Profit</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Prior Year Profit</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Profit Growth %</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Average Profit</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Negative Profit flag</a:t>
            </a:r>
            <a:endParaRPr lang="en-US" sz="1000" dirty="0"/>
          </a:p>
        </p:txBody>
      </p:sp>
      <p:sp>
        <p:nvSpPr>
          <p:cNvPr id="16" name="Shape 14"/>
          <p:cNvSpPr/>
          <p:nvPr/>
        </p:nvSpPr>
        <p:spPr>
          <a:xfrm>
            <a:off x="274320" y="3081528"/>
            <a:ext cx="416052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7" name="Shape 15"/>
          <p:cNvSpPr/>
          <p:nvPr/>
        </p:nvSpPr>
        <p:spPr>
          <a:xfrm>
            <a:off x="274320" y="3081528"/>
            <a:ext cx="73152" cy="1783080"/>
          </a:xfrm>
          <a:prstGeom prst="rect">
            <a:avLst/>
          </a:prstGeom>
          <a:solidFill>
            <a:srgbClr val="F59E0B"/>
          </a:solidFill>
          <a:ln/>
        </p:spPr>
      </p:sp>
      <p:sp>
        <p:nvSpPr>
          <p:cNvPr id="18" name="Text 16"/>
          <p:cNvSpPr/>
          <p:nvPr/>
        </p:nvSpPr>
        <p:spPr>
          <a:xfrm>
            <a:off x="457200" y="3172968"/>
            <a:ext cx="3840480" cy="274320"/>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Order Measures</a:t>
            </a:r>
            <a:endParaRPr lang="en-US" sz="1200" dirty="0"/>
          </a:p>
        </p:txBody>
      </p:sp>
      <p:sp>
        <p:nvSpPr>
          <p:cNvPr id="19" name="Text 17"/>
          <p:cNvSpPr/>
          <p:nvPr/>
        </p:nvSpPr>
        <p:spPr>
          <a:xfrm>
            <a:off x="457200" y="3493008"/>
            <a:ext cx="3840480" cy="1280160"/>
          </a:xfrm>
          <a:prstGeom prst="rect">
            <a:avLst/>
          </a:prstGeom>
          <a:noFill/>
          <a:ln/>
        </p:spPr>
        <p:txBody>
          <a:bodyPr wrap="square" lIns="0" tIns="0" rIns="0" bIns="0" rtlCol="0" anchor="ctr"/>
          <a:lstStyle/>
          <a:p>
            <a:pPr marL="0" indent="0">
              <a:buNone/>
            </a:pPr>
            <a:r>
              <a:rPr lang="en-US" sz="1000" dirty="0">
                <a:solidFill>
                  <a:srgbClr val="36454F"/>
                </a:solidFill>
                <a:latin typeface="Calibri" pitchFamily="34" charset="0"/>
                <a:ea typeface="Calibri" pitchFamily="34" charset="-122"/>
                <a:cs typeface="Calibri" pitchFamily="34" charset="-120"/>
              </a:rPr>
              <a:t>▪  Current Year Orders (CNTD)</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Orders Growth %</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Avg Orders per Customer</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Avg Orders Growth %</a:t>
            </a:r>
            <a:endParaRPr lang="en-US" sz="1000" dirty="0"/>
          </a:p>
        </p:txBody>
      </p:sp>
      <p:sp>
        <p:nvSpPr>
          <p:cNvPr id="20" name="Shape 18"/>
          <p:cNvSpPr/>
          <p:nvPr/>
        </p:nvSpPr>
        <p:spPr>
          <a:xfrm>
            <a:off x="4709160" y="3081528"/>
            <a:ext cx="416052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1" name="Shape 19"/>
          <p:cNvSpPr/>
          <p:nvPr/>
        </p:nvSpPr>
        <p:spPr>
          <a:xfrm>
            <a:off x="4709160" y="3081528"/>
            <a:ext cx="73152" cy="1783080"/>
          </a:xfrm>
          <a:prstGeom prst="rect">
            <a:avLst/>
          </a:prstGeom>
          <a:solidFill>
            <a:srgbClr val="9333EA"/>
          </a:solidFill>
          <a:ln/>
        </p:spPr>
      </p:sp>
      <p:sp>
        <p:nvSpPr>
          <p:cNvPr id="22" name="Text 20"/>
          <p:cNvSpPr/>
          <p:nvPr/>
        </p:nvSpPr>
        <p:spPr>
          <a:xfrm>
            <a:off x="4892040" y="3172968"/>
            <a:ext cx="3840480" cy="274320"/>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Customer Measures</a:t>
            </a:r>
            <a:endParaRPr lang="en-US" sz="1200" dirty="0"/>
          </a:p>
        </p:txBody>
      </p:sp>
      <p:sp>
        <p:nvSpPr>
          <p:cNvPr id="23" name="Text 21"/>
          <p:cNvSpPr/>
          <p:nvPr/>
        </p:nvSpPr>
        <p:spPr>
          <a:xfrm>
            <a:off x="4892040" y="3493008"/>
            <a:ext cx="3840480" cy="1280160"/>
          </a:xfrm>
          <a:prstGeom prst="rect">
            <a:avLst/>
          </a:prstGeom>
          <a:noFill/>
          <a:ln/>
        </p:spPr>
        <p:txBody>
          <a:bodyPr wrap="square" lIns="0" tIns="0" rIns="0" bIns="0" rtlCol="0" anchor="ctr"/>
          <a:lstStyle/>
          <a:p>
            <a:pPr marL="0" indent="0">
              <a:buNone/>
            </a:pPr>
            <a:r>
              <a:rPr lang="en-US" sz="1000" dirty="0">
                <a:solidFill>
                  <a:srgbClr val="36454F"/>
                </a:solidFill>
                <a:latin typeface="Calibri" pitchFamily="34" charset="0"/>
                <a:ea typeface="Calibri" pitchFamily="34" charset="-122"/>
                <a:cs typeface="Calibri" pitchFamily="34" charset="-120"/>
              </a:rPr>
              <a:t>▪  Current Year Customers</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Customers Growth %</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Returning Customers Count</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Returning Customers Growth %</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Home Page &amp; Navigation System — Dashboard UX Design</a:t>
            </a:r>
            <a:endParaRPr lang="en-US" sz="2200" dirty="0"/>
          </a:p>
        </p:txBody>
      </p:sp>
      <p:sp>
        <p:nvSpPr>
          <p:cNvPr id="4" name="Shape 2"/>
          <p:cNvSpPr/>
          <p:nvPr/>
        </p:nvSpPr>
        <p:spPr>
          <a:xfrm>
            <a:off x="0" y="4983480"/>
            <a:ext cx="9144000" cy="160020"/>
          </a:xfrm>
          <a:prstGeom prst="rect">
            <a:avLst/>
          </a:prstGeom>
          <a:solidFill>
            <a:srgbClr val="1B3A6B"/>
          </a:solidFill>
          <a:ln/>
        </p:spPr>
      </p:sp>
      <p:pic>
        <p:nvPicPr>
          <p:cNvPr id="7" name="Image 0" descr="/home/claude/s26_home_page.png"/>
          <p:cNvPicPr>
            <a:picLocks noChangeAspect="1"/>
          </p:cNvPicPr>
          <p:nvPr/>
        </p:nvPicPr>
        <p:blipFill>
          <a:blip r:embed="rId3"/>
          <a:srcRect/>
          <a:stretch/>
        </p:blipFill>
        <p:spPr>
          <a:xfrm>
            <a:off x="274320" y="731520"/>
            <a:ext cx="5120640" cy="3749040"/>
          </a:xfrm>
          <a:prstGeom prst="rect">
            <a:avLst/>
          </a:prstGeom>
        </p:spPr>
      </p:pic>
      <p:sp>
        <p:nvSpPr>
          <p:cNvPr id="8" name="Shape 5"/>
          <p:cNvSpPr/>
          <p:nvPr/>
        </p:nvSpPr>
        <p:spPr>
          <a:xfrm>
            <a:off x="5532120" y="749808"/>
            <a:ext cx="3337560" cy="421995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9" name="Text 6"/>
          <p:cNvSpPr/>
          <p:nvPr/>
        </p:nvSpPr>
        <p:spPr>
          <a:xfrm>
            <a:off x="5715000" y="804672"/>
            <a:ext cx="3017520" cy="292608"/>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UX Design Principles</a:t>
            </a:r>
            <a:endParaRPr lang="en-US" sz="1200" dirty="0"/>
          </a:p>
        </p:txBody>
      </p:sp>
      <p:sp>
        <p:nvSpPr>
          <p:cNvPr id="10" name="Shape 7"/>
          <p:cNvSpPr/>
          <p:nvPr/>
        </p:nvSpPr>
        <p:spPr>
          <a:xfrm>
            <a:off x="5669280" y="1216152"/>
            <a:ext cx="3108960" cy="658368"/>
          </a:xfrm>
          <a:prstGeom prst="rect">
            <a:avLst/>
          </a:prstGeom>
          <a:solidFill>
            <a:srgbClr val="F4F7FB"/>
          </a:solidFill>
          <a:ln w="12700">
            <a:solidFill>
              <a:srgbClr val="E2E8F0"/>
            </a:solidFill>
            <a:prstDash val="solid"/>
          </a:ln>
        </p:spPr>
      </p:sp>
      <p:sp>
        <p:nvSpPr>
          <p:cNvPr id="11" name="Text 8"/>
          <p:cNvSpPr/>
          <p:nvPr/>
        </p:nvSpPr>
        <p:spPr>
          <a:xfrm>
            <a:off x="5806440" y="1271016"/>
            <a:ext cx="2834640" cy="228600"/>
          </a:xfrm>
          <a:prstGeom prst="rect">
            <a:avLst/>
          </a:prstGeom>
          <a:noFill/>
          <a:ln/>
        </p:spPr>
        <p:txBody>
          <a:bodyPr wrap="square" lIns="0" tIns="0" rIns="0" bIns="0" rtlCol="0" anchor="ctr"/>
          <a:lstStyle/>
          <a:p>
            <a:pPr marL="0" indent="0">
              <a:buNone/>
            </a:pPr>
            <a:r>
              <a:rPr lang="en-US" sz="1000" b="1" dirty="0">
                <a:solidFill>
                  <a:srgbClr val="1B3A6B"/>
                </a:solidFill>
                <a:latin typeface="Calibri" pitchFamily="34" charset="0"/>
                <a:ea typeface="Calibri" pitchFamily="34" charset="-122"/>
                <a:cs typeface="Calibri" pitchFamily="34" charset="-120"/>
              </a:rPr>
              <a:t>🏠 Home Page</a:t>
            </a:r>
            <a:endParaRPr lang="en-US" sz="1000" dirty="0"/>
          </a:p>
        </p:txBody>
      </p:sp>
      <p:sp>
        <p:nvSpPr>
          <p:cNvPr id="12" name="Text 9"/>
          <p:cNvSpPr/>
          <p:nvPr/>
        </p:nvSpPr>
        <p:spPr>
          <a:xfrm>
            <a:off x="5806440" y="1527048"/>
            <a:ext cx="2834640" cy="310896"/>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Central landing page with icon navigation to all 3 dashboards — Sales Overview, Customer Analysis, Product Analysis</a:t>
            </a:r>
            <a:endParaRPr lang="en-US" sz="850" dirty="0"/>
          </a:p>
        </p:txBody>
      </p:sp>
      <p:sp>
        <p:nvSpPr>
          <p:cNvPr id="13" name="Shape 10"/>
          <p:cNvSpPr/>
          <p:nvPr/>
        </p:nvSpPr>
        <p:spPr>
          <a:xfrm>
            <a:off x="5687568" y="1993392"/>
            <a:ext cx="3108960" cy="658368"/>
          </a:xfrm>
          <a:prstGeom prst="rect">
            <a:avLst/>
          </a:prstGeom>
          <a:solidFill>
            <a:srgbClr val="F4F7FB"/>
          </a:solidFill>
          <a:ln w="12700">
            <a:solidFill>
              <a:srgbClr val="E2E8F0"/>
            </a:solidFill>
            <a:prstDash val="solid"/>
          </a:ln>
        </p:spPr>
      </p:sp>
      <p:sp>
        <p:nvSpPr>
          <p:cNvPr id="14" name="Text 11"/>
          <p:cNvSpPr/>
          <p:nvPr/>
        </p:nvSpPr>
        <p:spPr>
          <a:xfrm>
            <a:off x="5806440" y="2029968"/>
            <a:ext cx="2834640" cy="228600"/>
          </a:xfrm>
          <a:prstGeom prst="rect">
            <a:avLst/>
          </a:prstGeom>
          <a:noFill/>
          <a:ln/>
        </p:spPr>
        <p:txBody>
          <a:bodyPr wrap="square" lIns="0" tIns="0" rIns="0" bIns="0" rtlCol="0" anchor="ctr"/>
          <a:lstStyle/>
          <a:p>
            <a:pPr marL="0" indent="0">
              <a:buNone/>
            </a:pPr>
            <a:r>
              <a:rPr lang="en-US" sz="1000" b="1" dirty="0">
                <a:solidFill>
                  <a:srgbClr val="1B3A6B"/>
                </a:solidFill>
                <a:latin typeface="Calibri" pitchFamily="34" charset="0"/>
                <a:ea typeface="Calibri" pitchFamily="34" charset="-122"/>
                <a:cs typeface="Calibri" pitchFamily="34" charset="-120"/>
              </a:rPr>
              <a:t>🔗 Navigation Buttons</a:t>
            </a:r>
            <a:endParaRPr lang="en-US" sz="1000" dirty="0"/>
          </a:p>
        </p:txBody>
      </p:sp>
      <p:sp>
        <p:nvSpPr>
          <p:cNvPr id="15" name="Text 12"/>
          <p:cNvSpPr/>
          <p:nvPr/>
        </p:nvSpPr>
        <p:spPr>
          <a:xfrm>
            <a:off x="5806440" y="2286000"/>
            <a:ext cx="2834640" cy="310896"/>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Icon buttons on every dashboard page allow seamless cross-dashboard navigation without back-buttons</a:t>
            </a:r>
            <a:endParaRPr lang="en-US" sz="850" dirty="0"/>
          </a:p>
        </p:txBody>
      </p:sp>
      <p:sp>
        <p:nvSpPr>
          <p:cNvPr id="16" name="Shape 13"/>
          <p:cNvSpPr/>
          <p:nvPr/>
        </p:nvSpPr>
        <p:spPr>
          <a:xfrm>
            <a:off x="5687568" y="2752344"/>
            <a:ext cx="3108960" cy="658368"/>
          </a:xfrm>
          <a:prstGeom prst="rect">
            <a:avLst/>
          </a:prstGeom>
          <a:solidFill>
            <a:srgbClr val="F4F7FB"/>
          </a:solidFill>
          <a:ln w="12700">
            <a:solidFill>
              <a:srgbClr val="E2E8F0"/>
            </a:solidFill>
            <a:prstDash val="solid"/>
          </a:ln>
        </p:spPr>
      </p:sp>
      <p:sp>
        <p:nvSpPr>
          <p:cNvPr id="17" name="Text 14"/>
          <p:cNvSpPr/>
          <p:nvPr/>
        </p:nvSpPr>
        <p:spPr>
          <a:xfrm>
            <a:off x="5806440" y="2788920"/>
            <a:ext cx="2834640" cy="228600"/>
          </a:xfrm>
          <a:prstGeom prst="rect">
            <a:avLst/>
          </a:prstGeom>
          <a:noFill/>
          <a:ln/>
        </p:spPr>
        <p:txBody>
          <a:bodyPr wrap="square" lIns="0" tIns="0" rIns="0" bIns="0" rtlCol="0" anchor="ctr"/>
          <a:lstStyle/>
          <a:p>
            <a:pPr marL="0" indent="0">
              <a:buNone/>
            </a:pPr>
            <a:r>
              <a:rPr lang="en-US" sz="1000" b="1" dirty="0">
                <a:solidFill>
                  <a:srgbClr val="1B3A6B"/>
                </a:solidFill>
                <a:latin typeface="Calibri" pitchFamily="34" charset="0"/>
                <a:ea typeface="Calibri" pitchFamily="34" charset="-122"/>
                <a:cs typeface="Calibri" pitchFamily="34" charset="-120"/>
              </a:rPr>
              <a:t>🎨 Color Consistency</a:t>
            </a:r>
            <a:endParaRPr lang="en-US" sz="1000" dirty="0"/>
          </a:p>
        </p:txBody>
      </p:sp>
      <p:sp>
        <p:nvSpPr>
          <p:cNvPr id="18" name="Text 15"/>
          <p:cNvSpPr/>
          <p:nvPr/>
        </p:nvSpPr>
        <p:spPr>
          <a:xfrm>
            <a:off x="5806440" y="3044952"/>
            <a:ext cx="2834640" cy="310896"/>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Unified navy (#1B3A6B) and teal/cyan palette maintained across all pages for professional coherence</a:t>
            </a:r>
            <a:endParaRPr lang="en-US" sz="850" dirty="0"/>
          </a:p>
        </p:txBody>
      </p:sp>
      <p:sp>
        <p:nvSpPr>
          <p:cNvPr id="19" name="Shape 16"/>
          <p:cNvSpPr/>
          <p:nvPr/>
        </p:nvSpPr>
        <p:spPr>
          <a:xfrm>
            <a:off x="5687568" y="3511296"/>
            <a:ext cx="3108960" cy="658368"/>
          </a:xfrm>
          <a:prstGeom prst="rect">
            <a:avLst/>
          </a:prstGeom>
          <a:solidFill>
            <a:srgbClr val="F4F7FB"/>
          </a:solidFill>
          <a:ln w="12700">
            <a:solidFill>
              <a:srgbClr val="E2E8F0"/>
            </a:solidFill>
            <a:prstDash val="solid"/>
          </a:ln>
        </p:spPr>
      </p:sp>
      <p:sp>
        <p:nvSpPr>
          <p:cNvPr id="20" name="Text 17"/>
          <p:cNvSpPr/>
          <p:nvPr/>
        </p:nvSpPr>
        <p:spPr>
          <a:xfrm>
            <a:off x="5806440" y="3547872"/>
            <a:ext cx="2834640" cy="228600"/>
          </a:xfrm>
          <a:prstGeom prst="rect">
            <a:avLst/>
          </a:prstGeom>
          <a:noFill/>
          <a:ln/>
        </p:spPr>
        <p:txBody>
          <a:bodyPr wrap="square" lIns="0" tIns="0" rIns="0" bIns="0" rtlCol="0" anchor="ctr"/>
          <a:lstStyle/>
          <a:p>
            <a:pPr marL="0" indent="0">
              <a:buNone/>
            </a:pPr>
            <a:r>
              <a:rPr lang="en-US" sz="1000" b="1" dirty="0">
                <a:solidFill>
                  <a:srgbClr val="1B3A6B"/>
                </a:solidFill>
                <a:latin typeface="Calibri" pitchFamily="34" charset="0"/>
                <a:ea typeface="Calibri" pitchFamily="34" charset="-122"/>
                <a:cs typeface="Calibri" pitchFamily="34" charset="-120"/>
              </a:rPr>
              <a:t>📐 Fixed Layout</a:t>
            </a:r>
            <a:endParaRPr lang="en-US" sz="1000" dirty="0"/>
          </a:p>
        </p:txBody>
      </p:sp>
      <p:sp>
        <p:nvSpPr>
          <p:cNvPr id="21" name="Text 18"/>
          <p:cNvSpPr/>
          <p:nvPr/>
        </p:nvSpPr>
        <p:spPr>
          <a:xfrm>
            <a:off x="5806440" y="3803904"/>
            <a:ext cx="2834640" cy="310896"/>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1200×800px fixed canvas ensures consistent rendering on all screens and in exports</a:t>
            </a:r>
            <a:endParaRPr lang="en-US" sz="850" dirty="0"/>
          </a:p>
        </p:txBody>
      </p:sp>
      <p:sp>
        <p:nvSpPr>
          <p:cNvPr id="22" name="Shape 19"/>
          <p:cNvSpPr/>
          <p:nvPr/>
        </p:nvSpPr>
        <p:spPr>
          <a:xfrm>
            <a:off x="5687568" y="4270248"/>
            <a:ext cx="3108960" cy="576072"/>
          </a:xfrm>
          <a:prstGeom prst="rect">
            <a:avLst/>
          </a:prstGeom>
          <a:solidFill>
            <a:srgbClr val="F4F7FB"/>
          </a:solidFill>
          <a:ln w="12700">
            <a:solidFill>
              <a:srgbClr val="E2E8F0"/>
            </a:solidFill>
            <a:prstDash val="solid"/>
          </a:ln>
        </p:spPr>
      </p:sp>
      <p:sp>
        <p:nvSpPr>
          <p:cNvPr id="23" name="Text 20"/>
          <p:cNvSpPr/>
          <p:nvPr/>
        </p:nvSpPr>
        <p:spPr>
          <a:xfrm>
            <a:off x="5806440" y="4306824"/>
            <a:ext cx="2834640" cy="228600"/>
          </a:xfrm>
          <a:prstGeom prst="rect">
            <a:avLst/>
          </a:prstGeom>
          <a:noFill/>
          <a:ln/>
        </p:spPr>
        <p:txBody>
          <a:bodyPr wrap="square" lIns="0" tIns="0" rIns="0" bIns="0" rtlCol="0" anchor="ctr"/>
          <a:lstStyle/>
          <a:p>
            <a:pPr marL="0" indent="0">
              <a:buNone/>
            </a:pPr>
            <a:r>
              <a:rPr lang="en-US" sz="1000" b="1" dirty="0">
                <a:solidFill>
                  <a:srgbClr val="1B3A6B"/>
                </a:solidFill>
                <a:latin typeface="Calibri" pitchFamily="34" charset="0"/>
                <a:ea typeface="Calibri" pitchFamily="34" charset="-122"/>
                <a:cs typeface="Calibri" pitchFamily="34" charset="-120"/>
              </a:rPr>
              <a:t>⚡ Filter Sync</a:t>
            </a:r>
            <a:endParaRPr lang="en-US" sz="1000" dirty="0"/>
          </a:p>
        </p:txBody>
      </p:sp>
      <p:sp>
        <p:nvSpPr>
          <p:cNvPr id="24" name="Text 21"/>
          <p:cNvSpPr/>
          <p:nvPr/>
        </p:nvSpPr>
        <p:spPr>
          <a:xfrm>
            <a:off x="5824728" y="4526280"/>
            <a:ext cx="2834640" cy="310896"/>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All four filters (Year, Region, Category, Sub-Category, Segment) sync across all charts on each dashboard page</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F2240"/>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A896"/>
          </a:solidFill>
          <a:ln/>
        </p:spPr>
      </p:sp>
      <p:sp>
        <p:nvSpPr>
          <p:cNvPr id="3" name="Text 1"/>
          <p:cNvSpPr/>
          <p:nvPr/>
        </p:nvSpPr>
        <p:spPr>
          <a:xfrm>
            <a:off x="457200" y="1645920"/>
            <a:ext cx="8229600" cy="109728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03 | Dashboard Sales Overview</a:t>
            </a:r>
            <a:endParaRPr lang="en-US" sz="4400" dirty="0"/>
          </a:p>
        </p:txBody>
      </p:sp>
      <p:sp>
        <p:nvSpPr>
          <p:cNvPr id="4" name="Text 2"/>
          <p:cNvSpPr/>
          <p:nvPr/>
        </p:nvSpPr>
        <p:spPr>
          <a:xfrm>
            <a:off x="457200" y="2834640"/>
            <a:ext cx="8229600" cy="640080"/>
          </a:xfrm>
          <a:prstGeom prst="rect">
            <a:avLst/>
          </a:prstGeom>
          <a:noFill/>
          <a:ln/>
        </p:spPr>
        <p:txBody>
          <a:bodyPr wrap="square" rtlCol="0" anchor="ctr"/>
          <a:lstStyle/>
          <a:p>
            <a:pPr marL="0" indent="0" algn="ctr">
              <a:buNone/>
            </a:pPr>
            <a:r>
              <a:rPr lang="en-US" sz="1800" dirty="0">
                <a:solidFill>
                  <a:srgbClr val="D5E8F4"/>
                </a:solidFill>
                <a:latin typeface="Calibri" pitchFamily="34" charset="0"/>
                <a:ea typeface="Calibri" pitchFamily="34" charset="-122"/>
                <a:cs typeface="Calibri" pitchFamily="34" charset="-120"/>
              </a:rPr>
              <a:t>KPIs · Trends · Categories · Regional Performance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2192"/>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Sales Dashboard — KPI Cards Analysis ( Total Sales)</a:t>
            </a:r>
            <a:endParaRPr lang="en-US" sz="2200" dirty="0"/>
          </a:p>
        </p:txBody>
      </p:sp>
      <p:sp>
        <p:nvSpPr>
          <p:cNvPr id="4" name="Shape 2"/>
          <p:cNvSpPr/>
          <p:nvPr/>
        </p:nvSpPr>
        <p:spPr>
          <a:xfrm>
            <a:off x="0" y="4892040"/>
            <a:ext cx="9144000" cy="251460"/>
          </a:xfrm>
          <a:prstGeom prst="rect">
            <a:avLst/>
          </a:prstGeom>
          <a:solidFill>
            <a:srgbClr val="1B3A6B"/>
          </a:solidFill>
          <a:ln/>
        </p:spPr>
      </p:sp>
      <p:pic>
        <p:nvPicPr>
          <p:cNvPr id="28" name="Image 0" descr="/home/claude/s01_total_sales.png"/>
          <p:cNvPicPr>
            <a:picLocks noChangeAspect="1"/>
          </p:cNvPicPr>
          <p:nvPr/>
        </p:nvPicPr>
        <p:blipFill>
          <a:blip r:embed="rId3"/>
          <a:srcRect b="6005"/>
          <a:stretch/>
        </p:blipFill>
        <p:spPr>
          <a:xfrm>
            <a:off x="5046780" y="649224"/>
            <a:ext cx="4097220" cy="41970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2" name="Shape 26"/>
          <p:cNvSpPr/>
          <p:nvPr/>
        </p:nvSpPr>
        <p:spPr>
          <a:xfrm>
            <a:off x="91440" y="607706"/>
            <a:ext cx="4955340" cy="421081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5" name="Rectangle 1">
            <a:extLst>
              <a:ext uri="{FF2B5EF4-FFF2-40B4-BE49-F238E27FC236}">
                <a16:creationId xmlns:a16="http://schemas.microsoft.com/office/drawing/2014/main" id="{D20B34C3-D50A-584A-7524-F9C435832306}"/>
              </a:ext>
            </a:extLst>
          </p:cNvPr>
          <p:cNvSpPr>
            <a:spLocks noChangeArrowheads="1"/>
          </p:cNvSpPr>
          <p:nvPr/>
        </p:nvSpPr>
        <p:spPr bwMode="auto">
          <a:xfrm>
            <a:off x="206687" y="626230"/>
            <a:ext cx="2270173"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002060"/>
                </a:solidFill>
                <a:effectLst/>
                <a:cs typeface="Times New Roman" panose="02020603050405020304" pitchFamily="18" charset="0"/>
              </a:rPr>
              <a:t>Total Sales KPI Card – How It Works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1" i="0" u="none" strike="noStrike" cap="none" normalizeH="0" baseline="0" dirty="0">
              <a:ln>
                <a:noFill/>
              </a:ln>
              <a:solidFill>
                <a:srgbClr val="002060"/>
              </a:solidFill>
              <a:effectLst/>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2060"/>
                </a:solidFill>
                <a:effectLst/>
                <a:cs typeface="Times New Roman" panose="02020603050405020304" pitchFamily="18" charset="0"/>
              </a:rPr>
              <a:t>What it shows: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rgbClr val="002060"/>
                </a:solidFill>
                <a:effectLst/>
                <a:cs typeface="Times New Roman" panose="02020603050405020304" pitchFamily="18" charset="0"/>
              </a:rPr>
              <a:t>Current Year Total Sales = $733K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rgbClr val="002060"/>
                </a:solidFill>
                <a:effectLst/>
                <a:cs typeface="Times New Roman" panose="02020603050405020304" pitchFamily="18" charset="0"/>
              </a:rPr>
              <a:t>Growth vs Previous Year = +20.4%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7" name="Rectangle 3">
            <a:extLst>
              <a:ext uri="{FF2B5EF4-FFF2-40B4-BE49-F238E27FC236}">
                <a16:creationId xmlns:a16="http://schemas.microsoft.com/office/drawing/2014/main" id="{66CC1980-441B-660C-A5AE-CFE1ED441F41}"/>
              </a:ext>
            </a:extLst>
          </p:cNvPr>
          <p:cNvSpPr>
            <a:spLocks noChangeArrowheads="1"/>
          </p:cNvSpPr>
          <p:nvPr/>
        </p:nvSpPr>
        <p:spPr bwMode="auto">
          <a:xfrm>
            <a:off x="206687" y="1499364"/>
            <a:ext cx="488787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What is the total revenue generated this year, and are we growing vs. last year?</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$733K in sales in 2023 — +20.4% increase over 2022, the highest in the dataset.</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Sales grew faster (+20.4%) than profit (+14.2%), signaling discounting or rising costs are eroding margins.</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Audit discount policies and set a minimum profit margin per order to ensure revenue growth converts to real profit.</a:t>
            </a:r>
          </a:p>
          <a:p>
            <a:pPr marL="0" indent="0" algn="l">
              <a:lnSpc>
                <a:spcPct val="80000"/>
              </a:lnSpc>
              <a:spcBef>
                <a:spcPts val="0"/>
              </a:spcBef>
              <a:spcAft>
                <a:spcPct val="0"/>
              </a:spcAft>
              <a:buNone/>
            </a:pPr>
            <a:endParaRPr lang="en-US" sz="800" dirty="0"/>
          </a:p>
          <a:p>
            <a:pPr>
              <a:buNone/>
            </a:pPr>
            <a:endParaRPr lang="en-US" sz="900" dirty="0"/>
          </a:p>
        </p:txBody>
      </p:sp>
    </p:spTree>
    <p:extLst>
      <p:ext uri="{BB962C8B-B14F-4D97-AF65-F5344CB8AC3E}">
        <p14:creationId xmlns:p14="http://schemas.microsoft.com/office/powerpoint/2010/main" val="1283087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Sales Dashboard — KPI Cards Analysis ( Total Profit)</a:t>
            </a:r>
            <a:endParaRPr lang="en-US" sz="2200" dirty="0"/>
          </a:p>
        </p:txBody>
      </p:sp>
      <p:sp>
        <p:nvSpPr>
          <p:cNvPr id="4" name="Shape 2"/>
          <p:cNvSpPr/>
          <p:nvPr/>
        </p:nvSpPr>
        <p:spPr>
          <a:xfrm>
            <a:off x="0" y="4892040"/>
            <a:ext cx="9144000" cy="251460"/>
          </a:xfrm>
          <a:prstGeom prst="rect">
            <a:avLst/>
          </a:prstGeom>
          <a:solidFill>
            <a:srgbClr val="1B3A6B"/>
          </a:solidFill>
          <a:ln/>
        </p:spPr>
      </p:sp>
      <p:pic>
        <p:nvPicPr>
          <p:cNvPr id="28" name="Image 0"/>
          <p:cNvPicPr>
            <a:picLocks noChangeAspect="1"/>
          </p:cNvPicPr>
          <p:nvPr/>
        </p:nvPicPr>
        <p:blipFill>
          <a:blip r:embed="rId3"/>
          <a:srcRect l="334" r="33" b="7277"/>
          <a:stretch/>
        </p:blipFill>
        <p:spPr>
          <a:xfrm>
            <a:off x="4717811" y="775095"/>
            <a:ext cx="4369220" cy="390811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2" name="Shape 26"/>
          <p:cNvSpPr/>
          <p:nvPr/>
        </p:nvSpPr>
        <p:spPr>
          <a:xfrm>
            <a:off x="56970" y="690372"/>
            <a:ext cx="4589171" cy="421081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7" name="Rectangle 3">
            <a:extLst>
              <a:ext uri="{FF2B5EF4-FFF2-40B4-BE49-F238E27FC236}">
                <a16:creationId xmlns:a16="http://schemas.microsoft.com/office/drawing/2014/main" id="{66CC1980-441B-660C-A5AE-CFE1ED441F41}"/>
              </a:ext>
            </a:extLst>
          </p:cNvPr>
          <p:cNvSpPr>
            <a:spLocks noChangeArrowheads="1"/>
          </p:cNvSpPr>
          <p:nvPr/>
        </p:nvSpPr>
        <p:spPr bwMode="auto">
          <a:xfrm>
            <a:off x="101803" y="803190"/>
            <a:ext cx="4499504"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How profitable is the business this year, and is profitability improving?</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$93K profit in 2023, up +14.2% from 2022.</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Profit lags behind sales (+20.4%) and orders (+28.3%) growth — each order is becoming less profitable. A widening danger sign.</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Identify products and accounts dragging margins. Eliminate loss-makers like Tables sub-category and reprice Grant Thornton.</a:t>
            </a:r>
          </a:p>
          <a:p>
            <a:pPr marL="0" indent="0" algn="l">
              <a:lnSpc>
                <a:spcPct val="80000"/>
              </a:lnSpc>
              <a:spcBef>
                <a:spcPts val="0"/>
              </a:spcBef>
              <a:spcAft>
                <a:spcPct val="0"/>
              </a:spcAft>
              <a:buNone/>
            </a:pPr>
            <a:endParaRPr lang="en-US" sz="800" dirty="0"/>
          </a:p>
          <a:p>
            <a:pPr>
              <a:buNone/>
            </a:pPr>
            <a:endParaRPr lang="en-US" sz="900" dirty="0"/>
          </a:p>
        </p:txBody>
      </p:sp>
    </p:spTree>
    <p:extLst>
      <p:ext uri="{BB962C8B-B14F-4D97-AF65-F5344CB8AC3E}">
        <p14:creationId xmlns:p14="http://schemas.microsoft.com/office/powerpoint/2010/main" val="2205233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Sales Dashboard — KPI Cards Analysis ( Total Orders)</a:t>
            </a:r>
            <a:endParaRPr lang="en-US" sz="2200" dirty="0"/>
          </a:p>
        </p:txBody>
      </p:sp>
      <p:sp>
        <p:nvSpPr>
          <p:cNvPr id="4" name="Shape 2"/>
          <p:cNvSpPr/>
          <p:nvPr/>
        </p:nvSpPr>
        <p:spPr>
          <a:xfrm>
            <a:off x="0" y="4892040"/>
            <a:ext cx="9144000" cy="251460"/>
          </a:xfrm>
          <a:prstGeom prst="rect">
            <a:avLst/>
          </a:prstGeom>
          <a:solidFill>
            <a:srgbClr val="1B3A6B"/>
          </a:solidFill>
          <a:ln/>
        </p:spPr>
      </p:sp>
      <p:pic>
        <p:nvPicPr>
          <p:cNvPr id="28" name="Image 0"/>
          <p:cNvPicPr>
            <a:picLocks noChangeAspect="1"/>
          </p:cNvPicPr>
          <p:nvPr/>
        </p:nvPicPr>
        <p:blipFill>
          <a:blip r:embed="rId3"/>
          <a:srcRect l="12159" r="4839" b="5030"/>
          <a:stretch/>
        </p:blipFill>
        <p:spPr>
          <a:xfrm>
            <a:off x="4737581" y="685801"/>
            <a:ext cx="4314979" cy="415594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2" name="Shape 26"/>
          <p:cNvSpPr/>
          <p:nvPr/>
        </p:nvSpPr>
        <p:spPr>
          <a:xfrm>
            <a:off x="56970" y="690372"/>
            <a:ext cx="4589171" cy="421081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7" name="Rectangle 3">
            <a:extLst>
              <a:ext uri="{FF2B5EF4-FFF2-40B4-BE49-F238E27FC236}">
                <a16:creationId xmlns:a16="http://schemas.microsoft.com/office/drawing/2014/main" id="{66CC1980-441B-660C-A5AE-CFE1ED441F41}"/>
              </a:ext>
            </a:extLst>
          </p:cNvPr>
          <p:cNvSpPr>
            <a:spLocks noChangeArrowheads="1"/>
          </p:cNvSpPr>
          <p:nvPr/>
        </p:nvSpPr>
        <p:spPr bwMode="auto">
          <a:xfrm>
            <a:off x="192357" y="717355"/>
            <a:ext cx="4499504" cy="4170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How many orders were placed this year, and is order volume growing?</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1,687 orders in 2023 — +28.3% surge, the fastest-growing KPI on the dashboard.</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Orders grow nearly 2x faster than profit. More transactions but less earned per transaction — a classic sign of over-discounting.</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Shift focus from order volume to order value. Introduce minimum order thresholds and upsell strategies on high-margin products like Copiers.</a:t>
            </a:r>
          </a:p>
          <a:p>
            <a:pPr marL="0" indent="0" algn="l">
              <a:lnSpc>
                <a:spcPct val="80000"/>
              </a:lnSpc>
              <a:spcBef>
                <a:spcPts val="0"/>
              </a:spcBef>
              <a:spcAft>
                <a:spcPct val="0"/>
              </a:spcAft>
              <a:buNone/>
            </a:pPr>
            <a:endParaRPr lang="en-US" sz="800" dirty="0"/>
          </a:p>
          <a:p>
            <a:pPr>
              <a:buNone/>
            </a:pPr>
            <a:endParaRPr lang="en-US" sz="900" dirty="0"/>
          </a:p>
        </p:txBody>
      </p:sp>
    </p:spTree>
    <p:extLst>
      <p:ext uri="{BB962C8B-B14F-4D97-AF65-F5344CB8AC3E}">
        <p14:creationId xmlns:p14="http://schemas.microsoft.com/office/powerpoint/2010/main" val="1135627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Sales Dashboard — KPI Cards Analysis ( Growth Rate)</a:t>
            </a:r>
            <a:endParaRPr lang="en-US" sz="2200" dirty="0"/>
          </a:p>
        </p:txBody>
      </p:sp>
      <p:sp>
        <p:nvSpPr>
          <p:cNvPr id="4" name="Shape 2"/>
          <p:cNvSpPr/>
          <p:nvPr/>
        </p:nvSpPr>
        <p:spPr>
          <a:xfrm>
            <a:off x="0" y="4892040"/>
            <a:ext cx="9144000" cy="251460"/>
          </a:xfrm>
          <a:prstGeom prst="rect">
            <a:avLst/>
          </a:prstGeom>
          <a:solidFill>
            <a:srgbClr val="1B3A6B"/>
          </a:solidFill>
          <a:ln/>
        </p:spPr>
      </p:sp>
      <p:pic>
        <p:nvPicPr>
          <p:cNvPr id="28" name="Image 0"/>
          <p:cNvPicPr>
            <a:picLocks noChangeAspect="1"/>
          </p:cNvPicPr>
          <p:nvPr/>
        </p:nvPicPr>
        <p:blipFill>
          <a:blip r:embed="rId3"/>
          <a:srcRect l="12770" t="2707" r="1429" b="6667"/>
          <a:stretch/>
        </p:blipFill>
        <p:spPr>
          <a:xfrm>
            <a:off x="4717810" y="690372"/>
            <a:ext cx="4334750" cy="418795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2" name="Shape 26"/>
          <p:cNvSpPr/>
          <p:nvPr/>
        </p:nvSpPr>
        <p:spPr>
          <a:xfrm>
            <a:off x="56970" y="690372"/>
            <a:ext cx="4589171" cy="421081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7" name="Rectangle 3">
            <a:extLst>
              <a:ext uri="{FF2B5EF4-FFF2-40B4-BE49-F238E27FC236}">
                <a16:creationId xmlns:a16="http://schemas.microsoft.com/office/drawing/2014/main" id="{66CC1980-441B-660C-A5AE-CFE1ED441F41}"/>
              </a:ext>
            </a:extLst>
          </p:cNvPr>
          <p:cNvSpPr>
            <a:spLocks noChangeArrowheads="1"/>
          </p:cNvSpPr>
          <p:nvPr/>
        </p:nvSpPr>
        <p:spPr bwMode="auto">
          <a:xfrm>
            <a:off x="218306" y="819373"/>
            <a:ext cx="4499504" cy="3893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What is the year-over-year growth rate, and is the business scaling efficiently?</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The business grew at +20.4% in 2023 vs. 2022 — a strong headline number.</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When set against order growth (+28.3%) and profit growth (+14.2%), growth is uneven — scaling in volume but losing efficiency per order.</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Set a KPI for 'profitable growth rate': for every 1% sales increase, profit should grow by at least 0.8-1%. Monitor monthly.</a:t>
            </a:r>
          </a:p>
          <a:p>
            <a:pPr marL="0" indent="0" algn="l">
              <a:lnSpc>
                <a:spcPct val="80000"/>
              </a:lnSpc>
              <a:spcBef>
                <a:spcPts val="0"/>
              </a:spcBef>
              <a:spcAft>
                <a:spcPct val="0"/>
              </a:spcAft>
              <a:buNone/>
            </a:pPr>
            <a:endParaRPr lang="en-US" sz="800" dirty="0"/>
          </a:p>
          <a:p>
            <a:pPr>
              <a:buNone/>
            </a:pPr>
            <a:endParaRPr lang="en-US" sz="900" dirty="0"/>
          </a:p>
        </p:txBody>
      </p:sp>
    </p:spTree>
    <p:extLst>
      <p:ext uri="{BB962C8B-B14F-4D97-AF65-F5344CB8AC3E}">
        <p14:creationId xmlns:p14="http://schemas.microsoft.com/office/powerpoint/2010/main" val="40508443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12032"/>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Line Sales Trend — Monthly Revenue Pattern (2023)</a:t>
            </a:r>
            <a:endParaRPr lang="en-US" sz="2200" dirty="0"/>
          </a:p>
        </p:txBody>
      </p:sp>
      <p:sp>
        <p:nvSpPr>
          <p:cNvPr id="4" name="Shape 2"/>
          <p:cNvSpPr/>
          <p:nvPr/>
        </p:nvSpPr>
        <p:spPr>
          <a:xfrm>
            <a:off x="0" y="4892040"/>
            <a:ext cx="9144000" cy="251460"/>
          </a:xfrm>
          <a:prstGeom prst="rect">
            <a:avLst/>
          </a:prstGeom>
          <a:solidFill>
            <a:srgbClr val="1B3A6B"/>
          </a:solidFill>
          <a:ln/>
        </p:spPr>
      </p:sp>
      <p:pic>
        <p:nvPicPr>
          <p:cNvPr id="7" name="Image 0" descr="/home/claude/s05_line_sales_trend.png"/>
          <p:cNvPicPr>
            <a:picLocks noChangeAspect="1"/>
          </p:cNvPicPr>
          <p:nvPr/>
        </p:nvPicPr>
        <p:blipFill>
          <a:blip r:embed="rId3"/>
          <a:srcRect l="12242" b="6470"/>
          <a:stretch/>
        </p:blipFill>
        <p:spPr>
          <a:xfrm>
            <a:off x="4539799" y="724663"/>
            <a:ext cx="4593936" cy="416051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Shape 26">
            <a:extLst>
              <a:ext uri="{FF2B5EF4-FFF2-40B4-BE49-F238E27FC236}">
                <a16:creationId xmlns:a16="http://schemas.microsoft.com/office/drawing/2014/main" id="{85360445-25FE-FFC1-D7AF-4CB299EC8C90}"/>
              </a:ext>
            </a:extLst>
          </p:cNvPr>
          <p:cNvSpPr/>
          <p:nvPr/>
        </p:nvSpPr>
        <p:spPr>
          <a:xfrm>
            <a:off x="56970" y="667512"/>
            <a:ext cx="4380918" cy="421081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Rectangle 3">
            <a:extLst>
              <a:ext uri="{FF2B5EF4-FFF2-40B4-BE49-F238E27FC236}">
                <a16:creationId xmlns:a16="http://schemas.microsoft.com/office/drawing/2014/main" id="{8D04C00B-6024-3488-1EBB-498FF601CD05}"/>
              </a:ext>
            </a:extLst>
          </p:cNvPr>
          <p:cNvSpPr>
            <a:spLocks noChangeArrowheads="1"/>
          </p:cNvSpPr>
          <p:nvPr/>
        </p:nvSpPr>
        <p:spPr bwMode="auto">
          <a:xfrm>
            <a:off x="158881" y="785787"/>
            <a:ext cx="4202566" cy="3978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How do monthly sales fluctuate throughout the year, and when are peaks and troughs?</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Sales peak in November ($118K) and bottom out in February ($20K) — a 490% swing across the year.</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The business is extremely seasonal. February is structurally weak every year. May shows the largest gap vs. prior year — an exceptional event. August dips recur in both 2022 and 2023.</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Launch 'New Year, New Office' bundles in February. Pre-plan inventory for August dip. Investigate what drove the May spike and replicate it.</a:t>
            </a:r>
          </a:p>
          <a:p>
            <a:pPr marL="0" indent="0" algn="l">
              <a:lnSpc>
                <a:spcPct val="80000"/>
              </a:lnSpc>
              <a:spcBef>
                <a:spcPts val="0"/>
              </a:spcBef>
              <a:spcAft>
                <a:spcPct val="0"/>
              </a:spcAft>
              <a:buNone/>
            </a:pPr>
            <a:endParaRPr lang="en-US" sz="800" dirty="0"/>
          </a:p>
          <a:p>
            <a:pPr>
              <a:buNone/>
            </a:pP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4" name="Shape 2"/>
          <p:cNvSpPr/>
          <p:nvPr/>
        </p:nvSpPr>
        <p:spPr>
          <a:xfrm>
            <a:off x="0" y="4892040"/>
            <a:ext cx="9144000" cy="251460"/>
          </a:xfrm>
          <a:prstGeom prst="rect">
            <a:avLst/>
          </a:prstGeom>
          <a:solidFill>
            <a:srgbClr val="1B3A6B"/>
          </a:solidFill>
          <a:ln/>
        </p:spPr>
      </p:sp>
      <p:pic>
        <p:nvPicPr>
          <p:cNvPr id="7" name="Image 0"/>
          <p:cNvPicPr>
            <a:picLocks noChangeAspect="1"/>
          </p:cNvPicPr>
          <p:nvPr/>
        </p:nvPicPr>
        <p:blipFill>
          <a:blip r:embed="rId3"/>
          <a:srcRect l="13482" r="462" b="8013"/>
          <a:stretch/>
        </p:blipFill>
        <p:spPr>
          <a:xfrm>
            <a:off x="4437887" y="685802"/>
            <a:ext cx="4649144" cy="41285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Shape 26">
            <a:extLst>
              <a:ext uri="{FF2B5EF4-FFF2-40B4-BE49-F238E27FC236}">
                <a16:creationId xmlns:a16="http://schemas.microsoft.com/office/drawing/2014/main" id="{85360445-25FE-FFC1-D7AF-4CB299EC8C90}"/>
              </a:ext>
            </a:extLst>
          </p:cNvPr>
          <p:cNvSpPr/>
          <p:nvPr/>
        </p:nvSpPr>
        <p:spPr>
          <a:xfrm>
            <a:off x="0" y="653796"/>
            <a:ext cx="4380918" cy="421081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Rectangle 3">
            <a:extLst>
              <a:ext uri="{FF2B5EF4-FFF2-40B4-BE49-F238E27FC236}">
                <a16:creationId xmlns:a16="http://schemas.microsoft.com/office/drawing/2014/main" id="{8D04C00B-6024-3488-1EBB-498FF601CD05}"/>
              </a:ext>
            </a:extLst>
          </p:cNvPr>
          <p:cNvSpPr>
            <a:spLocks noChangeArrowheads="1"/>
          </p:cNvSpPr>
          <p:nvPr/>
        </p:nvSpPr>
        <p:spPr bwMode="auto">
          <a:xfrm>
            <a:off x="158881" y="589583"/>
            <a:ext cx="4010783"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Which sub-categories are driving the most and least revenue?</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Top 3: Phones ($105K), Chairs ($96K), Binders ($73K). Bottom 3: Fasteners, Labels, Envelopes — all under $15K combined.</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Top 3 alone drive a disproportionate revenue share. Bottom 3 consume warehouse space and management attention with minimal return.</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Double down on Phones, Chairs, Binders with dedicated stock and promotions. Evaluate bottom 3 for full-cost profitability — if negative, discontinue or bundle.</a:t>
            </a:r>
          </a:p>
          <a:p>
            <a:pPr marL="0" indent="0" algn="l">
              <a:lnSpc>
                <a:spcPct val="80000"/>
              </a:lnSpc>
              <a:spcBef>
                <a:spcPts val="0"/>
              </a:spcBef>
              <a:spcAft>
                <a:spcPct val="0"/>
              </a:spcAft>
              <a:buNone/>
            </a:pPr>
            <a:endParaRPr lang="en-US" sz="800" dirty="0"/>
          </a:p>
          <a:p>
            <a:pPr>
              <a:buNone/>
            </a:pPr>
            <a:endParaRPr lang="en-US" sz="900" dirty="0"/>
          </a:p>
        </p:txBody>
      </p:sp>
      <p:sp>
        <p:nvSpPr>
          <p:cNvPr id="5" name="Text 1">
            <a:extLst>
              <a:ext uri="{FF2B5EF4-FFF2-40B4-BE49-F238E27FC236}">
                <a16:creationId xmlns:a16="http://schemas.microsoft.com/office/drawing/2014/main" id="{39DD695E-AD37-98C1-9246-BD5EE7F6476F}"/>
              </a:ext>
            </a:extLst>
          </p:cNvPr>
          <p:cNvSpPr/>
          <p:nvPr/>
        </p:nvSpPr>
        <p:spPr>
          <a:xfrm>
            <a:off x="369493" y="13716"/>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  Bar Top/Bottom 3 Products </a:t>
            </a:r>
            <a:endParaRPr lang="en-US" sz="2200" dirty="0"/>
          </a:p>
        </p:txBody>
      </p:sp>
    </p:spTree>
    <p:extLst>
      <p:ext uri="{BB962C8B-B14F-4D97-AF65-F5344CB8AC3E}">
        <p14:creationId xmlns:p14="http://schemas.microsoft.com/office/powerpoint/2010/main" val="21494101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4" name="Shape 2"/>
          <p:cNvSpPr/>
          <p:nvPr/>
        </p:nvSpPr>
        <p:spPr>
          <a:xfrm>
            <a:off x="0" y="4892040"/>
            <a:ext cx="9144000" cy="251460"/>
          </a:xfrm>
          <a:prstGeom prst="rect">
            <a:avLst/>
          </a:prstGeom>
          <a:solidFill>
            <a:srgbClr val="1B3A6B"/>
          </a:solidFill>
          <a:ln/>
        </p:spPr>
      </p:sp>
      <p:pic>
        <p:nvPicPr>
          <p:cNvPr id="7" name="Image 0"/>
          <p:cNvPicPr>
            <a:picLocks noChangeAspect="1"/>
          </p:cNvPicPr>
          <p:nvPr/>
        </p:nvPicPr>
        <p:blipFill>
          <a:blip r:embed="rId3"/>
          <a:srcRect l="13012" r="-306" b="7863"/>
          <a:stretch/>
        </p:blipFill>
        <p:spPr>
          <a:xfrm>
            <a:off x="4429686" y="685802"/>
            <a:ext cx="4714314" cy="41285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Shape 26">
            <a:extLst>
              <a:ext uri="{FF2B5EF4-FFF2-40B4-BE49-F238E27FC236}">
                <a16:creationId xmlns:a16="http://schemas.microsoft.com/office/drawing/2014/main" id="{85360445-25FE-FFC1-D7AF-4CB299EC8C90}"/>
              </a:ext>
            </a:extLst>
          </p:cNvPr>
          <p:cNvSpPr/>
          <p:nvPr/>
        </p:nvSpPr>
        <p:spPr>
          <a:xfrm>
            <a:off x="48768" y="665226"/>
            <a:ext cx="4380918" cy="421081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Rectangle 3">
            <a:extLst>
              <a:ext uri="{FF2B5EF4-FFF2-40B4-BE49-F238E27FC236}">
                <a16:creationId xmlns:a16="http://schemas.microsoft.com/office/drawing/2014/main" id="{8D04C00B-6024-3488-1EBB-498FF601CD05}"/>
              </a:ext>
            </a:extLst>
          </p:cNvPr>
          <p:cNvSpPr>
            <a:spLocks noChangeArrowheads="1"/>
          </p:cNvSpPr>
          <p:nvPr/>
        </p:nvSpPr>
        <p:spPr bwMode="auto">
          <a:xfrm>
            <a:off x="158881" y="697303"/>
            <a:ext cx="4010783" cy="4124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How is revenue distributed across the three product categories?</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Technology: $272K (37%) | Office Supplies: $246K (34%) | Furniture: $215K (29%). Relatively balanced.</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The balance masks danger: Furniture's 29% hides the profit-negative Tables sub-category. Revenue share overstates Furniture's true value.</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Do not manage by category revenue alone. Drill into sub-category profitability — fix the Tables problem within Furniture to protect overall margins.</a:t>
            </a:r>
          </a:p>
          <a:p>
            <a:pPr marL="0" indent="0" algn="l">
              <a:lnSpc>
                <a:spcPct val="80000"/>
              </a:lnSpc>
              <a:spcBef>
                <a:spcPts val="0"/>
              </a:spcBef>
              <a:spcAft>
                <a:spcPct val="0"/>
              </a:spcAft>
              <a:buNone/>
            </a:pPr>
            <a:endParaRPr lang="en-US" sz="800" dirty="0"/>
          </a:p>
          <a:p>
            <a:pPr>
              <a:buNone/>
            </a:pPr>
            <a:endParaRPr lang="en-US" sz="900" dirty="0"/>
          </a:p>
        </p:txBody>
      </p:sp>
      <p:sp>
        <p:nvSpPr>
          <p:cNvPr id="5" name="Text 1">
            <a:extLst>
              <a:ext uri="{FF2B5EF4-FFF2-40B4-BE49-F238E27FC236}">
                <a16:creationId xmlns:a16="http://schemas.microsoft.com/office/drawing/2014/main" id="{39DD695E-AD37-98C1-9246-BD5EE7F6476F}"/>
              </a:ext>
            </a:extLst>
          </p:cNvPr>
          <p:cNvSpPr/>
          <p:nvPr/>
        </p:nvSpPr>
        <p:spPr>
          <a:xfrm>
            <a:off x="369493" y="13716"/>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Donut Category Distribution</a:t>
            </a:r>
            <a:endParaRPr lang="en-US" sz="2200" dirty="0"/>
          </a:p>
        </p:txBody>
      </p:sp>
    </p:spTree>
    <p:extLst>
      <p:ext uri="{BB962C8B-B14F-4D97-AF65-F5344CB8AC3E}">
        <p14:creationId xmlns:p14="http://schemas.microsoft.com/office/powerpoint/2010/main" val="2425072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4" name="Shape 2"/>
          <p:cNvSpPr/>
          <p:nvPr/>
        </p:nvSpPr>
        <p:spPr>
          <a:xfrm>
            <a:off x="0" y="4892040"/>
            <a:ext cx="9144000" cy="251460"/>
          </a:xfrm>
          <a:prstGeom prst="rect">
            <a:avLst/>
          </a:prstGeom>
          <a:solidFill>
            <a:srgbClr val="1B3A6B"/>
          </a:solidFill>
          <a:ln/>
        </p:spPr>
      </p:sp>
      <p:pic>
        <p:nvPicPr>
          <p:cNvPr id="7" name="Image 0"/>
          <p:cNvPicPr>
            <a:picLocks noChangeAspect="1"/>
          </p:cNvPicPr>
          <p:nvPr/>
        </p:nvPicPr>
        <p:blipFill>
          <a:blip r:embed="rId3"/>
          <a:srcRect l="13365" r="921" b="6959"/>
          <a:stretch/>
        </p:blipFill>
        <p:spPr>
          <a:xfrm>
            <a:off x="4539799" y="685802"/>
            <a:ext cx="4547232" cy="41285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Shape 26">
            <a:extLst>
              <a:ext uri="{FF2B5EF4-FFF2-40B4-BE49-F238E27FC236}">
                <a16:creationId xmlns:a16="http://schemas.microsoft.com/office/drawing/2014/main" id="{85360445-25FE-FFC1-D7AF-4CB299EC8C90}"/>
              </a:ext>
            </a:extLst>
          </p:cNvPr>
          <p:cNvSpPr/>
          <p:nvPr/>
        </p:nvSpPr>
        <p:spPr>
          <a:xfrm>
            <a:off x="56969" y="651139"/>
            <a:ext cx="4380918" cy="421081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Rectangle 3">
            <a:extLst>
              <a:ext uri="{FF2B5EF4-FFF2-40B4-BE49-F238E27FC236}">
                <a16:creationId xmlns:a16="http://schemas.microsoft.com/office/drawing/2014/main" id="{8D04C00B-6024-3488-1EBB-498FF601CD05}"/>
              </a:ext>
            </a:extLst>
          </p:cNvPr>
          <p:cNvSpPr>
            <a:spLocks noChangeArrowheads="1"/>
          </p:cNvSpPr>
          <p:nvPr/>
        </p:nvSpPr>
        <p:spPr bwMode="auto">
          <a:xfrm>
            <a:off x="158881" y="651139"/>
            <a:ext cx="4508292"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Is this year performing better than last year month by month, and where are the biggest improvements?</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2023 consistently outperforms 2022. The biggest overlap (improvement) is in Q4 (Oct-Dec). Mid-year shows the smallest gap.</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Growth is concentrated in Q4 and unevenly distributed across the year. Mid-year months underperform relative to their potential.</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Develop strategies to replicate Q4 patterns earlier in the year. Identify what drives Q4 outperformance and apply those levers in Q2.</a:t>
            </a:r>
          </a:p>
          <a:p>
            <a:pPr marL="0" indent="0" algn="l">
              <a:lnSpc>
                <a:spcPct val="80000"/>
              </a:lnSpc>
              <a:spcBef>
                <a:spcPts val="0"/>
              </a:spcBef>
              <a:spcAft>
                <a:spcPct val="0"/>
              </a:spcAft>
              <a:buNone/>
            </a:pPr>
            <a:endParaRPr lang="en-US" sz="800" dirty="0"/>
          </a:p>
          <a:p>
            <a:pPr>
              <a:buNone/>
            </a:pPr>
            <a:endParaRPr lang="en-US" sz="900" dirty="0"/>
          </a:p>
        </p:txBody>
      </p:sp>
      <p:sp>
        <p:nvSpPr>
          <p:cNvPr id="5" name="Text 1">
            <a:extLst>
              <a:ext uri="{FF2B5EF4-FFF2-40B4-BE49-F238E27FC236}">
                <a16:creationId xmlns:a16="http://schemas.microsoft.com/office/drawing/2014/main" id="{39DD695E-AD37-98C1-9246-BD5EE7F6476F}"/>
              </a:ext>
            </a:extLst>
          </p:cNvPr>
          <p:cNvSpPr/>
          <p:nvPr/>
        </p:nvSpPr>
        <p:spPr>
          <a:xfrm>
            <a:off x="369493" y="13716"/>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Area Monthly Revenue — Current Year vs. Prior Year Comparison</a:t>
            </a:r>
            <a:endParaRPr lang="en-US" sz="2200" dirty="0"/>
          </a:p>
        </p:txBody>
      </p:sp>
    </p:spTree>
    <p:extLst>
      <p:ext uri="{BB962C8B-B14F-4D97-AF65-F5344CB8AC3E}">
        <p14:creationId xmlns:p14="http://schemas.microsoft.com/office/powerpoint/2010/main" val="38429724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4" name="Shape 2"/>
          <p:cNvSpPr/>
          <p:nvPr/>
        </p:nvSpPr>
        <p:spPr>
          <a:xfrm>
            <a:off x="0" y="4971618"/>
            <a:ext cx="9144000" cy="171882"/>
          </a:xfrm>
          <a:prstGeom prst="rect">
            <a:avLst/>
          </a:prstGeom>
          <a:solidFill>
            <a:srgbClr val="1B3A6B"/>
          </a:solidFill>
          <a:ln/>
        </p:spPr>
      </p:sp>
      <p:pic>
        <p:nvPicPr>
          <p:cNvPr id="7" name="Image 0"/>
          <p:cNvPicPr>
            <a:picLocks noChangeAspect="1"/>
          </p:cNvPicPr>
          <p:nvPr/>
        </p:nvPicPr>
        <p:blipFill>
          <a:blip r:embed="rId3"/>
          <a:srcRect l="13401" r="402" b="5570"/>
          <a:stretch/>
        </p:blipFill>
        <p:spPr>
          <a:xfrm>
            <a:off x="4539800" y="685802"/>
            <a:ext cx="4547232" cy="42153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Shape 26">
            <a:extLst>
              <a:ext uri="{FF2B5EF4-FFF2-40B4-BE49-F238E27FC236}">
                <a16:creationId xmlns:a16="http://schemas.microsoft.com/office/drawing/2014/main" id="{85360445-25FE-FFC1-D7AF-4CB299EC8C90}"/>
              </a:ext>
            </a:extLst>
          </p:cNvPr>
          <p:cNvSpPr/>
          <p:nvPr/>
        </p:nvSpPr>
        <p:spPr>
          <a:xfrm>
            <a:off x="79442" y="673938"/>
            <a:ext cx="4380918" cy="4297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Rectangle 3">
            <a:extLst>
              <a:ext uri="{FF2B5EF4-FFF2-40B4-BE49-F238E27FC236}">
                <a16:creationId xmlns:a16="http://schemas.microsoft.com/office/drawing/2014/main" id="{8D04C00B-6024-3488-1EBB-498FF601CD05}"/>
              </a:ext>
            </a:extLst>
          </p:cNvPr>
          <p:cNvSpPr>
            <a:spLocks noChangeArrowheads="1"/>
          </p:cNvSpPr>
          <p:nvPr/>
        </p:nvSpPr>
        <p:spPr bwMode="auto">
          <a:xfrm>
            <a:off x="158881" y="675834"/>
            <a:ext cx="4508292"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Which regions and customer segments generate the most revenue, and where are the biggest opportunities?</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West leads overall. Consumer dominates every region. West Consumer tops at $107K. South is weakest (~$105K total). Central Home Office at ~$30K is nearly untapped.</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West's success proves what's possible. South underperforms despite being a large US market. Central Home Office represents a clear expansion opportunity.</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Invest marketing in South and Central. Study West's success drivers and replicate them. Create dedicated Home Office bundles for Central remote workers.</a:t>
            </a:r>
          </a:p>
          <a:p>
            <a:pPr marL="0" indent="0" algn="l">
              <a:lnSpc>
                <a:spcPct val="80000"/>
              </a:lnSpc>
              <a:spcBef>
                <a:spcPts val="0"/>
              </a:spcBef>
              <a:spcAft>
                <a:spcPct val="0"/>
              </a:spcAft>
              <a:buNone/>
            </a:pPr>
            <a:endParaRPr lang="en-US" sz="800" dirty="0"/>
          </a:p>
          <a:p>
            <a:pPr>
              <a:buNone/>
            </a:pPr>
            <a:endParaRPr lang="en-US" sz="900" dirty="0"/>
          </a:p>
        </p:txBody>
      </p:sp>
      <p:sp>
        <p:nvSpPr>
          <p:cNvPr id="5" name="Text 1">
            <a:extLst>
              <a:ext uri="{FF2B5EF4-FFF2-40B4-BE49-F238E27FC236}">
                <a16:creationId xmlns:a16="http://schemas.microsoft.com/office/drawing/2014/main" id="{39DD695E-AD37-98C1-9246-BD5EE7F6476F}"/>
              </a:ext>
            </a:extLst>
          </p:cNvPr>
          <p:cNvSpPr/>
          <p:nvPr/>
        </p:nvSpPr>
        <p:spPr>
          <a:xfrm>
            <a:off x="369493" y="13716"/>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Segment by Region — Sales Distribution Across 4 US Regions</a:t>
            </a:r>
            <a:endParaRPr lang="en-US" sz="2200" dirty="0"/>
          </a:p>
        </p:txBody>
      </p:sp>
    </p:spTree>
    <p:extLst>
      <p:ext uri="{BB962C8B-B14F-4D97-AF65-F5344CB8AC3E}">
        <p14:creationId xmlns:p14="http://schemas.microsoft.com/office/powerpoint/2010/main" val="3512057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Dashboard Sales Overview — Complete View (2023)</a:t>
            </a:r>
            <a:endParaRPr lang="en-US" sz="2200" dirty="0"/>
          </a:p>
        </p:txBody>
      </p:sp>
      <p:sp>
        <p:nvSpPr>
          <p:cNvPr id="4" name="Shape 2"/>
          <p:cNvSpPr/>
          <p:nvPr/>
        </p:nvSpPr>
        <p:spPr>
          <a:xfrm>
            <a:off x="0" y="4892040"/>
            <a:ext cx="9144000" cy="251460"/>
          </a:xfrm>
          <a:prstGeom prst="rect">
            <a:avLst/>
          </a:prstGeom>
          <a:solidFill>
            <a:srgbClr val="1B3A6B"/>
          </a:solidFill>
          <a:ln/>
        </p:spPr>
      </p:sp>
      <p:pic>
        <p:nvPicPr>
          <p:cNvPr id="7" name="Image 0" descr="/home/claude/s27_dashboard_sales.png"/>
          <p:cNvPicPr>
            <a:picLocks noChangeAspect="1"/>
          </p:cNvPicPr>
          <p:nvPr/>
        </p:nvPicPr>
        <p:blipFill>
          <a:blip r:embed="rId3"/>
          <a:srcRect/>
          <a:stretch/>
        </p:blipFill>
        <p:spPr>
          <a:xfrm>
            <a:off x="182880" y="713232"/>
            <a:ext cx="8778240" cy="42062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8">
    <p:bg>
      <p:bgPr>
        <a:solidFill>
          <a:srgbClr val="0F2240"/>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A896"/>
          </a:solidFill>
          <a:ln/>
        </p:spPr>
      </p:sp>
      <p:sp>
        <p:nvSpPr>
          <p:cNvPr id="3" name="Text 1"/>
          <p:cNvSpPr/>
          <p:nvPr/>
        </p:nvSpPr>
        <p:spPr>
          <a:xfrm>
            <a:off x="457200" y="1645920"/>
            <a:ext cx="8229600" cy="109728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04 | Dashboard Customer Analysis</a:t>
            </a:r>
            <a:endParaRPr lang="en-US" sz="4400" dirty="0"/>
          </a:p>
        </p:txBody>
      </p:sp>
      <p:sp>
        <p:nvSpPr>
          <p:cNvPr id="4" name="Text 2"/>
          <p:cNvSpPr/>
          <p:nvPr/>
        </p:nvSpPr>
        <p:spPr>
          <a:xfrm>
            <a:off x="457200" y="2834640"/>
            <a:ext cx="8229600" cy="640080"/>
          </a:xfrm>
          <a:prstGeom prst="rect">
            <a:avLst/>
          </a:prstGeom>
          <a:noFill/>
          <a:ln/>
        </p:spPr>
        <p:txBody>
          <a:bodyPr wrap="square" rtlCol="0" anchor="ctr"/>
          <a:lstStyle/>
          <a:p>
            <a:pPr marL="0" indent="0" algn="ctr">
              <a:buNone/>
            </a:pPr>
            <a:r>
              <a:rPr lang="en-US" sz="1800" dirty="0">
                <a:solidFill>
                  <a:srgbClr val="D5E8F4"/>
                </a:solidFill>
                <a:latin typeface="Calibri" pitchFamily="34" charset="0"/>
                <a:ea typeface="Calibri" pitchFamily="34" charset="-122"/>
                <a:cs typeface="Calibri" pitchFamily="34" charset="-120"/>
              </a:rPr>
              <a:t>Customer Growth · Segmentation · Behavior · Geography</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4" name="Shape 2"/>
          <p:cNvSpPr/>
          <p:nvPr/>
        </p:nvSpPr>
        <p:spPr>
          <a:xfrm>
            <a:off x="0" y="4971618"/>
            <a:ext cx="9144000" cy="171882"/>
          </a:xfrm>
          <a:prstGeom prst="rect">
            <a:avLst/>
          </a:prstGeom>
          <a:solidFill>
            <a:srgbClr val="1B3A6B"/>
          </a:solidFill>
          <a:ln/>
        </p:spPr>
      </p:sp>
      <p:pic>
        <p:nvPicPr>
          <p:cNvPr id="7" name="Image 0"/>
          <p:cNvPicPr>
            <a:picLocks noChangeAspect="1"/>
          </p:cNvPicPr>
          <p:nvPr/>
        </p:nvPicPr>
        <p:blipFill>
          <a:blip r:embed="rId3"/>
          <a:srcRect l="13742" r="-144" b="7077"/>
          <a:stretch/>
        </p:blipFill>
        <p:spPr>
          <a:xfrm>
            <a:off x="4539799" y="685802"/>
            <a:ext cx="4524759" cy="42080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Shape 26">
            <a:extLst>
              <a:ext uri="{FF2B5EF4-FFF2-40B4-BE49-F238E27FC236}">
                <a16:creationId xmlns:a16="http://schemas.microsoft.com/office/drawing/2014/main" id="{85360445-25FE-FFC1-D7AF-4CB299EC8C90}"/>
              </a:ext>
            </a:extLst>
          </p:cNvPr>
          <p:cNvSpPr/>
          <p:nvPr/>
        </p:nvSpPr>
        <p:spPr>
          <a:xfrm>
            <a:off x="79442" y="673938"/>
            <a:ext cx="4380918" cy="4297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Rectangle 3">
            <a:extLst>
              <a:ext uri="{FF2B5EF4-FFF2-40B4-BE49-F238E27FC236}">
                <a16:creationId xmlns:a16="http://schemas.microsoft.com/office/drawing/2014/main" id="{8D04C00B-6024-3488-1EBB-498FF601CD05}"/>
              </a:ext>
            </a:extLst>
          </p:cNvPr>
          <p:cNvSpPr>
            <a:spLocks noChangeArrowheads="1"/>
          </p:cNvSpPr>
          <p:nvPr/>
        </p:nvSpPr>
        <p:spPr bwMode="auto">
          <a:xfrm>
            <a:off x="158881" y="791452"/>
            <a:ext cx="3979982"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How many unique customers purchased this year, and is the customer base growing?</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693 unique customers in 2023 — growing at only +8.6%, the slowest-growing KPI on the dashboard.</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Customer acquisition lags far behind order growth (+28.3%) and sales growth (+20.4%). The company relies on existing customers, not new ones — a long-term risk.</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Launch a referral program and set a quarterly new customer acquisition target of at least +15% growth. Invest in top-of-funnel marketing.</a:t>
            </a:r>
          </a:p>
          <a:p>
            <a:pPr marL="0" indent="0" algn="l">
              <a:lnSpc>
                <a:spcPct val="80000"/>
              </a:lnSpc>
              <a:spcBef>
                <a:spcPts val="0"/>
              </a:spcBef>
              <a:spcAft>
                <a:spcPct val="0"/>
              </a:spcAft>
              <a:buNone/>
            </a:pPr>
            <a:endParaRPr lang="en-US" sz="800" dirty="0"/>
          </a:p>
          <a:p>
            <a:pPr>
              <a:buNone/>
            </a:pPr>
            <a:endParaRPr lang="en-US" sz="900" dirty="0"/>
          </a:p>
        </p:txBody>
      </p:sp>
      <p:sp>
        <p:nvSpPr>
          <p:cNvPr id="5" name="Text 1">
            <a:extLst>
              <a:ext uri="{FF2B5EF4-FFF2-40B4-BE49-F238E27FC236}">
                <a16:creationId xmlns:a16="http://schemas.microsoft.com/office/drawing/2014/main" id="{39DD695E-AD37-98C1-9246-BD5EE7F6476F}"/>
              </a:ext>
            </a:extLst>
          </p:cNvPr>
          <p:cNvSpPr/>
          <p:nvPr/>
        </p:nvSpPr>
        <p:spPr>
          <a:xfrm>
            <a:off x="369493" y="13716"/>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Customer KPIs — </a:t>
            </a:r>
            <a:r>
              <a:rPr kumimoji="0" lang="en-US" altLang="en-US" sz="2400" b="1" i="0" u="none" strike="noStrike" cap="none" normalizeH="0" baseline="0" dirty="0">
                <a:ln>
                  <a:noFill/>
                </a:ln>
                <a:solidFill>
                  <a:schemeClr val="bg1"/>
                </a:solidFill>
                <a:effectLst/>
                <a:cs typeface="Times New Roman" panose="02020603050405020304" pitchFamily="18" charset="0"/>
              </a:rPr>
              <a:t>Total Customers KPI Card </a:t>
            </a:r>
            <a:endParaRPr lang="en-US" sz="2200" dirty="0">
              <a:solidFill>
                <a:schemeClr val="bg1"/>
              </a:solidFill>
            </a:endParaRPr>
          </a:p>
        </p:txBody>
      </p:sp>
    </p:spTree>
    <p:extLst>
      <p:ext uri="{BB962C8B-B14F-4D97-AF65-F5344CB8AC3E}">
        <p14:creationId xmlns:p14="http://schemas.microsoft.com/office/powerpoint/2010/main" val="21576594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4" name="Shape 2"/>
          <p:cNvSpPr/>
          <p:nvPr/>
        </p:nvSpPr>
        <p:spPr>
          <a:xfrm>
            <a:off x="0" y="4971618"/>
            <a:ext cx="9144000" cy="171882"/>
          </a:xfrm>
          <a:prstGeom prst="rect">
            <a:avLst/>
          </a:prstGeom>
          <a:solidFill>
            <a:srgbClr val="1B3A6B"/>
          </a:solidFill>
          <a:ln/>
        </p:spPr>
      </p:sp>
      <p:pic>
        <p:nvPicPr>
          <p:cNvPr id="7" name="Image 0"/>
          <p:cNvPicPr>
            <a:picLocks noChangeAspect="1"/>
          </p:cNvPicPr>
          <p:nvPr/>
        </p:nvPicPr>
        <p:blipFill>
          <a:blip r:embed="rId3"/>
          <a:srcRect l="13257" r="-1086" b="6064"/>
          <a:stretch/>
        </p:blipFill>
        <p:spPr>
          <a:xfrm>
            <a:off x="4460361" y="702412"/>
            <a:ext cx="4604198" cy="41914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Shape 26">
            <a:extLst>
              <a:ext uri="{FF2B5EF4-FFF2-40B4-BE49-F238E27FC236}">
                <a16:creationId xmlns:a16="http://schemas.microsoft.com/office/drawing/2014/main" id="{85360445-25FE-FFC1-D7AF-4CB299EC8C90}"/>
              </a:ext>
            </a:extLst>
          </p:cNvPr>
          <p:cNvSpPr/>
          <p:nvPr/>
        </p:nvSpPr>
        <p:spPr>
          <a:xfrm>
            <a:off x="79442" y="673938"/>
            <a:ext cx="4380918" cy="4297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Rectangle 3">
            <a:extLst>
              <a:ext uri="{FF2B5EF4-FFF2-40B4-BE49-F238E27FC236}">
                <a16:creationId xmlns:a16="http://schemas.microsoft.com/office/drawing/2014/main" id="{8D04C00B-6024-3488-1EBB-498FF601CD05}"/>
              </a:ext>
            </a:extLst>
          </p:cNvPr>
          <p:cNvSpPr>
            <a:spLocks noChangeArrowheads="1"/>
          </p:cNvSpPr>
          <p:nvPr/>
        </p:nvSpPr>
        <p:spPr bwMode="auto">
          <a:xfrm>
            <a:off x="158881" y="744304"/>
            <a:ext cx="3979982" cy="4193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How many customers are coming back to buy again, and is loyalty improving?</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lang="ar-EG" sz="1050" dirty="0"/>
              <a:t> </a:t>
            </a:r>
            <a:r>
              <a:rPr lang="en-US" sz="1050" dirty="0"/>
              <a:t>493 returning customers in 2023, growing at an impressive +70.7% — the second fastest-growing KPI.</a:t>
            </a: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lang="ar-EG" sz="1050" dirty="0"/>
              <a:t> </a:t>
            </a:r>
            <a:r>
              <a:rPr lang="en-US" sz="1050" dirty="0"/>
              <a:t>Returning customers (493) who purchased more than once </a:t>
            </a:r>
            <a:r>
              <a:rPr lang="en-US" sz="1050" b="1" dirty="0"/>
              <a:t>within 2023</a:t>
            </a:r>
            <a:r>
              <a:rPr lang="en-US" sz="1050" dirty="0"/>
              <a:t> demonstrate strong in-year loyalty. New customers total 693 — meaning new acquisition still exceeds in-year returning customers, highlighting the importance of re-engagement strategies.</a:t>
            </a:r>
            <a:r>
              <a:rPr kumimoji="0" lang="en-US" altLang="en-US" sz="1050" b="0" i="0" u="none" strike="noStrike" cap="none" normalizeH="0" baseline="0" dirty="0">
                <a:ln>
                  <a:noFill/>
                </a:ln>
                <a:solidFill>
                  <a:srgbClr val="2D3748"/>
                </a:solidFill>
                <a:effectLst/>
                <a:cs typeface="Calibri" pitchFamily="34" charset="0"/>
              </a:rPr>
              <a:t>.</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lang="en-US" sz="1050" dirty="0"/>
              <a:t>Build a formal loyalty program to convert first-time buyers into returning customers within the same year. Create VIP tiers for high-frequency buyers (e.g. Seth Vernon: 73 orders). Consider annual subscription models to lock in repeat purchases.</a:t>
            </a:r>
            <a:endParaRPr lang="en-US" sz="800" dirty="0"/>
          </a:p>
          <a:p>
            <a:pPr>
              <a:buNone/>
            </a:pPr>
            <a:endParaRPr lang="en-US" sz="900" dirty="0"/>
          </a:p>
        </p:txBody>
      </p:sp>
      <p:sp>
        <p:nvSpPr>
          <p:cNvPr id="5" name="Text 1">
            <a:extLst>
              <a:ext uri="{FF2B5EF4-FFF2-40B4-BE49-F238E27FC236}">
                <a16:creationId xmlns:a16="http://schemas.microsoft.com/office/drawing/2014/main" id="{39DD695E-AD37-98C1-9246-BD5EE7F6476F}"/>
              </a:ext>
            </a:extLst>
          </p:cNvPr>
          <p:cNvSpPr/>
          <p:nvPr/>
        </p:nvSpPr>
        <p:spPr>
          <a:xfrm>
            <a:off x="369493" y="13716"/>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Customer KPIs — </a:t>
            </a:r>
            <a:r>
              <a:rPr lang="en-US" sz="2400" b="1" dirty="0">
                <a:solidFill>
                  <a:schemeClr val="bg1"/>
                </a:solidFill>
                <a:latin typeface="Calibri" pitchFamily="34" charset="0"/>
                <a:ea typeface="Calibri" pitchFamily="34" charset="-122"/>
                <a:cs typeface="Times New Roman" panose="02020603050405020304" pitchFamily="18" charset="0"/>
              </a:rPr>
              <a:t> Returning </a:t>
            </a:r>
            <a:r>
              <a:rPr kumimoji="0" lang="en-US" altLang="en-US" sz="2400" b="1" i="0" u="none" strike="noStrike" cap="none" normalizeH="0" baseline="0" dirty="0">
                <a:ln>
                  <a:noFill/>
                </a:ln>
                <a:solidFill>
                  <a:schemeClr val="bg1"/>
                </a:solidFill>
                <a:effectLst/>
                <a:cs typeface="Times New Roman" panose="02020603050405020304" pitchFamily="18" charset="0"/>
              </a:rPr>
              <a:t>Customers KPI Card </a:t>
            </a:r>
            <a:endParaRPr lang="en-US" sz="2200" dirty="0">
              <a:solidFill>
                <a:schemeClr val="bg1"/>
              </a:solidFill>
            </a:endParaRPr>
          </a:p>
        </p:txBody>
      </p:sp>
    </p:spTree>
    <p:extLst>
      <p:ext uri="{BB962C8B-B14F-4D97-AF65-F5344CB8AC3E}">
        <p14:creationId xmlns:p14="http://schemas.microsoft.com/office/powerpoint/2010/main" val="12308981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4" name="Shape 2"/>
          <p:cNvSpPr/>
          <p:nvPr/>
        </p:nvSpPr>
        <p:spPr>
          <a:xfrm>
            <a:off x="0" y="4971618"/>
            <a:ext cx="9144000" cy="171882"/>
          </a:xfrm>
          <a:prstGeom prst="rect">
            <a:avLst/>
          </a:prstGeom>
          <a:solidFill>
            <a:srgbClr val="1B3A6B"/>
          </a:solidFill>
          <a:ln/>
        </p:spPr>
      </p:sp>
      <p:pic>
        <p:nvPicPr>
          <p:cNvPr id="7" name="Image 0"/>
          <p:cNvPicPr>
            <a:picLocks noChangeAspect="1"/>
          </p:cNvPicPr>
          <p:nvPr/>
        </p:nvPicPr>
        <p:blipFill>
          <a:blip r:embed="rId3"/>
          <a:srcRect l="13355" t="2257" r="249" b="5616"/>
          <a:stretch/>
        </p:blipFill>
        <p:spPr>
          <a:xfrm>
            <a:off x="4539799" y="733926"/>
            <a:ext cx="4524759" cy="420383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Shape 26">
            <a:extLst>
              <a:ext uri="{FF2B5EF4-FFF2-40B4-BE49-F238E27FC236}">
                <a16:creationId xmlns:a16="http://schemas.microsoft.com/office/drawing/2014/main" id="{85360445-25FE-FFC1-D7AF-4CB299EC8C90}"/>
              </a:ext>
            </a:extLst>
          </p:cNvPr>
          <p:cNvSpPr/>
          <p:nvPr/>
        </p:nvSpPr>
        <p:spPr>
          <a:xfrm>
            <a:off x="79442" y="673938"/>
            <a:ext cx="4380918" cy="431656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Rectangle 3">
            <a:extLst>
              <a:ext uri="{FF2B5EF4-FFF2-40B4-BE49-F238E27FC236}">
                <a16:creationId xmlns:a16="http://schemas.microsoft.com/office/drawing/2014/main" id="{8D04C00B-6024-3488-1EBB-498FF601CD05}"/>
              </a:ext>
            </a:extLst>
          </p:cNvPr>
          <p:cNvSpPr>
            <a:spLocks noChangeArrowheads="1"/>
          </p:cNvSpPr>
          <p:nvPr/>
        </p:nvSpPr>
        <p:spPr bwMode="auto">
          <a:xfrm>
            <a:off x="158881" y="644786"/>
            <a:ext cx="3979982" cy="4439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How frequently are customers purchasing, and is engagement increasing?</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a:buFont typeface="Arial" panose="020B0604020202020204" pitchFamily="34" charset="0"/>
              <a:buChar char="•"/>
            </a:pPr>
            <a:r>
              <a:rPr lang="ar-EG" sz="1050" dirty="0"/>
              <a:t> </a:t>
            </a:r>
            <a:r>
              <a:rPr lang="en-US" sz="1050" dirty="0"/>
              <a:t>Each customer places an average of 2.4 orders in 2023, up +18.1% compared to 2022 — the fastest-growing KPI across all dashboards.</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lang="en-US" sz="1050" dirty="0"/>
              <a:t>Customers are buying more frequently within the year compared to the prior year. However, at 2.4 orders per customer, the average is still relatively low — meaning there is significant room to drive repeat purchases within the same year.</a:t>
            </a:r>
            <a:endParaRPr lang="ar-EG" sz="1050" dirty="0"/>
          </a:p>
          <a:p>
            <a:pPr marL="0" marR="0" lvl="0" indent="0" algn="l" defTabSz="914400" rtl="0" eaLnBrk="0" fontAlgn="base" latinLnBrk="0" hangingPunct="0">
              <a:lnSpc>
                <a:spcPct val="115000"/>
              </a:lnSpc>
              <a:spcBef>
                <a:spcPts val="120"/>
              </a:spcBef>
              <a:spcAft>
                <a:spcPct val="0"/>
              </a:spcAft>
              <a:buClrTx/>
              <a:buSzTx/>
              <a:buFontTx/>
              <a:buChar char="•"/>
            </a:pPr>
            <a:endParaRPr kumimoji="0" lang="ar-EG" altLang="en-US" sz="1050" b="1" i="0" u="none" strike="noStrike" cap="none" normalizeH="0" baseline="0" dirty="0">
              <a:ln>
                <a:noFill/>
              </a:ln>
              <a:solidFill>
                <a:srgbClr val="1B3A6B"/>
              </a:solidFill>
              <a:effectLst/>
              <a:cs typeface="Calibri" pitchFamily="34" charset="0"/>
            </a:endParaRP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lang="ar-EG" sz="1050" dirty="0"/>
              <a:t> </a:t>
            </a:r>
            <a:r>
              <a:rPr lang="en-US" sz="1050" dirty="0"/>
              <a:t>Use the growing order frequency as an upsell opportunity. Introduce product recommendations at checkout, send targeted follow-up emails after first purchase, and create bundle offers to encourage customers to place a second or third order within the year.</a:t>
            </a:r>
            <a:endParaRPr lang="en-US" sz="900" dirty="0"/>
          </a:p>
        </p:txBody>
      </p:sp>
      <p:sp>
        <p:nvSpPr>
          <p:cNvPr id="5" name="Text 1">
            <a:extLst>
              <a:ext uri="{FF2B5EF4-FFF2-40B4-BE49-F238E27FC236}">
                <a16:creationId xmlns:a16="http://schemas.microsoft.com/office/drawing/2014/main" id="{39DD695E-AD37-98C1-9246-BD5EE7F6476F}"/>
              </a:ext>
            </a:extLst>
          </p:cNvPr>
          <p:cNvSpPr/>
          <p:nvPr/>
        </p:nvSpPr>
        <p:spPr>
          <a:xfrm>
            <a:off x="369493" y="13716"/>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Customer KPIs — Avg Orders Per</a:t>
            </a:r>
            <a:r>
              <a:rPr lang="en-US" sz="2400" b="1" dirty="0">
                <a:solidFill>
                  <a:schemeClr val="bg1"/>
                </a:solidFill>
                <a:latin typeface="Calibri" pitchFamily="34" charset="0"/>
                <a:ea typeface="Calibri" pitchFamily="34" charset="-122"/>
                <a:cs typeface="Times New Roman" panose="02020603050405020304" pitchFamily="18" charset="0"/>
              </a:rPr>
              <a:t> </a:t>
            </a:r>
            <a:r>
              <a:rPr kumimoji="0" lang="en-US" altLang="en-US" sz="2400" b="1" i="0" u="none" strike="noStrike" cap="none" normalizeH="0" baseline="0" dirty="0">
                <a:ln>
                  <a:noFill/>
                </a:ln>
                <a:solidFill>
                  <a:schemeClr val="bg1"/>
                </a:solidFill>
                <a:effectLst/>
                <a:cs typeface="Times New Roman" panose="02020603050405020304" pitchFamily="18" charset="0"/>
              </a:rPr>
              <a:t>Customers KPI Card </a:t>
            </a:r>
            <a:endParaRPr lang="en-US" sz="2200" dirty="0">
              <a:solidFill>
                <a:schemeClr val="bg1"/>
              </a:solidFill>
            </a:endParaRPr>
          </a:p>
        </p:txBody>
      </p:sp>
    </p:spTree>
    <p:extLst>
      <p:ext uri="{BB962C8B-B14F-4D97-AF65-F5344CB8AC3E}">
        <p14:creationId xmlns:p14="http://schemas.microsoft.com/office/powerpoint/2010/main" val="25652774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4" name="Shape 2"/>
          <p:cNvSpPr/>
          <p:nvPr/>
        </p:nvSpPr>
        <p:spPr>
          <a:xfrm>
            <a:off x="0" y="4971618"/>
            <a:ext cx="9144000" cy="171882"/>
          </a:xfrm>
          <a:prstGeom prst="rect">
            <a:avLst/>
          </a:prstGeom>
          <a:solidFill>
            <a:srgbClr val="1B3A6B"/>
          </a:solidFill>
          <a:ln/>
        </p:spPr>
      </p:sp>
      <p:pic>
        <p:nvPicPr>
          <p:cNvPr id="7" name="Image 0"/>
          <p:cNvPicPr>
            <a:picLocks noChangeAspect="1"/>
          </p:cNvPicPr>
          <p:nvPr/>
        </p:nvPicPr>
        <p:blipFill>
          <a:blip r:embed="rId3"/>
          <a:srcRect l="13495" r="-886" b="5317"/>
          <a:stretch/>
        </p:blipFill>
        <p:spPr>
          <a:xfrm>
            <a:off x="4460360" y="685802"/>
            <a:ext cx="4604198" cy="42400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Shape 26">
            <a:extLst>
              <a:ext uri="{FF2B5EF4-FFF2-40B4-BE49-F238E27FC236}">
                <a16:creationId xmlns:a16="http://schemas.microsoft.com/office/drawing/2014/main" id="{85360445-25FE-FFC1-D7AF-4CB299EC8C90}"/>
              </a:ext>
            </a:extLst>
          </p:cNvPr>
          <p:cNvSpPr/>
          <p:nvPr/>
        </p:nvSpPr>
        <p:spPr>
          <a:xfrm>
            <a:off x="79442" y="673938"/>
            <a:ext cx="4380918" cy="4297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Rectangle 3">
            <a:extLst>
              <a:ext uri="{FF2B5EF4-FFF2-40B4-BE49-F238E27FC236}">
                <a16:creationId xmlns:a16="http://schemas.microsoft.com/office/drawing/2014/main" id="{8D04C00B-6024-3488-1EBB-498FF601CD05}"/>
              </a:ext>
            </a:extLst>
          </p:cNvPr>
          <p:cNvSpPr>
            <a:spLocks noChangeArrowheads="1"/>
          </p:cNvSpPr>
          <p:nvPr/>
        </p:nvSpPr>
        <p:spPr bwMode="auto">
          <a:xfrm>
            <a:off x="158881" y="845109"/>
            <a:ext cx="4508292" cy="4001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How does the number of active customers fluctuate month to month?</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Customer activity peaks in November (216 customers) and bottoms in February (53) — mirroring the sales trend exactly.</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Customer activity is as seasonal as revenue. February's low count is not just a sales problem — it's a customer engagement problem.</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Design a February re-engagement campaign targeting dormant customers with personalized offers. Use November's successful tactics as a template for off-peak months.</a:t>
            </a:r>
          </a:p>
          <a:p>
            <a:pPr marL="0" indent="0" algn="l">
              <a:lnSpc>
                <a:spcPct val="80000"/>
              </a:lnSpc>
              <a:spcBef>
                <a:spcPts val="0"/>
              </a:spcBef>
              <a:spcAft>
                <a:spcPct val="0"/>
              </a:spcAft>
              <a:buNone/>
            </a:pPr>
            <a:endParaRPr lang="en-US" sz="800" dirty="0"/>
          </a:p>
          <a:p>
            <a:pPr>
              <a:buNone/>
            </a:pPr>
            <a:endParaRPr lang="en-US" sz="900" dirty="0"/>
          </a:p>
        </p:txBody>
      </p:sp>
      <p:sp>
        <p:nvSpPr>
          <p:cNvPr id="5" name="Text 1">
            <a:extLst>
              <a:ext uri="{FF2B5EF4-FFF2-40B4-BE49-F238E27FC236}">
                <a16:creationId xmlns:a16="http://schemas.microsoft.com/office/drawing/2014/main" id="{39DD695E-AD37-98C1-9246-BD5EE7F6476F}"/>
              </a:ext>
            </a:extLst>
          </p:cNvPr>
          <p:cNvSpPr/>
          <p:nvPr/>
        </p:nvSpPr>
        <p:spPr>
          <a:xfrm>
            <a:off x="2421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Customer Growth Area Chart — Monthly Customer Acquisition Trend</a:t>
            </a:r>
            <a:endParaRPr lang="en-US" sz="2200" dirty="0"/>
          </a:p>
        </p:txBody>
      </p:sp>
    </p:spTree>
    <p:extLst>
      <p:ext uri="{BB962C8B-B14F-4D97-AF65-F5344CB8AC3E}">
        <p14:creationId xmlns:p14="http://schemas.microsoft.com/office/powerpoint/2010/main" val="37105252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4" name="Shape 2"/>
          <p:cNvSpPr/>
          <p:nvPr/>
        </p:nvSpPr>
        <p:spPr>
          <a:xfrm>
            <a:off x="0" y="4971618"/>
            <a:ext cx="9144000" cy="171882"/>
          </a:xfrm>
          <a:prstGeom prst="rect">
            <a:avLst/>
          </a:prstGeom>
          <a:solidFill>
            <a:srgbClr val="1B3A6B"/>
          </a:solidFill>
          <a:ln/>
        </p:spPr>
      </p:sp>
      <p:pic>
        <p:nvPicPr>
          <p:cNvPr id="7" name="Image 0"/>
          <p:cNvPicPr>
            <a:picLocks noChangeAspect="1"/>
          </p:cNvPicPr>
          <p:nvPr/>
        </p:nvPicPr>
        <p:blipFill>
          <a:blip r:embed="rId3"/>
          <a:srcRect l="13154" r="-36" b="5637"/>
          <a:stretch/>
        </p:blipFill>
        <p:spPr>
          <a:xfrm>
            <a:off x="4572000" y="685802"/>
            <a:ext cx="4492558" cy="42400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Shape 26">
            <a:extLst>
              <a:ext uri="{FF2B5EF4-FFF2-40B4-BE49-F238E27FC236}">
                <a16:creationId xmlns:a16="http://schemas.microsoft.com/office/drawing/2014/main" id="{85360445-25FE-FFC1-D7AF-4CB299EC8C90}"/>
              </a:ext>
            </a:extLst>
          </p:cNvPr>
          <p:cNvSpPr/>
          <p:nvPr/>
        </p:nvSpPr>
        <p:spPr>
          <a:xfrm>
            <a:off x="79442" y="691986"/>
            <a:ext cx="4380918" cy="4297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Rectangle 3">
            <a:extLst>
              <a:ext uri="{FF2B5EF4-FFF2-40B4-BE49-F238E27FC236}">
                <a16:creationId xmlns:a16="http://schemas.microsoft.com/office/drawing/2014/main" id="{8D04C00B-6024-3488-1EBB-498FF601CD05}"/>
              </a:ext>
            </a:extLst>
          </p:cNvPr>
          <p:cNvSpPr>
            <a:spLocks noChangeArrowheads="1"/>
          </p:cNvSpPr>
          <p:nvPr/>
        </p:nvSpPr>
        <p:spPr bwMode="auto">
          <a:xfrm>
            <a:off x="158881" y="679637"/>
            <a:ext cx="4250693" cy="435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Which combination of product category and customer segment generates the most revenue?</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Consumer dominates in all three categories. Technology + Consumer is the highest-value combination. Home Office is consistently the smallest block.</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Consumer segment drives most revenue. Corporate is underutilized — especially in Furniture and Office Supplies, which are natural B2B fits. Home Office is small but fastest-growing.</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Build a dedicated B2B sales team for Corporate clients in Furniture and Office Supplies. Create Home Office starter kits — a permanent post-pandemic trend.</a:t>
            </a:r>
          </a:p>
          <a:p>
            <a:pPr marL="0" indent="0" algn="l">
              <a:lnSpc>
                <a:spcPct val="80000"/>
              </a:lnSpc>
              <a:spcBef>
                <a:spcPts val="0"/>
              </a:spcBef>
              <a:spcAft>
                <a:spcPct val="0"/>
              </a:spcAft>
              <a:buNone/>
            </a:pPr>
            <a:endParaRPr lang="en-US" sz="800" dirty="0"/>
          </a:p>
          <a:p>
            <a:pPr>
              <a:buNone/>
            </a:pPr>
            <a:endParaRPr lang="en-US" sz="900" dirty="0"/>
          </a:p>
        </p:txBody>
      </p:sp>
      <p:sp>
        <p:nvSpPr>
          <p:cNvPr id="5" name="Text 1">
            <a:extLst>
              <a:ext uri="{FF2B5EF4-FFF2-40B4-BE49-F238E27FC236}">
                <a16:creationId xmlns:a16="http://schemas.microsoft.com/office/drawing/2014/main" id="{39DD695E-AD37-98C1-9246-BD5EE7F6476F}"/>
              </a:ext>
            </a:extLst>
          </p:cNvPr>
          <p:cNvSpPr/>
          <p:nvPr/>
        </p:nvSpPr>
        <p:spPr>
          <a:xfrm>
            <a:off x="2421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Customer Purchase Behavior — Segment Analysis by Sales </a:t>
            </a:r>
            <a:endParaRPr lang="en-US" sz="2200" dirty="0"/>
          </a:p>
        </p:txBody>
      </p:sp>
    </p:spTree>
    <p:extLst>
      <p:ext uri="{BB962C8B-B14F-4D97-AF65-F5344CB8AC3E}">
        <p14:creationId xmlns:p14="http://schemas.microsoft.com/office/powerpoint/2010/main" val="37250539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4" name="Shape 2"/>
          <p:cNvSpPr/>
          <p:nvPr/>
        </p:nvSpPr>
        <p:spPr>
          <a:xfrm>
            <a:off x="0" y="4971618"/>
            <a:ext cx="9144000" cy="171882"/>
          </a:xfrm>
          <a:prstGeom prst="rect">
            <a:avLst/>
          </a:prstGeom>
          <a:solidFill>
            <a:srgbClr val="1B3A6B"/>
          </a:solidFill>
          <a:ln/>
        </p:spPr>
      </p:sp>
      <p:pic>
        <p:nvPicPr>
          <p:cNvPr id="7" name="Image 0"/>
          <p:cNvPicPr>
            <a:picLocks noChangeAspect="1"/>
          </p:cNvPicPr>
          <p:nvPr/>
        </p:nvPicPr>
        <p:blipFill>
          <a:blip r:embed="rId3"/>
          <a:srcRect l="13642" r="460" b="7473"/>
          <a:stretch/>
        </p:blipFill>
        <p:spPr>
          <a:xfrm>
            <a:off x="4539799" y="685802"/>
            <a:ext cx="4508292" cy="42400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Shape 26">
            <a:extLst>
              <a:ext uri="{FF2B5EF4-FFF2-40B4-BE49-F238E27FC236}">
                <a16:creationId xmlns:a16="http://schemas.microsoft.com/office/drawing/2014/main" id="{85360445-25FE-FFC1-D7AF-4CB299EC8C90}"/>
              </a:ext>
            </a:extLst>
          </p:cNvPr>
          <p:cNvSpPr/>
          <p:nvPr/>
        </p:nvSpPr>
        <p:spPr>
          <a:xfrm>
            <a:off x="79442" y="673938"/>
            <a:ext cx="4380918" cy="4297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Rectangle 3">
            <a:extLst>
              <a:ext uri="{FF2B5EF4-FFF2-40B4-BE49-F238E27FC236}">
                <a16:creationId xmlns:a16="http://schemas.microsoft.com/office/drawing/2014/main" id="{8D04C00B-6024-3488-1EBB-498FF601CD05}"/>
              </a:ext>
            </a:extLst>
          </p:cNvPr>
          <p:cNvSpPr>
            <a:spLocks noChangeArrowheads="1"/>
          </p:cNvSpPr>
          <p:nvPr/>
        </p:nvSpPr>
        <p:spPr bwMode="auto">
          <a:xfrm>
            <a:off x="158881" y="779663"/>
            <a:ext cx="4256708"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Which states generate the most revenue and profit, and which states are losing money?</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California leads with $146K sales and $29.4K profit. Texas (-$8.84K), Colorado (-$4.44K), and Oregon (-$0.38K) operate at a net loss.</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Three states actively destroy profit — likely due to excessive discounting, high logistics costs, or poor product mix. California's dominance is also a concentration risk.</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Conduct an urgent pricing and logistics audit in TX, CO, OR. Set minimum order values for high-cost delivery areas. If losses persist after 2 quarters, limit operations.</a:t>
            </a:r>
          </a:p>
          <a:p>
            <a:pPr marL="0" indent="0" algn="l">
              <a:lnSpc>
                <a:spcPct val="80000"/>
              </a:lnSpc>
              <a:spcBef>
                <a:spcPts val="0"/>
              </a:spcBef>
              <a:spcAft>
                <a:spcPct val="0"/>
              </a:spcAft>
              <a:buNone/>
            </a:pPr>
            <a:endParaRPr lang="en-US" sz="800" dirty="0"/>
          </a:p>
          <a:p>
            <a:pPr>
              <a:buNone/>
            </a:pPr>
            <a:endParaRPr lang="en-US" sz="900" dirty="0"/>
          </a:p>
        </p:txBody>
      </p:sp>
      <p:sp>
        <p:nvSpPr>
          <p:cNvPr id="5" name="Text 1">
            <a:extLst>
              <a:ext uri="{FF2B5EF4-FFF2-40B4-BE49-F238E27FC236}">
                <a16:creationId xmlns:a16="http://schemas.microsoft.com/office/drawing/2014/main" id="{39DD695E-AD37-98C1-9246-BD5EE7F6476F}"/>
              </a:ext>
            </a:extLst>
          </p:cNvPr>
          <p:cNvSpPr/>
          <p:nvPr/>
        </p:nvSpPr>
        <p:spPr>
          <a:xfrm>
            <a:off x="2421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Customer Geographic Map — Quantity/Category by US State</a:t>
            </a:r>
            <a:endParaRPr lang="en-US" sz="2200" dirty="0"/>
          </a:p>
        </p:txBody>
      </p:sp>
    </p:spTree>
    <p:extLst>
      <p:ext uri="{BB962C8B-B14F-4D97-AF65-F5344CB8AC3E}">
        <p14:creationId xmlns:p14="http://schemas.microsoft.com/office/powerpoint/2010/main" val="33896017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4" name="Shape 2"/>
          <p:cNvSpPr/>
          <p:nvPr/>
        </p:nvSpPr>
        <p:spPr>
          <a:xfrm>
            <a:off x="0" y="4971618"/>
            <a:ext cx="9144000" cy="171882"/>
          </a:xfrm>
          <a:prstGeom prst="rect">
            <a:avLst/>
          </a:prstGeom>
          <a:solidFill>
            <a:srgbClr val="1B3A6B"/>
          </a:solidFill>
          <a:ln/>
        </p:spPr>
      </p:sp>
      <p:pic>
        <p:nvPicPr>
          <p:cNvPr id="7" name="Image 0"/>
          <p:cNvPicPr>
            <a:picLocks noChangeAspect="1"/>
          </p:cNvPicPr>
          <p:nvPr/>
        </p:nvPicPr>
        <p:blipFill>
          <a:blip r:embed="rId3"/>
          <a:srcRect l="13720" r="-766" b="5870"/>
          <a:stretch/>
        </p:blipFill>
        <p:spPr>
          <a:xfrm>
            <a:off x="4495028" y="685802"/>
            <a:ext cx="4569531" cy="42400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Shape 26">
            <a:extLst>
              <a:ext uri="{FF2B5EF4-FFF2-40B4-BE49-F238E27FC236}">
                <a16:creationId xmlns:a16="http://schemas.microsoft.com/office/drawing/2014/main" id="{85360445-25FE-FFC1-D7AF-4CB299EC8C90}"/>
              </a:ext>
            </a:extLst>
          </p:cNvPr>
          <p:cNvSpPr/>
          <p:nvPr/>
        </p:nvSpPr>
        <p:spPr>
          <a:xfrm>
            <a:off x="79442" y="673938"/>
            <a:ext cx="4380918" cy="4297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Rectangle 3">
            <a:extLst>
              <a:ext uri="{FF2B5EF4-FFF2-40B4-BE49-F238E27FC236}">
                <a16:creationId xmlns:a16="http://schemas.microsoft.com/office/drawing/2014/main" id="{8D04C00B-6024-3488-1EBB-498FF601CD05}"/>
              </a:ext>
            </a:extLst>
          </p:cNvPr>
          <p:cNvSpPr>
            <a:spLocks noChangeArrowheads="1"/>
          </p:cNvSpPr>
          <p:nvPr/>
        </p:nvSpPr>
        <p:spPr bwMode="auto">
          <a:xfrm>
            <a:off x="158881" y="864299"/>
            <a:ext cx="4256708" cy="3985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How is the customer base distributed across the three segments?</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Consumer: 361 (52%) | Corporate: 204 (29%) | Home Office: 128 (18%). Total: 693 customers.</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Over-reliance on Consumer creates concentration risk. Corporate offers higher average order values but is underserved. Home Office is small but structurally growing.</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Rebalance the segment mix: grow Corporate from 29% to 35% over 24 months via B2B account management. Develop a dedicated Home Office product line.</a:t>
            </a:r>
          </a:p>
          <a:p>
            <a:pPr marL="0" indent="0" algn="l">
              <a:lnSpc>
                <a:spcPct val="80000"/>
              </a:lnSpc>
              <a:spcBef>
                <a:spcPts val="0"/>
              </a:spcBef>
              <a:spcAft>
                <a:spcPct val="0"/>
              </a:spcAft>
              <a:buNone/>
            </a:pPr>
            <a:endParaRPr lang="en-US" sz="800" dirty="0"/>
          </a:p>
          <a:p>
            <a:pPr>
              <a:buNone/>
            </a:pPr>
            <a:endParaRPr lang="en-US" sz="900" dirty="0"/>
          </a:p>
        </p:txBody>
      </p:sp>
      <p:sp>
        <p:nvSpPr>
          <p:cNvPr id="5" name="Text 1">
            <a:extLst>
              <a:ext uri="{FF2B5EF4-FFF2-40B4-BE49-F238E27FC236}">
                <a16:creationId xmlns:a16="http://schemas.microsoft.com/office/drawing/2014/main" id="{39DD695E-AD37-98C1-9246-BD5EE7F6476F}"/>
              </a:ext>
            </a:extLst>
          </p:cNvPr>
          <p:cNvSpPr/>
          <p:nvPr/>
        </p:nvSpPr>
        <p:spPr>
          <a:xfrm>
            <a:off x="2421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Donut Customer Segmentation</a:t>
            </a:r>
            <a:endParaRPr lang="en-US" sz="2200" dirty="0"/>
          </a:p>
        </p:txBody>
      </p:sp>
    </p:spTree>
    <p:extLst>
      <p:ext uri="{BB962C8B-B14F-4D97-AF65-F5344CB8AC3E}">
        <p14:creationId xmlns:p14="http://schemas.microsoft.com/office/powerpoint/2010/main" val="30820935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4" name="Shape 2"/>
          <p:cNvSpPr/>
          <p:nvPr/>
        </p:nvSpPr>
        <p:spPr>
          <a:xfrm>
            <a:off x="0" y="4971618"/>
            <a:ext cx="9144000" cy="171882"/>
          </a:xfrm>
          <a:prstGeom prst="rect">
            <a:avLst/>
          </a:prstGeom>
          <a:solidFill>
            <a:srgbClr val="1B3A6B"/>
          </a:solidFill>
          <a:ln/>
        </p:spPr>
      </p:sp>
      <p:pic>
        <p:nvPicPr>
          <p:cNvPr id="7" name="Image 0"/>
          <p:cNvPicPr>
            <a:picLocks noChangeAspect="1"/>
          </p:cNvPicPr>
          <p:nvPr/>
        </p:nvPicPr>
        <p:blipFill>
          <a:blip r:embed="rId3"/>
          <a:srcRect l="13708" t="1210" r="-52" b="4790"/>
          <a:stretch/>
        </p:blipFill>
        <p:spPr>
          <a:xfrm>
            <a:off x="4572000" y="673938"/>
            <a:ext cx="4492558" cy="421810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Shape 26">
            <a:extLst>
              <a:ext uri="{FF2B5EF4-FFF2-40B4-BE49-F238E27FC236}">
                <a16:creationId xmlns:a16="http://schemas.microsoft.com/office/drawing/2014/main" id="{85360445-25FE-FFC1-D7AF-4CB299EC8C90}"/>
              </a:ext>
            </a:extLst>
          </p:cNvPr>
          <p:cNvSpPr/>
          <p:nvPr/>
        </p:nvSpPr>
        <p:spPr>
          <a:xfrm>
            <a:off x="79442" y="673938"/>
            <a:ext cx="4380918" cy="4297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Rectangle 3">
            <a:extLst>
              <a:ext uri="{FF2B5EF4-FFF2-40B4-BE49-F238E27FC236}">
                <a16:creationId xmlns:a16="http://schemas.microsoft.com/office/drawing/2014/main" id="{8D04C00B-6024-3488-1EBB-498FF601CD05}"/>
              </a:ext>
            </a:extLst>
          </p:cNvPr>
          <p:cNvSpPr>
            <a:spLocks noChangeArrowheads="1"/>
          </p:cNvSpPr>
          <p:nvPr/>
        </p:nvSpPr>
        <p:spPr bwMode="auto">
          <a:xfrm>
            <a:off x="141547" y="701763"/>
            <a:ext cx="4256708"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Who are the highest-value customers, and are they all profitable?</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Raymond Buch and Tom Ashbrook top the list at $14K each. Grant Thornton generates $8K in sales but -$3.83K in profit — a net loss account.</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Not all top customers are profitable. Grant Thornton costs money to serve. Seth Vernon, with 73 orders, represents an untapped VIP loyalty opportunity.</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Immediately renegotiate or exit Grant Thornton. Create a VIP program for high-frequency buyers like Seth Vernon. Proactively identify other negative-margin accounts.</a:t>
            </a:r>
          </a:p>
          <a:p>
            <a:pPr marL="0" indent="0" algn="l">
              <a:lnSpc>
                <a:spcPct val="80000"/>
              </a:lnSpc>
              <a:spcBef>
                <a:spcPts val="0"/>
              </a:spcBef>
              <a:spcAft>
                <a:spcPct val="0"/>
              </a:spcAft>
              <a:buNone/>
            </a:pPr>
            <a:endParaRPr lang="en-US" sz="800" dirty="0"/>
          </a:p>
          <a:p>
            <a:pPr>
              <a:buNone/>
            </a:pPr>
            <a:endParaRPr lang="en-US" sz="900" dirty="0"/>
          </a:p>
        </p:txBody>
      </p:sp>
      <p:sp>
        <p:nvSpPr>
          <p:cNvPr id="5" name="Text 1">
            <a:extLst>
              <a:ext uri="{FF2B5EF4-FFF2-40B4-BE49-F238E27FC236}">
                <a16:creationId xmlns:a16="http://schemas.microsoft.com/office/drawing/2014/main" id="{39DD695E-AD37-98C1-9246-BD5EE7F6476F}"/>
              </a:ext>
            </a:extLst>
          </p:cNvPr>
          <p:cNvSpPr/>
          <p:nvPr/>
        </p:nvSpPr>
        <p:spPr>
          <a:xfrm>
            <a:off x="2421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Top 10 Customers Table Sales</a:t>
            </a:r>
            <a:endParaRPr lang="en-US" sz="2200" dirty="0"/>
          </a:p>
        </p:txBody>
      </p:sp>
    </p:spTree>
    <p:extLst>
      <p:ext uri="{BB962C8B-B14F-4D97-AF65-F5344CB8AC3E}">
        <p14:creationId xmlns:p14="http://schemas.microsoft.com/office/powerpoint/2010/main" val="29743990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Dashboard Customer Analysis — Complete View (2023)</a:t>
            </a:r>
            <a:endParaRPr lang="en-US" sz="2200" dirty="0"/>
          </a:p>
        </p:txBody>
      </p:sp>
      <p:sp>
        <p:nvSpPr>
          <p:cNvPr id="4" name="Shape 2"/>
          <p:cNvSpPr/>
          <p:nvPr/>
        </p:nvSpPr>
        <p:spPr>
          <a:xfrm>
            <a:off x="0" y="4892040"/>
            <a:ext cx="9144000" cy="251460"/>
          </a:xfrm>
          <a:prstGeom prst="rect">
            <a:avLst/>
          </a:prstGeom>
          <a:solidFill>
            <a:srgbClr val="1B3A6B"/>
          </a:solidFill>
          <a:ln/>
        </p:spPr>
      </p:sp>
      <p:pic>
        <p:nvPicPr>
          <p:cNvPr id="7" name="Image 0"/>
          <p:cNvPicPr>
            <a:picLocks noChangeAspect="1"/>
          </p:cNvPicPr>
          <p:nvPr/>
        </p:nvPicPr>
        <p:blipFill>
          <a:blip r:embed="rId3"/>
          <a:srcRect/>
          <a:stretch/>
        </p:blipFill>
        <p:spPr>
          <a:xfrm>
            <a:off x="186489" y="713232"/>
            <a:ext cx="8897353" cy="420624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5">
    <p:bg>
      <p:bgPr>
        <a:solidFill>
          <a:srgbClr val="0F2240"/>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A896"/>
          </a:solidFill>
          <a:ln/>
        </p:spPr>
      </p:sp>
      <p:sp>
        <p:nvSpPr>
          <p:cNvPr id="3" name="Text 1"/>
          <p:cNvSpPr/>
          <p:nvPr/>
        </p:nvSpPr>
        <p:spPr>
          <a:xfrm>
            <a:off x="457200" y="1645920"/>
            <a:ext cx="8229600" cy="109728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05 | Dashboard Products Analysis</a:t>
            </a:r>
            <a:endParaRPr lang="en-US" sz="4400" dirty="0"/>
          </a:p>
        </p:txBody>
      </p:sp>
      <p:sp>
        <p:nvSpPr>
          <p:cNvPr id="4" name="Text 2"/>
          <p:cNvSpPr/>
          <p:nvPr/>
        </p:nvSpPr>
        <p:spPr>
          <a:xfrm>
            <a:off x="457200" y="2834640"/>
            <a:ext cx="8229600" cy="640080"/>
          </a:xfrm>
          <a:prstGeom prst="rect">
            <a:avLst/>
          </a:prstGeom>
          <a:noFill/>
          <a:ln/>
        </p:spPr>
        <p:txBody>
          <a:bodyPr wrap="square" rtlCol="0" anchor="ctr"/>
          <a:lstStyle/>
          <a:p>
            <a:pPr marL="0" indent="0" algn="ctr">
              <a:buNone/>
            </a:pPr>
            <a:r>
              <a:rPr lang="en-US" sz="1800" dirty="0">
                <a:solidFill>
                  <a:srgbClr val="D5E8F4"/>
                </a:solidFill>
                <a:latin typeface="Calibri" pitchFamily="34" charset="0"/>
                <a:ea typeface="Calibri" pitchFamily="34" charset="-122"/>
                <a:cs typeface="Calibri" pitchFamily="34" charset="-120"/>
              </a:rPr>
              <a:t>Product KPIs · Treemap · Sales vs Target · Monthly Profit</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4" name="Shape 2"/>
          <p:cNvSpPr/>
          <p:nvPr/>
        </p:nvSpPr>
        <p:spPr>
          <a:xfrm>
            <a:off x="0" y="4971618"/>
            <a:ext cx="9144000" cy="171882"/>
          </a:xfrm>
          <a:prstGeom prst="rect">
            <a:avLst/>
          </a:prstGeom>
          <a:solidFill>
            <a:srgbClr val="1B3A6B"/>
          </a:solidFill>
          <a:ln/>
        </p:spPr>
      </p:sp>
      <p:pic>
        <p:nvPicPr>
          <p:cNvPr id="7" name="Image 0"/>
          <p:cNvPicPr>
            <a:picLocks noChangeAspect="1"/>
          </p:cNvPicPr>
          <p:nvPr/>
        </p:nvPicPr>
        <p:blipFill>
          <a:blip r:embed="rId3"/>
          <a:srcRect l="13865" r="36" b="5684"/>
          <a:stretch/>
        </p:blipFill>
        <p:spPr>
          <a:xfrm>
            <a:off x="4460361" y="673938"/>
            <a:ext cx="4604198" cy="419027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Shape 26">
            <a:extLst>
              <a:ext uri="{FF2B5EF4-FFF2-40B4-BE49-F238E27FC236}">
                <a16:creationId xmlns:a16="http://schemas.microsoft.com/office/drawing/2014/main" id="{85360445-25FE-FFC1-D7AF-4CB299EC8C90}"/>
              </a:ext>
            </a:extLst>
          </p:cNvPr>
          <p:cNvSpPr/>
          <p:nvPr/>
        </p:nvSpPr>
        <p:spPr>
          <a:xfrm>
            <a:off x="79442" y="673938"/>
            <a:ext cx="4318813" cy="4297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Rectangle 3">
            <a:extLst>
              <a:ext uri="{FF2B5EF4-FFF2-40B4-BE49-F238E27FC236}">
                <a16:creationId xmlns:a16="http://schemas.microsoft.com/office/drawing/2014/main" id="{8D04C00B-6024-3488-1EBB-498FF601CD05}"/>
              </a:ext>
            </a:extLst>
          </p:cNvPr>
          <p:cNvSpPr>
            <a:spLocks noChangeArrowheads="1"/>
          </p:cNvSpPr>
          <p:nvPr/>
        </p:nvSpPr>
        <p:spPr bwMode="auto">
          <a:xfrm>
            <a:off x="141547" y="795459"/>
            <a:ext cx="4256708" cy="3947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Which sub-category is generating the highest revenue?</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Phones lead all 17 sub-categories with $105K in sales in 2023 — by a significant margin.</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Phones are the single most important revenue driver at sub-category level. Their dominance justifies prioritizing stock, supplier negotiations, and cross-sell strategies.</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Negotiate volume discounts with phone suppliers. Bundle phones with high-margin accessories (cases, chargers, warranties) to increase per-transaction value.</a:t>
            </a:r>
          </a:p>
          <a:p>
            <a:pPr marL="0" indent="0" algn="l">
              <a:lnSpc>
                <a:spcPct val="80000"/>
              </a:lnSpc>
              <a:spcBef>
                <a:spcPts val="0"/>
              </a:spcBef>
              <a:spcAft>
                <a:spcPct val="0"/>
              </a:spcAft>
              <a:buNone/>
            </a:pPr>
            <a:endParaRPr lang="en-US" sz="800" dirty="0"/>
          </a:p>
          <a:p>
            <a:pPr>
              <a:buNone/>
            </a:pPr>
            <a:endParaRPr lang="en-US" sz="900" dirty="0"/>
          </a:p>
        </p:txBody>
      </p:sp>
      <p:sp>
        <p:nvSpPr>
          <p:cNvPr id="5" name="Text 1">
            <a:extLst>
              <a:ext uri="{FF2B5EF4-FFF2-40B4-BE49-F238E27FC236}">
                <a16:creationId xmlns:a16="http://schemas.microsoft.com/office/drawing/2014/main" id="{39DD695E-AD37-98C1-9246-BD5EE7F6476F}"/>
              </a:ext>
            </a:extLst>
          </p:cNvPr>
          <p:cNvSpPr/>
          <p:nvPr/>
        </p:nvSpPr>
        <p:spPr>
          <a:xfrm>
            <a:off x="2421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Products KPIs — Top Product KPI Card</a:t>
            </a:r>
            <a:endParaRPr lang="en-US" sz="2200" dirty="0"/>
          </a:p>
        </p:txBody>
      </p:sp>
    </p:spTree>
    <p:extLst>
      <p:ext uri="{BB962C8B-B14F-4D97-AF65-F5344CB8AC3E}">
        <p14:creationId xmlns:p14="http://schemas.microsoft.com/office/powerpoint/2010/main" val="40343227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4" name="Shape 2"/>
          <p:cNvSpPr/>
          <p:nvPr/>
        </p:nvSpPr>
        <p:spPr>
          <a:xfrm>
            <a:off x="0" y="4971618"/>
            <a:ext cx="9144000" cy="171882"/>
          </a:xfrm>
          <a:prstGeom prst="rect">
            <a:avLst/>
          </a:prstGeom>
          <a:solidFill>
            <a:srgbClr val="1B3A6B"/>
          </a:solidFill>
          <a:ln/>
        </p:spPr>
      </p:sp>
      <p:pic>
        <p:nvPicPr>
          <p:cNvPr id="7" name="Image 0"/>
          <p:cNvPicPr>
            <a:picLocks noChangeAspect="1"/>
          </p:cNvPicPr>
          <p:nvPr/>
        </p:nvPicPr>
        <p:blipFill>
          <a:blip r:embed="rId3"/>
          <a:srcRect l="13048" r="33" b="5800"/>
          <a:stretch/>
        </p:blipFill>
        <p:spPr>
          <a:xfrm>
            <a:off x="4460360" y="673938"/>
            <a:ext cx="4604198" cy="421810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Shape 26">
            <a:extLst>
              <a:ext uri="{FF2B5EF4-FFF2-40B4-BE49-F238E27FC236}">
                <a16:creationId xmlns:a16="http://schemas.microsoft.com/office/drawing/2014/main" id="{85360445-25FE-FFC1-D7AF-4CB299EC8C90}"/>
              </a:ext>
            </a:extLst>
          </p:cNvPr>
          <p:cNvSpPr/>
          <p:nvPr/>
        </p:nvSpPr>
        <p:spPr>
          <a:xfrm>
            <a:off x="79442" y="673938"/>
            <a:ext cx="4318813" cy="4297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Rectangle 3">
            <a:extLst>
              <a:ext uri="{FF2B5EF4-FFF2-40B4-BE49-F238E27FC236}">
                <a16:creationId xmlns:a16="http://schemas.microsoft.com/office/drawing/2014/main" id="{8D04C00B-6024-3488-1EBB-498FF601CD05}"/>
              </a:ext>
            </a:extLst>
          </p:cNvPr>
          <p:cNvSpPr>
            <a:spLocks noChangeArrowheads="1"/>
          </p:cNvSpPr>
          <p:nvPr/>
        </p:nvSpPr>
        <p:spPr bwMode="auto">
          <a:xfrm>
            <a:off x="141547" y="760835"/>
            <a:ext cx="4256708" cy="4016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Which product category leads in total revenue?</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Technology generates $272K — the top category at 37% of all sales, driven by Phones and Copiers.</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Copiers have the highest profit-to-sales ratio in the entire dataset, making Technology not just the revenue leader but also a key profit contributor.</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Increase focus on Copiers as a strategic growth product. Allocate more marketing budget to Technology bundles (Phone + Accessories + Support contracts).</a:t>
            </a:r>
          </a:p>
          <a:p>
            <a:pPr marL="0" indent="0" algn="l">
              <a:lnSpc>
                <a:spcPct val="80000"/>
              </a:lnSpc>
              <a:spcBef>
                <a:spcPts val="0"/>
              </a:spcBef>
              <a:spcAft>
                <a:spcPct val="0"/>
              </a:spcAft>
              <a:buNone/>
            </a:pPr>
            <a:endParaRPr lang="en-US" sz="800" dirty="0"/>
          </a:p>
          <a:p>
            <a:pPr>
              <a:buNone/>
            </a:pPr>
            <a:endParaRPr lang="en-US" sz="900" dirty="0"/>
          </a:p>
        </p:txBody>
      </p:sp>
      <p:sp>
        <p:nvSpPr>
          <p:cNvPr id="5" name="Text 1">
            <a:extLst>
              <a:ext uri="{FF2B5EF4-FFF2-40B4-BE49-F238E27FC236}">
                <a16:creationId xmlns:a16="http://schemas.microsoft.com/office/drawing/2014/main" id="{39DD695E-AD37-98C1-9246-BD5EE7F6476F}"/>
              </a:ext>
            </a:extLst>
          </p:cNvPr>
          <p:cNvSpPr/>
          <p:nvPr/>
        </p:nvSpPr>
        <p:spPr>
          <a:xfrm>
            <a:off x="2421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Products KPIs — Highest Revenue Category KPI Card</a:t>
            </a:r>
            <a:endParaRPr lang="en-US" sz="2200" dirty="0"/>
          </a:p>
        </p:txBody>
      </p:sp>
    </p:spTree>
    <p:extLst>
      <p:ext uri="{BB962C8B-B14F-4D97-AF65-F5344CB8AC3E}">
        <p14:creationId xmlns:p14="http://schemas.microsoft.com/office/powerpoint/2010/main" val="31812341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4" name="Shape 2"/>
          <p:cNvSpPr/>
          <p:nvPr/>
        </p:nvSpPr>
        <p:spPr>
          <a:xfrm>
            <a:off x="0" y="4971618"/>
            <a:ext cx="9144000" cy="171882"/>
          </a:xfrm>
          <a:prstGeom prst="rect">
            <a:avLst/>
          </a:prstGeom>
          <a:solidFill>
            <a:srgbClr val="1B3A6B"/>
          </a:solidFill>
          <a:ln/>
        </p:spPr>
      </p:sp>
      <p:pic>
        <p:nvPicPr>
          <p:cNvPr id="7" name="Image 0"/>
          <p:cNvPicPr>
            <a:picLocks noChangeAspect="1"/>
          </p:cNvPicPr>
          <p:nvPr/>
        </p:nvPicPr>
        <p:blipFill>
          <a:blip r:embed="rId3"/>
          <a:srcRect l="13630" r="198" b="5800"/>
          <a:stretch/>
        </p:blipFill>
        <p:spPr>
          <a:xfrm>
            <a:off x="4477697" y="673938"/>
            <a:ext cx="4586861" cy="421810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Shape 26">
            <a:extLst>
              <a:ext uri="{FF2B5EF4-FFF2-40B4-BE49-F238E27FC236}">
                <a16:creationId xmlns:a16="http://schemas.microsoft.com/office/drawing/2014/main" id="{85360445-25FE-FFC1-D7AF-4CB299EC8C90}"/>
              </a:ext>
            </a:extLst>
          </p:cNvPr>
          <p:cNvSpPr/>
          <p:nvPr/>
        </p:nvSpPr>
        <p:spPr>
          <a:xfrm>
            <a:off x="62105" y="685800"/>
            <a:ext cx="4318813" cy="42976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Rectangle 3">
            <a:extLst>
              <a:ext uri="{FF2B5EF4-FFF2-40B4-BE49-F238E27FC236}">
                <a16:creationId xmlns:a16="http://schemas.microsoft.com/office/drawing/2014/main" id="{8D04C00B-6024-3488-1EBB-498FF601CD05}"/>
              </a:ext>
            </a:extLst>
          </p:cNvPr>
          <p:cNvSpPr>
            <a:spLocks noChangeArrowheads="1"/>
          </p:cNvSpPr>
          <p:nvPr/>
        </p:nvSpPr>
        <p:spPr bwMode="auto">
          <a:xfrm>
            <a:off x="141547" y="710821"/>
            <a:ext cx="4256708" cy="4116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How much profit does the business earn on an average order?</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Average profit per order is $28.21, against an average order value of ~$434 — a margin of approximately 6.5%.</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A 6.5% average margin is thin. Any increase in discounting, shipping costs, or returns can easily push individual orders into loss territory.</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Set an initial minimum 10% profit margin floor per order (current avg: 6.5%), targeting 15% within 18 months. Remove discounts on high-demand products like Phones and Chairs where demand is inelastic. Target $35+ average profit per order within 12 months.</a:t>
            </a:r>
          </a:p>
          <a:p>
            <a:pPr marL="0" indent="0" algn="l">
              <a:lnSpc>
                <a:spcPct val="80000"/>
              </a:lnSpc>
              <a:spcBef>
                <a:spcPts val="0"/>
              </a:spcBef>
              <a:spcAft>
                <a:spcPct val="0"/>
              </a:spcAft>
              <a:buNone/>
            </a:pPr>
            <a:endParaRPr lang="en-US" sz="800" dirty="0"/>
          </a:p>
          <a:p>
            <a:pPr>
              <a:buNone/>
            </a:pPr>
            <a:endParaRPr lang="en-US" sz="900" dirty="0"/>
          </a:p>
        </p:txBody>
      </p:sp>
      <p:sp>
        <p:nvSpPr>
          <p:cNvPr id="5" name="Text 1">
            <a:extLst>
              <a:ext uri="{FF2B5EF4-FFF2-40B4-BE49-F238E27FC236}">
                <a16:creationId xmlns:a16="http://schemas.microsoft.com/office/drawing/2014/main" id="{39DD695E-AD37-98C1-9246-BD5EE7F6476F}"/>
              </a:ext>
            </a:extLst>
          </p:cNvPr>
          <p:cNvSpPr/>
          <p:nvPr/>
        </p:nvSpPr>
        <p:spPr>
          <a:xfrm>
            <a:off x="2421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Products KPIs — Average Profit KPI Card</a:t>
            </a:r>
            <a:endParaRPr lang="en-US" sz="2200" dirty="0"/>
          </a:p>
        </p:txBody>
      </p:sp>
    </p:spTree>
    <p:extLst>
      <p:ext uri="{BB962C8B-B14F-4D97-AF65-F5344CB8AC3E}">
        <p14:creationId xmlns:p14="http://schemas.microsoft.com/office/powerpoint/2010/main" val="4553890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4" name="Shape 2"/>
          <p:cNvSpPr/>
          <p:nvPr/>
        </p:nvSpPr>
        <p:spPr>
          <a:xfrm>
            <a:off x="0" y="4971618"/>
            <a:ext cx="9144000" cy="171882"/>
          </a:xfrm>
          <a:prstGeom prst="rect">
            <a:avLst/>
          </a:prstGeom>
          <a:solidFill>
            <a:srgbClr val="1B3A6B"/>
          </a:solidFill>
          <a:ln/>
        </p:spPr>
      </p:sp>
      <p:pic>
        <p:nvPicPr>
          <p:cNvPr id="7" name="Image 0"/>
          <p:cNvPicPr>
            <a:picLocks noChangeAspect="1"/>
          </p:cNvPicPr>
          <p:nvPr/>
        </p:nvPicPr>
        <p:blipFill>
          <a:blip r:embed="rId3"/>
          <a:srcRect l="12682" r="65" b="6416"/>
          <a:stretch/>
        </p:blipFill>
        <p:spPr>
          <a:xfrm>
            <a:off x="4460360" y="673938"/>
            <a:ext cx="4621535" cy="42976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Shape 26">
            <a:extLst>
              <a:ext uri="{FF2B5EF4-FFF2-40B4-BE49-F238E27FC236}">
                <a16:creationId xmlns:a16="http://schemas.microsoft.com/office/drawing/2014/main" id="{85360445-25FE-FFC1-D7AF-4CB299EC8C90}"/>
              </a:ext>
            </a:extLst>
          </p:cNvPr>
          <p:cNvSpPr/>
          <p:nvPr/>
        </p:nvSpPr>
        <p:spPr>
          <a:xfrm>
            <a:off x="62105" y="630026"/>
            <a:ext cx="4318813" cy="4341591"/>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Rectangle 3">
            <a:extLst>
              <a:ext uri="{FF2B5EF4-FFF2-40B4-BE49-F238E27FC236}">
                <a16:creationId xmlns:a16="http://schemas.microsoft.com/office/drawing/2014/main" id="{8D04C00B-6024-3488-1EBB-498FF601CD05}"/>
              </a:ext>
            </a:extLst>
          </p:cNvPr>
          <p:cNvSpPr>
            <a:spLocks noChangeArrowheads="1"/>
          </p:cNvSpPr>
          <p:nvPr/>
        </p:nvSpPr>
        <p:spPr bwMode="auto">
          <a:xfrm>
            <a:off x="141547" y="630027"/>
            <a:ext cx="4256708"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What does the full product portfolio look like in terms of relative sales contribution?</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Phones ($105K) is the largest box. Chairs ($96K) and Binders ($73K) follow. Tables, Fasteners, and Envelopes are nearly invisible.</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Extreme imbalance in the product portfolio — a handful of sub-categories drive most revenue. The Treemap shows sales size only; Tables ($61K) looks significant here, but cross-referencing with the Sales vs Profit chart reveals it is profit-negative — the Treemap alone is misleading for Tables.</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Use the treemap as a portfolio rationalization tool. Any sub-category too small to read should be evaluated for discontinuation. Reprice or eliminate Tables entirely.</a:t>
            </a:r>
          </a:p>
          <a:p>
            <a:pPr marL="0" indent="0" algn="l">
              <a:lnSpc>
                <a:spcPct val="80000"/>
              </a:lnSpc>
              <a:spcBef>
                <a:spcPts val="0"/>
              </a:spcBef>
              <a:spcAft>
                <a:spcPct val="0"/>
              </a:spcAft>
              <a:buNone/>
            </a:pPr>
            <a:endParaRPr lang="en-US" sz="800" dirty="0"/>
          </a:p>
          <a:p>
            <a:pPr>
              <a:buNone/>
            </a:pPr>
            <a:endParaRPr lang="en-US" sz="900" dirty="0"/>
          </a:p>
        </p:txBody>
      </p:sp>
      <p:sp>
        <p:nvSpPr>
          <p:cNvPr id="5" name="Text 1">
            <a:extLst>
              <a:ext uri="{FF2B5EF4-FFF2-40B4-BE49-F238E27FC236}">
                <a16:creationId xmlns:a16="http://schemas.microsoft.com/office/drawing/2014/main" id="{39DD695E-AD37-98C1-9246-BD5EE7F6476F}"/>
              </a:ext>
            </a:extLst>
          </p:cNvPr>
          <p:cNvSpPr/>
          <p:nvPr/>
        </p:nvSpPr>
        <p:spPr>
          <a:xfrm>
            <a:off x="2421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 Tree map — Category &amp; Sub-Category Hierarchy</a:t>
            </a:r>
            <a:endParaRPr lang="en-US" sz="2200" dirty="0"/>
          </a:p>
        </p:txBody>
      </p:sp>
    </p:spTree>
    <p:extLst>
      <p:ext uri="{BB962C8B-B14F-4D97-AF65-F5344CB8AC3E}">
        <p14:creationId xmlns:p14="http://schemas.microsoft.com/office/powerpoint/2010/main" val="9671628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4" name="Shape 2"/>
          <p:cNvSpPr/>
          <p:nvPr/>
        </p:nvSpPr>
        <p:spPr>
          <a:xfrm>
            <a:off x="0" y="4971618"/>
            <a:ext cx="9144000" cy="171882"/>
          </a:xfrm>
          <a:prstGeom prst="rect">
            <a:avLst/>
          </a:prstGeom>
          <a:solidFill>
            <a:srgbClr val="1B3A6B"/>
          </a:solidFill>
          <a:ln/>
        </p:spPr>
      </p:sp>
      <p:pic>
        <p:nvPicPr>
          <p:cNvPr id="7" name="Image 0"/>
          <p:cNvPicPr>
            <a:picLocks noChangeAspect="1"/>
          </p:cNvPicPr>
          <p:nvPr/>
        </p:nvPicPr>
        <p:blipFill>
          <a:blip r:embed="rId3"/>
          <a:srcRect l="13050" r="424" b="5848"/>
          <a:stretch/>
        </p:blipFill>
        <p:spPr>
          <a:xfrm>
            <a:off x="4398256" y="673938"/>
            <a:ext cx="4683640" cy="42976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Shape 26">
            <a:extLst>
              <a:ext uri="{FF2B5EF4-FFF2-40B4-BE49-F238E27FC236}">
                <a16:creationId xmlns:a16="http://schemas.microsoft.com/office/drawing/2014/main" id="{85360445-25FE-FFC1-D7AF-4CB299EC8C90}"/>
              </a:ext>
            </a:extLst>
          </p:cNvPr>
          <p:cNvSpPr/>
          <p:nvPr/>
        </p:nvSpPr>
        <p:spPr>
          <a:xfrm>
            <a:off x="62105" y="630026"/>
            <a:ext cx="4318813" cy="4341591"/>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Rectangle 3">
            <a:extLst>
              <a:ext uri="{FF2B5EF4-FFF2-40B4-BE49-F238E27FC236}">
                <a16:creationId xmlns:a16="http://schemas.microsoft.com/office/drawing/2014/main" id="{8D04C00B-6024-3488-1EBB-498FF601CD05}"/>
              </a:ext>
            </a:extLst>
          </p:cNvPr>
          <p:cNvSpPr>
            <a:spLocks noChangeArrowheads="1"/>
          </p:cNvSpPr>
          <p:nvPr/>
        </p:nvSpPr>
        <p:spPr bwMode="auto">
          <a:xfrm>
            <a:off x="124210" y="745455"/>
            <a:ext cx="4256708"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Is the business hitting its monthly sales targets, and where are the biggest gaps?</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The company had mixed target performance in 2023. Five months exceeded their targets: January ($44K vs $22K), June ($53K vs $48K), September ($63K vs $37K), October ($88K vs $72K), and November ($118K vs $95K). Four months significantly missed: February ($20K vs $28K), March ($59K vs $62K), May ($44K vs $68K), and December ($84K vs $116K).</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Performance is polarized: Q1 and Q2 show the worst misses (May gap = -$24K), while Q3 and Q4 show the strongest outperformance. The pattern suggests seasonal demand is not yet matched by seasonal planning.</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Pre-plan inventory and campaigns for Q1/Q2 where misses are concentrated. Investigate what drives Q3/Q4 outperformance (Sep +$26K above target) and replicate those conditions earlier in the year. Implement monthly target reviews with automated alerts.</a:t>
            </a:r>
          </a:p>
          <a:p>
            <a:pPr marL="0" indent="0" algn="l">
              <a:lnSpc>
                <a:spcPct val="80000"/>
              </a:lnSpc>
              <a:spcBef>
                <a:spcPts val="0"/>
              </a:spcBef>
              <a:spcAft>
                <a:spcPct val="0"/>
              </a:spcAft>
              <a:buNone/>
            </a:pPr>
            <a:endParaRPr lang="en-US" sz="800" dirty="0"/>
          </a:p>
          <a:p>
            <a:pPr>
              <a:buNone/>
            </a:pPr>
            <a:endParaRPr lang="en-US" sz="900" dirty="0"/>
          </a:p>
        </p:txBody>
      </p:sp>
      <p:sp>
        <p:nvSpPr>
          <p:cNvPr id="5" name="Text 1">
            <a:extLst>
              <a:ext uri="{FF2B5EF4-FFF2-40B4-BE49-F238E27FC236}">
                <a16:creationId xmlns:a16="http://schemas.microsoft.com/office/drawing/2014/main" id="{39DD695E-AD37-98C1-9246-BD5EE7F6476F}"/>
              </a:ext>
            </a:extLst>
          </p:cNvPr>
          <p:cNvSpPr/>
          <p:nvPr/>
        </p:nvSpPr>
        <p:spPr>
          <a:xfrm>
            <a:off x="2421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Monthly Sales vs. Target — Gap Analysis (2023)</a:t>
            </a:r>
            <a:endParaRPr lang="en-US" sz="2200" dirty="0"/>
          </a:p>
        </p:txBody>
      </p:sp>
    </p:spTree>
    <p:extLst>
      <p:ext uri="{BB962C8B-B14F-4D97-AF65-F5344CB8AC3E}">
        <p14:creationId xmlns:p14="http://schemas.microsoft.com/office/powerpoint/2010/main" val="35894422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4" name="Shape 2"/>
          <p:cNvSpPr/>
          <p:nvPr/>
        </p:nvSpPr>
        <p:spPr>
          <a:xfrm>
            <a:off x="0" y="4971618"/>
            <a:ext cx="9144000" cy="171882"/>
          </a:xfrm>
          <a:prstGeom prst="rect">
            <a:avLst/>
          </a:prstGeom>
          <a:solidFill>
            <a:srgbClr val="1B3A6B"/>
          </a:solidFill>
          <a:ln/>
        </p:spPr>
      </p:sp>
      <p:pic>
        <p:nvPicPr>
          <p:cNvPr id="7" name="Image 0"/>
          <p:cNvPicPr>
            <a:picLocks noChangeAspect="1"/>
          </p:cNvPicPr>
          <p:nvPr/>
        </p:nvPicPr>
        <p:blipFill>
          <a:blip r:embed="rId3"/>
          <a:srcRect l="13051" r="-64" b="7142"/>
          <a:stretch/>
        </p:blipFill>
        <p:spPr>
          <a:xfrm>
            <a:off x="4380919" y="673937"/>
            <a:ext cx="4594640" cy="42265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Shape 26">
            <a:extLst>
              <a:ext uri="{FF2B5EF4-FFF2-40B4-BE49-F238E27FC236}">
                <a16:creationId xmlns:a16="http://schemas.microsoft.com/office/drawing/2014/main" id="{85360445-25FE-FFC1-D7AF-4CB299EC8C90}"/>
              </a:ext>
            </a:extLst>
          </p:cNvPr>
          <p:cNvSpPr/>
          <p:nvPr/>
        </p:nvSpPr>
        <p:spPr>
          <a:xfrm>
            <a:off x="0" y="611111"/>
            <a:ext cx="4318813" cy="4341591"/>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Rectangle 3">
            <a:extLst>
              <a:ext uri="{FF2B5EF4-FFF2-40B4-BE49-F238E27FC236}">
                <a16:creationId xmlns:a16="http://schemas.microsoft.com/office/drawing/2014/main" id="{8D04C00B-6024-3488-1EBB-498FF601CD05}"/>
              </a:ext>
            </a:extLst>
          </p:cNvPr>
          <p:cNvSpPr>
            <a:spLocks noChangeArrowheads="1"/>
          </p:cNvSpPr>
          <p:nvPr/>
        </p:nvSpPr>
        <p:spPr bwMode="auto">
          <a:xfrm>
            <a:off x="62105" y="741982"/>
            <a:ext cx="4256708" cy="410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For each sub-category, how does profit compare to sales — which are truly profitable?</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Phones, Chairs, and Copiers show strong profit bars. Tables has a near-zero or negative profit bar. Bottom sub-categories show both low sales and low profit.</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This chart exposes the 'revenue illusion' — Tables looks valuable in sales but destroys margin. Copiers deliver a much higher profit-to-sales ratio than Phones.</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Rank sub-categories by profit margin, not just sales. Invest in growing Copiers. Immediately address Tables. Evaluate bottom sub-categories for bundling or discontinuation.</a:t>
            </a:r>
          </a:p>
          <a:p>
            <a:pPr marL="0" indent="0" algn="l">
              <a:lnSpc>
                <a:spcPct val="80000"/>
              </a:lnSpc>
              <a:spcBef>
                <a:spcPts val="0"/>
              </a:spcBef>
              <a:spcAft>
                <a:spcPct val="0"/>
              </a:spcAft>
              <a:buNone/>
            </a:pPr>
            <a:endParaRPr lang="en-US" sz="800" dirty="0"/>
          </a:p>
          <a:p>
            <a:pPr>
              <a:buNone/>
            </a:pPr>
            <a:endParaRPr lang="en-US" sz="900" dirty="0"/>
          </a:p>
        </p:txBody>
      </p:sp>
      <p:sp>
        <p:nvSpPr>
          <p:cNvPr id="5" name="Text 1">
            <a:extLst>
              <a:ext uri="{FF2B5EF4-FFF2-40B4-BE49-F238E27FC236}">
                <a16:creationId xmlns:a16="http://schemas.microsoft.com/office/drawing/2014/main" id="{39DD695E-AD37-98C1-9246-BD5EE7F6476F}"/>
              </a:ext>
            </a:extLst>
          </p:cNvPr>
          <p:cNvSpPr/>
          <p:nvPr/>
        </p:nvSpPr>
        <p:spPr>
          <a:xfrm>
            <a:off x="2421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Sales vs. Profit per Sub-Category </a:t>
            </a:r>
            <a:endParaRPr lang="en-US" sz="2200" dirty="0"/>
          </a:p>
        </p:txBody>
      </p:sp>
    </p:spTree>
    <p:extLst>
      <p:ext uri="{BB962C8B-B14F-4D97-AF65-F5344CB8AC3E}">
        <p14:creationId xmlns:p14="http://schemas.microsoft.com/office/powerpoint/2010/main" val="7177826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4" name="Shape 2"/>
          <p:cNvSpPr/>
          <p:nvPr/>
        </p:nvSpPr>
        <p:spPr>
          <a:xfrm>
            <a:off x="0" y="4971618"/>
            <a:ext cx="9144000" cy="171882"/>
          </a:xfrm>
          <a:prstGeom prst="rect">
            <a:avLst/>
          </a:prstGeom>
          <a:solidFill>
            <a:srgbClr val="1B3A6B"/>
          </a:solidFill>
          <a:ln/>
        </p:spPr>
      </p:sp>
      <p:pic>
        <p:nvPicPr>
          <p:cNvPr id="7" name="Image 0"/>
          <p:cNvPicPr>
            <a:picLocks noChangeAspect="1"/>
          </p:cNvPicPr>
          <p:nvPr/>
        </p:nvPicPr>
        <p:blipFill>
          <a:blip r:embed="rId3"/>
          <a:srcRect l="13417" r="-167" b="6017"/>
          <a:stretch/>
        </p:blipFill>
        <p:spPr>
          <a:xfrm>
            <a:off x="4318814" y="640080"/>
            <a:ext cx="4763082" cy="42858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Shape 26">
            <a:extLst>
              <a:ext uri="{FF2B5EF4-FFF2-40B4-BE49-F238E27FC236}">
                <a16:creationId xmlns:a16="http://schemas.microsoft.com/office/drawing/2014/main" id="{85360445-25FE-FFC1-D7AF-4CB299EC8C90}"/>
              </a:ext>
            </a:extLst>
          </p:cNvPr>
          <p:cNvSpPr/>
          <p:nvPr/>
        </p:nvSpPr>
        <p:spPr>
          <a:xfrm>
            <a:off x="1" y="611111"/>
            <a:ext cx="4241132" cy="4341591"/>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Rectangle 3">
            <a:extLst>
              <a:ext uri="{FF2B5EF4-FFF2-40B4-BE49-F238E27FC236}">
                <a16:creationId xmlns:a16="http://schemas.microsoft.com/office/drawing/2014/main" id="{8D04C00B-6024-3488-1EBB-498FF601CD05}"/>
              </a:ext>
            </a:extLst>
          </p:cNvPr>
          <p:cNvSpPr>
            <a:spLocks noChangeArrowheads="1"/>
          </p:cNvSpPr>
          <p:nvPr/>
        </p:nvSpPr>
        <p:spPr bwMode="auto">
          <a:xfrm>
            <a:off x="62105" y="698607"/>
            <a:ext cx="4256708" cy="3954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Business Question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How does profit accumulate month by month, and are there months where it declines?</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Answer</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Total 2023 profit = $93K. December is the highest single month ($8.48K), March the strongest mid-year contributor ($14.75K). April drops to $0.93K and August slows to $6.95K — confirming mid-year fragility. Most months are profitable (dark navy); light blue bars mark the weakest months.</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Insight</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Profit momentum is fragile in certain months — particularly mid-year. A single bad month can erase weeks of accumulated gains. Q4 is where most profit is built.</a:t>
            </a:r>
          </a:p>
          <a:p>
            <a:pPr marL="0" indent="0" algn="l">
              <a:lnSpc>
                <a:spcPct val="80000"/>
              </a:lnSpc>
              <a:spcBef>
                <a:spcPts val="0"/>
              </a:spcBef>
              <a:spcAft>
                <a:spcPct val="0"/>
              </a:spcAft>
              <a:buNone/>
            </a:pPr>
            <a:endParaRPr lang="en-US" sz="800" dirty="0"/>
          </a:p>
          <a:p>
            <a:pPr marL="0" marR="0" lvl="0" indent="0" algn="l" defTabSz="914400" rtl="0" eaLnBrk="0" fontAlgn="base" latinLnBrk="0" hangingPunct="0">
              <a:lnSpc>
                <a:spcPct val="115000"/>
              </a:lnSpc>
              <a:spcBef>
                <a:spcPts val="120"/>
              </a:spcBef>
              <a:spcAft>
                <a:spcPct val="0"/>
              </a:spcAft>
              <a:buClrTx/>
              <a:buSzTx/>
              <a:buFontTx/>
              <a:buNone/>
            </a:pPr>
            <a:r>
              <a:rPr kumimoji="0" lang="en-US" altLang="en-US" sz="1150" b="1" i="0" u="none" strike="noStrike" cap="none" normalizeH="0" baseline="0" dirty="0">
                <a:ln>
                  <a:noFill/>
                </a:ln>
                <a:solidFill>
                  <a:srgbClr val="1B3A6B"/>
                </a:solidFill>
                <a:effectLst/>
                <a:cs typeface="Calibri" pitchFamily="34" charset="0"/>
              </a:rPr>
              <a:t>Recommendation</a:t>
            </a:r>
          </a:p>
          <a:p>
            <a:pPr marL="0" marR="0" lvl="0" indent="0" algn="l" defTabSz="914400" rtl="0" eaLnBrk="0" fontAlgn="base" latinLnBrk="0" hangingPunct="0">
              <a:lnSpc>
                <a:spcPct val="115000"/>
              </a:lnSpc>
              <a:spcBef>
                <a:spcPts val="120"/>
              </a:spcBef>
              <a:spcAft>
                <a:spcPct val="0"/>
              </a:spcAft>
              <a:buClrTx/>
              <a:buSzTx/>
              <a:buFontTx/>
              <a:buChar char="•"/>
            </a:pPr>
            <a:r>
              <a:rPr kumimoji="0" lang="en-US" altLang="en-US" sz="1050" b="0" i="0" u="none" strike="noStrike" cap="none" normalizeH="0" baseline="0" dirty="0">
                <a:ln>
                  <a:noFill/>
                </a:ln>
                <a:solidFill>
                  <a:srgbClr val="2D3748"/>
                </a:solidFill>
                <a:effectLst/>
                <a:cs typeface="Calibri" pitchFamily="34" charset="0"/>
              </a:rPr>
              <a:t>Protect mid-year profit by reducing unnecessary discounting in June-August. Build financial buffers during Q4 peaks to cushion Q1 softness. Use this chart to catch erosion early.</a:t>
            </a:r>
          </a:p>
          <a:p>
            <a:pPr marL="0" indent="0" algn="l">
              <a:lnSpc>
                <a:spcPct val="80000"/>
              </a:lnSpc>
              <a:spcBef>
                <a:spcPts val="0"/>
              </a:spcBef>
              <a:spcAft>
                <a:spcPct val="0"/>
              </a:spcAft>
              <a:buNone/>
            </a:pPr>
            <a:endParaRPr lang="en-US" sz="800" dirty="0"/>
          </a:p>
          <a:p>
            <a:pPr>
              <a:buNone/>
            </a:pPr>
            <a:endParaRPr lang="en-US" sz="900" dirty="0"/>
          </a:p>
        </p:txBody>
      </p:sp>
      <p:sp>
        <p:nvSpPr>
          <p:cNvPr id="5" name="Text 1">
            <a:extLst>
              <a:ext uri="{FF2B5EF4-FFF2-40B4-BE49-F238E27FC236}">
                <a16:creationId xmlns:a16="http://schemas.microsoft.com/office/drawing/2014/main" id="{39DD695E-AD37-98C1-9246-BD5EE7F6476F}"/>
              </a:ext>
            </a:extLst>
          </p:cNvPr>
          <p:cNvSpPr/>
          <p:nvPr/>
        </p:nvSpPr>
        <p:spPr>
          <a:xfrm>
            <a:off x="2421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Monthly Profit Waterfall Chart — Profit Distribution Across 2023</a:t>
            </a:r>
            <a:endParaRPr lang="en-US" sz="2200" dirty="0"/>
          </a:p>
        </p:txBody>
      </p:sp>
    </p:spTree>
    <p:extLst>
      <p:ext uri="{BB962C8B-B14F-4D97-AF65-F5344CB8AC3E}">
        <p14:creationId xmlns:p14="http://schemas.microsoft.com/office/powerpoint/2010/main" val="22961537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Dashboard Products Analysis — Complete View (2023)</a:t>
            </a:r>
            <a:endParaRPr lang="en-US" sz="2200" dirty="0"/>
          </a:p>
        </p:txBody>
      </p:sp>
      <p:sp>
        <p:nvSpPr>
          <p:cNvPr id="4" name="Shape 2"/>
          <p:cNvSpPr/>
          <p:nvPr/>
        </p:nvSpPr>
        <p:spPr>
          <a:xfrm>
            <a:off x="0" y="4892040"/>
            <a:ext cx="9144000" cy="251460"/>
          </a:xfrm>
          <a:prstGeom prst="rect">
            <a:avLst/>
          </a:prstGeom>
          <a:solidFill>
            <a:srgbClr val="1B3A6B"/>
          </a:solidFill>
          <a:ln/>
        </p:spPr>
      </p:sp>
      <p:pic>
        <p:nvPicPr>
          <p:cNvPr id="9" name="Picture 8">
            <a:extLst>
              <a:ext uri="{FF2B5EF4-FFF2-40B4-BE49-F238E27FC236}">
                <a16:creationId xmlns:a16="http://schemas.microsoft.com/office/drawing/2014/main" id="{31F69E54-943C-BB82-4C16-D5905FF11F9F}"/>
              </a:ext>
            </a:extLst>
          </p:cNvPr>
          <p:cNvPicPr>
            <a:picLocks noChangeAspect="1"/>
          </p:cNvPicPr>
          <p:nvPr/>
        </p:nvPicPr>
        <p:blipFill>
          <a:blip r:embed="rId3"/>
          <a:stretch>
            <a:fillRect/>
          </a:stretch>
        </p:blipFill>
        <p:spPr>
          <a:xfrm>
            <a:off x="91440" y="685799"/>
            <a:ext cx="9052560" cy="421538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3">
    <p:bg>
      <p:bgPr>
        <a:solidFill>
          <a:srgbClr val="0F2240"/>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A896"/>
          </a:solidFill>
          <a:ln/>
        </p:spPr>
      </p:sp>
      <p:sp>
        <p:nvSpPr>
          <p:cNvPr id="3" name="Text 1"/>
          <p:cNvSpPr/>
          <p:nvPr/>
        </p:nvSpPr>
        <p:spPr>
          <a:xfrm>
            <a:off x="457200" y="1645920"/>
            <a:ext cx="8229600" cy="109728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06 | Key Findings &amp; Insights</a:t>
            </a:r>
            <a:endParaRPr lang="en-US" sz="4400" dirty="0"/>
          </a:p>
        </p:txBody>
      </p:sp>
      <p:sp>
        <p:nvSpPr>
          <p:cNvPr id="4" name="Text 2"/>
          <p:cNvSpPr/>
          <p:nvPr/>
        </p:nvSpPr>
        <p:spPr>
          <a:xfrm>
            <a:off x="457200" y="2834640"/>
            <a:ext cx="8229600" cy="640080"/>
          </a:xfrm>
          <a:prstGeom prst="rect">
            <a:avLst/>
          </a:prstGeom>
          <a:noFill/>
          <a:ln/>
        </p:spPr>
        <p:txBody>
          <a:bodyPr wrap="square" rtlCol="0" anchor="ctr"/>
          <a:lstStyle/>
          <a:p>
            <a:pPr marL="0" indent="0" algn="ctr">
              <a:buNone/>
            </a:pPr>
            <a:r>
              <a:rPr lang="en-US" sz="1800" dirty="0">
                <a:solidFill>
                  <a:srgbClr val="D5E8F4"/>
                </a:solidFill>
                <a:latin typeface="Calibri" pitchFamily="34" charset="0"/>
                <a:ea typeface="Calibri" pitchFamily="34" charset="-122"/>
                <a:cs typeface="Calibri" pitchFamily="34" charset="-120"/>
              </a:rPr>
              <a:t>Sales · Customer · Product · Regional · Temporal</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Key Findings — Sales Performance (2023)</a:t>
            </a:r>
            <a:endParaRPr lang="en-US" sz="2200" dirty="0"/>
          </a:p>
        </p:txBody>
      </p:sp>
      <p:sp>
        <p:nvSpPr>
          <p:cNvPr id="4" name="Shape 2"/>
          <p:cNvSpPr/>
          <p:nvPr/>
        </p:nvSpPr>
        <p:spPr>
          <a:xfrm>
            <a:off x="0" y="4892040"/>
            <a:ext cx="9144000" cy="251460"/>
          </a:xfrm>
          <a:prstGeom prst="rect">
            <a:avLst/>
          </a:prstGeom>
          <a:solidFill>
            <a:srgbClr val="1B3A6B"/>
          </a:solidFill>
          <a:ln/>
        </p:spPr>
      </p:sp>
      <p:sp>
        <p:nvSpPr>
          <p:cNvPr id="7" name="Shape 5"/>
          <p:cNvSpPr/>
          <p:nvPr/>
        </p:nvSpPr>
        <p:spPr>
          <a:xfrm>
            <a:off x="274320" y="749808"/>
            <a:ext cx="4251960" cy="126187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8" name="Shape 6"/>
          <p:cNvSpPr/>
          <p:nvPr/>
        </p:nvSpPr>
        <p:spPr>
          <a:xfrm>
            <a:off x="274320" y="749808"/>
            <a:ext cx="4251960" cy="54864"/>
          </a:xfrm>
          <a:prstGeom prst="rect">
            <a:avLst/>
          </a:prstGeom>
          <a:solidFill>
            <a:srgbClr val="F59E0B"/>
          </a:solidFill>
          <a:ln/>
        </p:spPr>
      </p:sp>
      <p:sp>
        <p:nvSpPr>
          <p:cNvPr id="9" name="Text 7"/>
          <p:cNvSpPr/>
          <p:nvPr/>
        </p:nvSpPr>
        <p:spPr>
          <a:xfrm>
            <a:off x="411480" y="859536"/>
            <a:ext cx="3383280" cy="256032"/>
          </a:xfrm>
          <a:prstGeom prst="rect">
            <a:avLst/>
          </a:prstGeom>
          <a:noFill/>
          <a:ln/>
        </p:spPr>
        <p:txBody>
          <a:bodyPr wrap="square" lIns="0" tIns="0" rIns="0" bIns="0" rtlCol="0" anchor="ctr"/>
          <a:lstStyle/>
          <a:p>
            <a:pPr marL="0" indent="0">
              <a:buNone/>
            </a:pPr>
            <a:r>
              <a:rPr lang="en-US" sz="1150" b="1" dirty="0">
                <a:solidFill>
                  <a:srgbClr val="1B3A6B"/>
                </a:solidFill>
                <a:latin typeface="Calibri" pitchFamily="34" charset="0"/>
                <a:ea typeface="Calibri" pitchFamily="34" charset="-122"/>
                <a:cs typeface="Calibri" pitchFamily="34" charset="-120"/>
              </a:rPr>
              <a:t>📈  Best Year on Record</a:t>
            </a:r>
            <a:endParaRPr lang="en-US" sz="1150" dirty="0"/>
          </a:p>
        </p:txBody>
      </p:sp>
      <p:sp>
        <p:nvSpPr>
          <p:cNvPr id="10" name="Shape 8"/>
          <p:cNvSpPr/>
          <p:nvPr/>
        </p:nvSpPr>
        <p:spPr>
          <a:xfrm>
            <a:off x="3886200" y="841248"/>
            <a:ext cx="502920" cy="256032"/>
          </a:xfrm>
          <a:prstGeom prst="rect">
            <a:avLst/>
          </a:prstGeom>
          <a:solidFill>
            <a:srgbClr val="F59E0B"/>
          </a:solidFill>
          <a:ln/>
        </p:spPr>
      </p:sp>
      <p:sp>
        <p:nvSpPr>
          <p:cNvPr id="11" name="Text 9"/>
          <p:cNvSpPr/>
          <p:nvPr/>
        </p:nvSpPr>
        <p:spPr>
          <a:xfrm>
            <a:off x="3886200" y="841248"/>
            <a:ext cx="50292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12" name="Text 10"/>
          <p:cNvSpPr/>
          <p:nvPr/>
        </p:nvSpPr>
        <p:spPr>
          <a:xfrm>
            <a:off x="411480" y="1170432"/>
            <a:ext cx="3977640" cy="768096"/>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2023 achieved $733K in sales, $93K in profit, and 1,687 orders — all-time highs across every KPI, confirming strong business momentum.</a:t>
            </a:r>
            <a:endParaRPr lang="en-US" sz="950" dirty="0"/>
          </a:p>
        </p:txBody>
      </p:sp>
      <p:sp>
        <p:nvSpPr>
          <p:cNvPr id="13" name="Shape 11"/>
          <p:cNvSpPr/>
          <p:nvPr/>
        </p:nvSpPr>
        <p:spPr>
          <a:xfrm>
            <a:off x="4754880" y="2167128"/>
            <a:ext cx="4251960" cy="126187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4" name="Shape 12"/>
          <p:cNvSpPr/>
          <p:nvPr/>
        </p:nvSpPr>
        <p:spPr>
          <a:xfrm>
            <a:off x="4754880" y="2167128"/>
            <a:ext cx="4251960" cy="54864"/>
          </a:xfrm>
          <a:prstGeom prst="rect">
            <a:avLst/>
          </a:prstGeom>
          <a:solidFill>
            <a:srgbClr val="EF4444"/>
          </a:solidFill>
          <a:ln/>
        </p:spPr>
      </p:sp>
      <p:sp>
        <p:nvSpPr>
          <p:cNvPr id="15" name="Text 13"/>
          <p:cNvSpPr/>
          <p:nvPr/>
        </p:nvSpPr>
        <p:spPr>
          <a:xfrm>
            <a:off x="4892040" y="2276856"/>
            <a:ext cx="3383280" cy="256032"/>
          </a:xfrm>
          <a:prstGeom prst="rect">
            <a:avLst/>
          </a:prstGeom>
          <a:noFill/>
          <a:ln/>
        </p:spPr>
        <p:txBody>
          <a:bodyPr wrap="square" lIns="0" tIns="0" rIns="0" bIns="0" rtlCol="0" anchor="ctr"/>
          <a:lstStyle/>
          <a:p>
            <a:pPr marL="0" indent="0">
              <a:buNone/>
            </a:pPr>
            <a:r>
              <a:rPr lang="en-US" sz="1150" b="1" dirty="0">
                <a:solidFill>
                  <a:srgbClr val="1B3A6B"/>
                </a:solidFill>
                <a:latin typeface="Calibri" pitchFamily="34" charset="0"/>
                <a:ea typeface="Calibri" pitchFamily="34" charset="-122"/>
                <a:cs typeface="Calibri" pitchFamily="34" charset="-120"/>
              </a:rPr>
              <a:t>🔺  Revenue Growth Gap</a:t>
            </a:r>
            <a:endParaRPr lang="en-US" sz="1150" dirty="0"/>
          </a:p>
        </p:txBody>
      </p:sp>
      <p:sp>
        <p:nvSpPr>
          <p:cNvPr id="16" name="Shape 14"/>
          <p:cNvSpPr/>
          <p:nvPr/>
        </p:nvSpPr>
        <p:spPr>
          <a:xfrm>
            <a:off x="8366760" y="2258568"/>
            <a:ext cx="502920" cy="256032"/>
          </a:xfrm>
          <a:prstGeom prst="rect">
            <a:avLst/>
          </a:prstGeom>
          <a:solidFill>
            <a:srgbClr val="EF4444"/>
          </a:solidFill>
          <a:ln/>
        </p:spPr>
      </p:sp>
      <p:sp>
        <p:nvSpPr>
          <p:cNvPr id="17" name="Text 15"/>
          <p:cNvSpPr/>
          <p:nvPr/>
        </p:nvSpPr>
        <p:spPr>
          <a:xfrm>
            <a:off x="8366760" y="2258568"/>
            <a:ext cx="50292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Critical</a:t>
            </a:r>
            <a:endParaRPr lang="en-US" sz="800" dirty="0"/>
          </a:p>
        </p:txBody>
      </p:sp>
      <p:sp>
        <p:nvSpPr>
          <p:cNvPr id="18" name="Text 16"/>
          <p:cNvSpPr/>
          <p:nvPr/>
        </p:nvSpPr>
        <p:spPr>
          <a:xfrm>
            <a:off x="4892040" y="2587752"/>
            <a:ext cx="3977640" cy="768096"/>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Sales grew +20.4% but profit only grew +14.2%, while orders surged +28.3%. This divergence signals declining order value and potential discounting pressure.</a:t>
            </a:r>
            <a:endParaRPr lang="en-US" sz="950" dirty="0"/>
          </a:p>
        </p:txBody>
      </p:sp>
      <p:sp>
        <p:nvSpPr>
          <p:cNvPr id="19" name="Shape 17"/>
          <p:cNvSpPr/>
          <p:nvPr/>
        </p:nvSpPr>
        <p:spPr>
          <a:xfrm>
            <a:off x="274320" y="3584448"/>
            <a:ext cx="4251960" cy="126187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0" name="Shape 18"/>
          <p:cNvSpPr/>
          <p:nvPr/>
        </p:nvSpPr>
        <p:spPr>
          <a:xfrm>
            <a:off x="274320" y="3584448"/>
            <a:ext cx="4251960" cy="54864"/>
          </a:xfrm>
          <a:prstGeom prst="rect">
            <a:avLst/>
          </a:prstGeom>
          <a:solidFill>
            <a:srgbClr val="F59E0B"/>
          </a:solidFill>
          <a:ln/>
        </p:spPr>
      </p:sp>
      <p:sp>
        <p:nvSpPr>
          <p:cNvPr id="21" name="Text 19"/>
          <p:cNvSpPr/>
          <p:nvPr/>
        </p:nvSpPr>
        <p:spPr>
          <a:xfrm>
            <a:off x="411480" y="3694176"/>
            <a:ext cx="3383280" cy="256032"/>
          </a:xfrm>
          <a:prstGeom prst="rect">
            <a:avLst/>
          </a:prstGeom>
          <a:noFill/>
          <a:ln/>
        </p:spPr>
        <p:txBody>
          <a:bodyPr wrap="square" lIns="0" tIns="0" rIns="0" bIns="0" rtlCol="0" anchor="ctr"/>
          <a:lstStyle/>
          <a:p>
            <a:pPr marL="0" indent="0">
              <a:buNone/>
            </a:pPr>
            <a:r>
              <a:rPr lang="en-US" sz="1150" b="1" dirty="0">
                <a:solidFill>
                  <a:srgbClr val="1B3A6B"/>
                </a:solidFill>
                <a:latin typeface="Calibri" pitchFamily="34" charset="0"/>
                <a:ea typeface="Calibri" pitchFamily="34" charset="-122"/>
                <a:cs typeface="Calibri" pitchFamily="34" charset="-120"/>
              </a:rPr>
              <a:t>📅  Extreme Seasonality</a:t>
            </a:r>
            <a:endParaRPr lang="en-US" sz="1150" dirty="0"/>
          </a:p>
        </p:txBody>
      </p:sp>
      <p:sp>
        <p:nvSpPr>
          <p:cNvPr id="22" name="Shape 20"/>
          <p:cNvSpPr/>
          <p:nvPr/>
        </p:nvSpPr>
        <p:spPr>
          <a:xfrm>
            <a:off x="3886200" y="3675888"/>
            <a:ext cx="502920" cy="256032"/>
          </a:xfrm>
          <a:prstGeom prst="rect">
            <a:avLst/>
          </a:prstGeom>
          <a:solidFill>
            <a:srgbClr val="F59E0B"/>
          </a:solidFill>
          <a:ln/>
        </p:spPr>
      </p:sp>
      <p:sp>
        <p:nvSpPr>
          <p:cNvPr id="23" name="Text 21"/>
          <p:cNvSpPr/>
          <p:nvPr/>
        </p:nvSpPr>
        <p:spPr>
          <a:xfrm>
            <a:off x="3886200" y="3675888"/>
            <a:ext cx="50292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24" name="Text 22"/>
          <p:cNvSpPr/>
          <p:nvPr/>
        </p:nvSpPr>
        <p:spPr>
          <a:xfrm>
            <a:off x="411480" y="4005072"/>
            <a:ext cx="3977640" cy="768096"/>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Revenue swings from $20K (February) to $118K (November) — a 490% variance. May gap vs previous year is the largest — something worked exceptionally well. August dip recurs both years — a predictable pattern to plan around.</a:t>
            </a:r>
            <a:endParaRPr lang="en-US" sz="950" dirty="0"/>
          </a:p>
        </p:txBody>
      </p:sp>
      <p:sp>
        <p:nvSpPr>
          <p:cNvPr id="25" name="Shape 23"/>
          <p:cNvSpPr/>
          <p:nvPr/>
        </p:nvSpPr>
        <p:spPr>
          <a:xfrm>
            <a:off x="4754880" y="749808"/>
            <a:ext cx="4251960" cy="126187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6" name="Shape 24"/>
          <p:cNvSpPr/>
          <p:nvPr/>
        </p:nvSpPr>
        <p:spPr>
          <a:xfrm>
            <a:off x="4754880" y="749808"/>
            <a:ext cx="4251960" cy="54864"/>
          </a:xfrm>
          <a:prstGeom prst="rect">
            <a:avLst/>
          </a:prstGeom>
          <a:solidFill>
            <a:srgbClr val="EF4444"/>
          </a:solidFill>
          <a:ln/>
        </p:spPr>
      </p:sp>
      <p:sp>
        <p:nvSpPr>
          <p:cNvPr id="27" name="Text 25"/>
          <p:cNvSpPr/>
          <p:nvPr/>
        </p:nvSpPr>
        <p:spPr>
          <a:xfrm>
            <a:off x="4892040" y="859536"/>
            <a:ext cx="3383280" cy="256032"/>
          </a:xfrm>
          <a:prstGeom prst="rect">
            <a:avLst/>
          </a:prstGeom>
          <a:noFill/>
          <a:ln/>
        </p:spPr>
        <p:txBody>
          <a:bodyPr wrap="square" lIns="0" tIns="0" rIns="0" bIns="0" rtlCol="0" anchor="ctr"/>
          <a:lstStyle/>
          <a:p>
            <a:pPr marL="0" indent="0">
              <a:buNone/>
            </a:pPr>
            <a:r>
              <a:rPr lang="en-US" sz="1150" b="1" dirty="0">
                <a:solidFill>
                  <a:srgbClr val="1B3A6B"/>
                </a:solidFill>
                <a:latin typeface="Calibri" pitchFamily="34" charset="0"/>
                <a:ea typeface="Calibri" pitchFamily="34" charset="-122"/>
                <a:cs typeface="Calibri" pitchFamily="34" charset="-120"/>
              </a:rPr>
              <a:t>🎯  Mixed Target Performance</a:t>
            </a:r>
            <a:endParaRPr lang="en-US" sz="1150" dirty="0"/>
          </a:p>
        </p:txBody>
      </p:sp>
      <p:sp>
        <p:nvSpPr>
          <p:cNvPr id="28" name="Shape 26"/>
          <p:cNvSpPr/>
          <p:nvPr/>
        </p:nvSpPr>
        <p:spPr>
          <a:xfrm>
            <a:off x="8366760" y="841248"/>
            <a:ext cx="502920" cy="256032"/>
          </a:xfrm>
          <a:prstGeom prst="rect">
            <a:avLst/>
          </a:prstGeom>
          <a:solidFill>
            <a:srgbClr val="EF4444"/>
          </a:solidFill>
          <a:ln/>
        </p:spPr>
      </p:sp>
      <p:sp>
        <p:nvSpPr>
          <p:cNvPr id="29" name="Text 27"/>
          <p:cNvSpPr/>
          <p:nvPr/>
        </p:nvSpPr>
        <p:spPr>
          <a:xfrm>
            <a:off x="8366760" y="841248"/>
            <a:ext cx="50292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Critical</a:t>
            </a:r>
            <a:endParaRPr lang="en-US" sz="800" dirty="0"/>
          </a:p>
        </p:txBody>
      </p:sp>
      <p:sp>
        <p:nvSpPr>
          <p:cNvPr id="30" name="Text 28"/>
          <p:cNvSpPr/>
          <p:nvPr/>
        </p:nvSpPr>
        <p:spPr>
          <a:xfrm>
            <a:off x="4892040" y="1170432"/>
            <a:ext cx="3977640" cy="768096"/>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Performance is split: 5 months exceeded targets (Jan, Jun, Sep, Oct, Nov) and 4 months significantly missed (Feb, Mar, May, Dec). Q3 and Q4 consistently outperform while Q1/Q2 underperform. February is the worst miss (-$8K gap) and May the largest proportional miss (-$24K gap).</a:t>
            </a:r>
            <a:endParaRPr lang="en-US" sz="950" dirty="0"/>
          </a:p>
        </p:txBody>
      </p:sp>
      <p:sp>
        <p:nvSpPr>
          <p:cNvPr id="31" name="Shape 29"/>
          <p:cNvSpPr/>
          <p:nvPr/>
        </p:nvSpPr>
        <p:spPr>
          <a:xfrm>
            <a:off x="274320" y="2167128"/>
            <a:ext cx="4251960" cy="126187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2" name="Shape 30"/>
          <p:cNvSpPr/>
          <p:nvPr/>
        </p:nvSpPr>
        <p:spPr>
          <a:xfrm>
            <a:off x="274320" y="2167128"/>
            <a:ext cx="4251960" cy="54864"/>
          </a:xfrm>
          <a:prstGeom prst="rect">
            <a:avLst/>
          </a:prstGeom>
          <a:solidFill>
            <a:srgbClr val="028090"/>
          </a:solidFill>
          <a:ln/>
        </p:spPr>
      </p:sp>
      <p:sp>
        <p:nvSpPr>
          <p:cNvPr id="33" name="Text 31"/>
          <p:cNvSpPr/>
          <p:nvPr/>
        </p:nvSpPr>
        <p:spPr>
          <a:xfrm>
            <a:off x="411480" y="2276856"/>
            <a:ext cx="3383280" cy="256032"/>
          </a:xfrm>
          <a:prstGeom prst="rect">
            <a:avLst/>
          </a:prstGeom>
          <a:noFill/>
          <a:ln/>
        </p:spPr>
        <p:txBody>
          <a:bodyPr wrap="square" lIns="0" tIns="0" rIns="0" bIns="0" rtlCol="0" anchor="ctr"/>
          <a:lstStyle/>
          <a:p>
            <a:pPr marL="0" indent="0">
              <a:buNone/>
            </a:pPr>
            <a:r>
              <a:rPr lang="en-US" sz="1150" b="1" dirty="0">
                <a:solidFill>
                  <a:srgbClr val="1B3A6B"/>
                </a:solidFill>
                <a:latin typeface="Calibri" pitchFamily="34" charset="0"/>
                <a:ea typeface="Calibri" pitchFamily="34" charset="-122"/>
                <a:cs typeface="Calibri" pitchFamily="34" charset="-120"/>
              </a:rPr>
              <a:t>💻  Technology Dominance</a:t>
            </a:r>
            <a:endParaRPr lang="en-US" sz="1150" dirty="0"/>
          </a:p>
        </p:txBody>
      </p:sp>
      <p:sp>
        <p:nvSpPr>
          <p:cNvPr id="34" name="Shape 32"/>
          <p:cNvSpPr/>
          <p:nvPr/>
        </p:nvSpPr>
        <p:spPr>
          <a:xfrm>
            <a:off x="3886200" y="2258568"/>
            <a:ext cx="502920" cy="256032"/>
          </a:xfrm>
          <a:prstGeom prst="rect">
            <a:avLst/>
          </a:prstGeom>
          <a:solidFill>
            <a:srgbClr val="028090"/>
          </a:solidFill>
          <a:ln/>
        </p:spPr>
      </p:sp>
      <p:sp>
        <p:nvSpPr>
          <p:cNvPr id="35" name="Text 33"/>
          <p:cNvSpPr/>
          <p:nvPr/>
        </p:nvSpPr>
        <p:spPr>
          <a:xfrm>
            <a:off x="3886200" y="2258568"/>
            <a:ext cx="50292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Medium</a:t>
            </a:r>
            <a:endParaRPr lang="en-US" sz="800" dirty="0"/>
          </a:p>
        </p:txBody>
      </p:sp>
      <p:sp>
        <p:nvSpPr>
          <p:cNvPr id="36" name="Text 34"/>
          <p:cNvSpPr/>
          <p:nvPr/>
        </p:nvSpPr>
        <p:spPr>
          <a:xfrm>
            <a:off x="411480" y="2587752"/>
            <a:ext cx="3977640" cy="768096"/>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Technology leads at $272K (37% of revenue), Office Supplies at $246K (34%), Furniture at $215K (29%). This balance is healthy but masks the loss-making Tables sub-category.</a:t>
            </a:r>
            <a:endParaRPr lang="en-US" sz="950" dirty="0"/>
          </a:p>
        </p:txBody>
      </p:sp>
      <p:sp>
        <p:nvSpPr>
          <p:cNvPr id="37" name="Shape 35"/>
          <p:cNvSpPr/>
          <p:nvPr/>
        </p:nvSpPr>
        <p:spPr>
          <a:xfrm>
            <a:off x="4754880" y="3584448"/>
            <a:ext cx="4251960" cy="126187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8" name="Shape 36"/>
          <p:cNvSpPr/>
          <p:nvPr/>
        </p:nvSpPr>
        <p:spPr>
          <a:xfrm>
            <a:off x="4754880" y="3584448"/>
            <a:ext cx="4251960" cy="54864"/>
          </a:xfrm>
          <a:prstGeom prst="rect">
            <a:avLst/>
          </a:prstGeom>
          <a:solidFill>
            <a:srgbClr val="F59E0B"/>
          </a:solidFill>
          <a:ln/>
        </p:spPr>
      </p:sp>
      <p:sp>
        <p:nvSpPr>
          <p:cNvPr id="39" name="Text 37"/>
          <p:cNvSpPr/>
          <p:nvPr/>
        </p:nvSpPr>
        <p:spPr>
          <a:xfrm>
            <a:off x="4892040" y="3694176"/>
            <a:ext cx="3383280" cy="256032"/>
          </a:xfrm>
          <a:prstGeom prst="rect">
            <a:avLst/>
          </a:prstGeom>
          <a:noFill/>
          <a:ln/>
        </p:spPr>
        <p:txBody>
          <a:bodyPr wrap="square" lIns="0" tIns="0" rIns="0" bIns="0" rtlCol="0" anchor="ctr"/>
          <a:lstStyle/>
          <a:p>
            <a:pPr marL="0" indent="0">
              <a:buNone/>
            </a:pPr>
            <a:r>
              <a:rPr lang="en-US" sz="1150" b="1" dirty="0">
                <a:solidFill>
                  <a:srgbClr val="1B3A6B"/>
                </a:solidFill>
                <a:latin typeface="Calibri" pitchFamily="34" charset="0"/>
                <a:ea typeface="Calibri" pitchFamily="34" charset="-122"/>
                <a:cs typeface="Calibri" pitchFamily="34" charset="-120"/>
              </a:rPr>
              <a:t>🗺️  Regional Inequality</a:t>
            </a:r>
            <a:endParaRPr lang="en-US" sz="1150" dirty="0"/>
          </a:p>
        </p:txBody>
      </p:sp>
      <p:sp>
        <p:nvSpPr>
          <p:cNvPr id="40" name="Shape 38"/>
          <p:cNvSpPr/>
          <p:nvPr/>
        </p:nvSpPr>
        <p:spPr>
          <a:xfrm>
            <a:off x="8366760" y="3675888"/>
            <a:ext cx="502920" cy="256032"/>
          </a:xfrm>
          <a:prstGeom prst="rect">
            <a:avLst/>
          </a:prstGeom>
          <a:solidFill>
            <a:srgbClr val="F59E0B"/>
          </a:solidFill>
          <a:ln/>
        </p:spPr>
      </p:sp>
      <p:sp>
        <p:nvSpPr>
          <p:cNvPr id="41" name="Text 39"/>
          <p:cNvSpPr/>
          <p:nvPr/>
        </p:nvSpPr>
        <p:spPr>
          <a:xfrm>
            <a:off x="8366760" y="3675888"/>
            <a:ext cx="50292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42" name="Text 40"/>
          <p:cNvSpPr/>
          <p:nvPr/>
        </p:nvSpPr>
        <p:spPr>
          <a:xfrm>
            <a:off x="4892040" y="4005072"/>
            <a:ext cx="3977640" cy="768096"/>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West Consumer ($107K) is the single highest performing combination. Corporate strongest in West ($86K) — B2B opportunity in other regions. South weakest overall (~$105K total). Central Home Office ($30K) completely untapped — a clear expansion opportunity.</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Key Findings — Customer Behavior &amp; Product Performance</a:t>
            </a:r>
            <a:endParaRPr lang="en-US" sz="2200" dirty="0"/>
          </a:p>
        </p:txBody>
      </p:sp>
      <p:sp>
        <p:nvSpPr>
          <p:cNvPr id="4" name="Shape 2"/>
          <p:cNvSpPr/>
          <p:nvPr/>
        </p:nvSpPr>
        <p:spPr>
          <a:xfrm>
            <a:off x="0" y="4892040"/>
            <a:ext cx="9144000" cy="251460"/>
          </a:xfrm>
          <a:prstGeom prst="rect">
            <a:avLst/>
          </a:prstGeom>
          <a:solidFill>
            <a:srgbClr val="1B3A6B"/>
          </a:solidFill>
          <a:ln/>
        </p:spPr>
      </p:sp>
      <p:sp>
        <p:nvSpPr>
          <p:cNvPr id="7" name="Shape 5"/>
          <p:cNvSpPr/>
          <p:nvPr/>
        </p:nvSpPr>
        <p:spPr>
          <a:xfrm>
            <a:off x="274320" y="731520"/>
            <a:ext cx="4114800" cy="384048"/>
          </a:xfrm>
          <a:prstGeom prst="rect">
            <a:avLst/>
          </a:prstGeom>
          <a:solidFill>
            <a:srgbClr val="028090"/>
          </a:solidFill>
          <a:ln/>
        </p:spPr>
      </p:sp>
      <p:sp>
        <p:nvSpPr>
          <p:cNvPr id="8" name="Text 6"/>
          <p:cNvSpPr/>
          <p:nvPr/>
        </p:nvSpPr>
        <p:spPr>
          <a:xfrm>
            <a:off x="411480" y="768096"/>
            <a:ext cx="384048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Customer Behavior Findings</a:t>
            </a:r>
            <a:endParaRPr lang="en-US" sz="1300" dirty="0"/>
          </a:p>
        </p:txBody>
      </p:sp>
      <p:sp>
        <p:nvSpPr>
          <p:cNvPr id="9" name="Text 7"/>
          <p:cNvSpPr/>
          <p:nvPr/>
        </p:nvSpPr>
        <p:spPr>
          <a:xfrm>
            <a:off x="411480" y="1170432"/>
            <a:ext cx="3840480" cy="34747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  Consumer segment (52%) dominates all categories — Technology + Consumer combination alone generates $114K in revenue</a:t>
            </a:r>
            <a:endParaRPr lang="en-US" sz="950" dirty="0"/>
          </a:p>
        </p:txBody>
      </p:sp>
      <p:sp>
        <p:nvSpPr>
          <p:cNvPr id="10" name="Text 8"/>
          <p:cNvSpPr/>
          <p:nvPr/>
        </p:nvSpPr>
        <p:spPr>
          <a:xfrm>
            <a:off x="411480" y="1563624"/>
            <a:ext cx="3840480" cy="34747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  Returning customers (493, customers with 2+ orders within 2023) show strong in-year loyalty — new acquisition at only +8.6% YoY still needs acceleration</a:t>
            </a:r>
            <a:endParaRPr lang="en-US" sz="950" dirty="0"/>
          </a:p>
        </p:txBody>
      </p:sp>
      <p:sp>
        <p:nvSpPr>
          <p:cNvPr id="11" name="Text 9"/>
          <p:cNvSpPr/>
          <p:nvPr/>
        </p:nvSpPr>
        <p:spPr>
          <a:xfrm>
            <a:off x="411480" y="1956816"/>
            <a:ext cx="3840480" cy="34747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  Average orders per customer grew +18.1% to 2.4 orders in 2023 — customers buying more frequently within the year, with significant room to drive further repeat purchases</a:t>
            </a:r>
            <a:endParaRPr lang="en-US" sz="950" dirty="0"/>
          </a:p>
        </p:txBody>
      </p:sp>
      <p:sp>
        <p:nvSpPr>
          <p:cNvPr id="12" name="Text 10"/>
          <p:cNvSpPr/>
          <p:nvPr/>
        </p:nvSpPr>
        <p:spPr>
          <a:xfrm>
            <a:off x="411480" y="2350008"/>
            <a:ext cx="3840480" cy="34747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  California ($146K, +$29K profit) is the top state; Texas (-$8.84K), Colorado (-$4.44K) are loss-making — geographic concentration risk</a:t>
            </a:r>
            <a:endParaRPr lang="en-US" sz="950" dirty="0"/>
          </a:p>
        </p:txBody>
      </p:sp>
      <p:sp>
        <p:nvSpPr>
          <p:cNvPr id="13" name="Text 11"/>
          <p:cNvSpPr/>
          <p:nvPr/>
        </p:nvSpPr>
        <p:spPr>
          <a:xfrm>
            <a:off x="411480" y="2743200"/>
            <a:ext cx="3840480" cy="34747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  Grant Thornton generates $8K sales at -$3.83K profit — an account that costs money to serve; requires reprice or exit</a:t>
            </a:r>
            <a:endParaRPr lang="en-US" sz="950" dirty="0"/>
          </a:p>
        </p:txBody>
      </p:sp>
      <p:sp>
        <p:nvSpPr>
          <p:cNvPr id="14" name="Text 12"/>
          <p:cNvSpPr/>
          <p:nvPr/>
        </p:nvSpPr>
        <p:spPr>
          <a:xfrm>
            <a:off x="411480" y="3136392"/>
            <a:ext cx="3840480" cy="34747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  No single customer exceeds 2% of revenue — healthy distribution; top customer Seth Vernon placed 73 orders — VIP program opportunity</a:t>
            </a:r>
            <a:endParaRPr lang="en-US" sz="950" dirty="0"/>
          </a:p>
        </p:txBody>
      </p:sp>
      <p:sp>
        <p:nvSpPr>
          <p:cNvPr id="15" name="Shape 13"/>
          <p:cNvSpPr/>
          <p:nvPr/>
        </p:nvSpPr>
        <p:spPr>
          <a:xfrm>
            <a:off x="4663440" y="731520"/>
            <a:ext cx="4206240" cy="384048"/>
          </a:xfrm>
          <a:prstGeom prst="rect">
            <a:avLst/>
          </a:prstGeom>
          <a:solidFill>
            <a:srgbClr val="1B3A6B"/>
          </a:solidFill>
          <a:ln/>
        </p:spPr>
      </p:sp>
      <p:sp>
        <p:nvSpPr>
          <p:cNvPr id="16" name="Text 14"/>
          <p:cNvSpPr/>
          <p:nvPr/>
        </p:nvSpPr>
        <p:spPr>
          <a:xfrm>
            <a:off x="4800600" y="768096"/>
            <a:ext cx="393192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Product Performance Findings</a:t>
            </a:r>
            <a:endParaRPr lang="en-US" sz="1300" dirty="0"/>
          </a:p>
        </p:txBody>
      </p:sp>
      <p:sp>
        <p:nvSpPr>
          <p:cNvPr id="17" name="Text 15"/>
          <p:cNvSpPr/>
          <p:nvPr/>
        </p:nvSpPr>
        <p:spPr>
          <a:xfrm>
            <a:off x="4800600" y="1170432"/>
            <a:ext cx="3977640" cy="34747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  Phones ($105K) lead all 17 sub-categories; Chairs ($96K) and Binders ($73K) follow closely</a:t>
            </a:r>
            <a:endParaRPr lang="en-US" sz="950" dirty="0"/>
          </a:p>
        </p:txBody>
      </p:sp>
      <p:sp>
        <p:nvSpPr>
          <p:cNvPr id="18" name="Text 16"/>
          <p:cNvSpPr/>
          <p:nvPr/>
        </p:nvSpPr>
        <p:spPr>
          <a:xfrm>
            <a:off x="4800600" y="1563624"/>
            <a:ext cx="3977640" cy="34747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  Tables sub-category generates $61K in sales but is profit-negative — actively destroying margin</a:t>
            </a:r>
            <a:endParaRPr lang="en-US" sz="950" dirty="0"/>
          </a:p>
        </p:txBody>
      </p:sp>
      <p:sp>
        <p:nvSpPr>
          <p:cNvPr id="19" name="Text 17"/>
          <p:cNvSpPr/>
          <p:nvPr/>
        </p:nvSpPr>
        <p:spPr>
          <a:xfrm>
            <a:off x="4800600" y="1956816"/>
            <a:ext cx="3977640" cy="34747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  Copiers have the highest profit-to-sales ratio in the entire dataset — a strategic priority product</a:t>
            </a:r>
            <a:endParaRPr lang="en-US" sz="950" dirty="0"/>
          </a:p>
        </p:txBody>
      </p:sp>
      <p:sp>
        <p:nvSpPr>
          <p:cNvPr id="20" name="Text 18"/>
          <p:cNvSpPr/>
          <p:nvPr/>
        </p:nvSpPr>
        <p:spPr>
          <a:xfrm>
            <a:off x="4800600" y="2350008"/>
            <a:ext cx="3977640" cy="34747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  Average profit $28.21/order on ~$434 avg order value = ~6.5% margin — within range but needs improvement, especially in loss-making states</a:t>
            </a:r>
            <a:endParaRPr lang="en-US" sz="950" dirty="0"/>
          </a:p>
        </p:txBody>
      </p:sp>
      <p:sp>
        <p:nvSpPr>
          <p:cNvPr id="21" name="Text 19"/>
          <p:cNvSpPr/>
          <p:nvPr/>
        </p:nvSpPr>
        <p:spPr>
          <a:xfrm>
            <a:off x="4800600" y="2743200"/>
            <a:ext cx="3977640" cy="34747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  Office Supplies has most SKUs but only 34% category share — fragmented, low-value products; consider reducing bottom SKUs</a:t>
            </a:r>
            <a:endParaRPr lang="en-US" sz="950" dirty="0"/>
          </a:p>
        </p:txBody>
      </p:sp>
      <p:sp>
        <p:nvSpPr>
          <p:cNvPr id="22" name="Text 20"/>
          <p:cNvSpPr/>
          <p:nvPr/>
        </p:nvSpPr>
        <p:spPr>
          <a:xfrm>
            <a:off x="4800600" y="3136392"/>
            <a:ext cx="3977640" cy="34747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  Home Office (18%) is smallest but fastest-growing post-pandemic — remote work trend is permanent; create dedicated home office bundles</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6">
    <p:bg>
      <p:bgPr>
        <a:solidFill>
          <a:srgbClr val="0F2240"/>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A896"/>
          </a:solidFill>
          <a:ln/>
        </p:spPr>
      </p:sp>
      <p:sp>
        <p:nvSpPr>
          <p:cNvPr id="3" name="Text 1"/>
          <p:cNvSpPr/>
          <p:nvPr/>
        </p:nvSpPr>
        <p:spPr>
          <a:xfrm>
            <a:off x="457200" y="1645920"/>
            <a:ext cx="8229600" cy="109728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07 | Strategic Recommendations</a:t>
            </a:r>
            <a:endParaRPr lang="en-US" sz="4400" dirty="0"/>
          </a:p>
        </p:txBody>
      </p:sp>
      <p:sp>
        <p:nvSpPr>
          <p:cNvPr id="4" name="Text 2"/>
          <p:cNvSpPr/>
          <p:nvPr/>
        </p:nvSpPr>
        <p:spPr>
          <a:xfrm>
            <a:off x="457200" y="2834640"/>
            <a:ext cx="8229600" cy="640080"/>
          </a:xfrm>
          <a:prstGeom prst="rect">
            <a:avLst/>
          </a:prstGeom>
          <a:noFill/>
          <a:ln/>
        </p:spPr>
        <p:txBody>
          <a:bodyPr wrap="square" rtlCol="0" anchor="ctr"/>
          <a:lstStyle/>
          <a:p>
            <a:pPr marL="0" indent="0" algn="ctr">
              <a:buNone/>
            </a:pPr>
            <a:r>
              <a:rPr lang="en-US" sz="1800" dirty="0">
                <a:solidFill>
                  <a:srgbClr val="D5E8F4"/>
                </a:solidFill>
                <a:latin typeface="Calibri" pitchFamily="34" charset="0"/>
                <a:ea typeface="Calibri" pitchFamily="34" charset="-122"/>
                <a:cs typeface="Calibri" pitchFamily="34" charset="-120"/>
              </a:rPr>
              <a:t>Data-Driven Actions for Business Growth &amp; Performance Optimization</a:t>
            </a:r>
            <a:endParaRPr lang="en-US"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3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Strategic Recommendations — Part 1: Revenue &amp; Growth</a:t>
            </a:r>
            <a:endParaRPr lang="en-US" sz="2200" dirty="0"/>
          </a:p>
        </p:txBody>
      </p:sp>
      <p:sp>
        <p:nvSpPr>
          <p:cNvPr id="4" name="Shape 2"/>
          <p:cNvSpPr/>
          <p:nvPr/>
        </p:nvSpPr>
        <p:spPr>
          <a:xfrm>
            <a:off x="0" y="4892040"/>
            <a:ext cx="9144000" cy="251460"/>
          </a:xfrm>
          <a:prstGeom prst="rect">
            <a:avLst/>
          </a:prstGeom>
          <a:solidFill>
            <a:srgbClr val="1B3A6B"/>
          </a:solidFill>
          <a:ln/>
        </p:spPr>
      </p:sp>
      <p:sp>
        <p:nvSpPr>
          <p:cNvPr id="7" name="Shape 5"/>
          <p:cNvSpPr/>
          <p:nvPr/>
        </p:nvSpPr>
        <p:spPr>
          <a:xfrm>
            <a:off x="274320" y="749808"/>
            <a:ext cx="8595360" cy="98755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8" name="Shape 6"/>
          <p:cNvSpPr/>
          <p:nvPr/>
        </p:nvSpPr>
        <p:spPr>
          <a:xfrm>
            <a:off x="274320" y="749808"/>
            <a:ext cx="548640" cy="987552"/>
          </a:xfrm>
          <a:prstGeom prst="rect">
            <a:avLst/>
          </a:prstGeom>
          <a:solidFill>
            <a:srgbClr val="028090"/>
          </a:solidFill>
          <a:ln/>
        </p:spPr>
      </p:sp>
      <p:sp>
        <p:nvSpPr>
          <p:cNvPr id="9" name="Text 7"/>
          <p:cNvSpPr/>
          <p:nvPr/>
        </p:nvSpPr>
        <p:spPr>
          <a:xfrm>
            <a:off x="274320" y="1069848"/>
            <a:ext cx="54864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0" name="Text 8"/>
          <p:cNvSpPr/>
          <p:nvPr/>
        </p:nvSpPr>
        <p:spPr>
          <a:xfrm>
            <a:off x="960120" y="804672"/>
            <a:ext cx="7772400" cy="256032"/>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Seasonal Sales Campaigns</a:t>
            </a:r>
            <a:endParaRPr lang="en-US" sz="1200" dirty="0"/>
          </a:p>
        </p:txBody>
      </p:sp>
      <p:sp>
        <p:nvSpPr>
          <p:cNvPr id="11" name="Text 9"/>
          <p:cNvSpPr/>
          <p:nvPr/>
        </p:nvSpPr>
        <p:spPr>
          <a:xfrm>
            <a:off x="960120" y="1078992"/>
            <a:ext cx="6217920" cy="566928"/>
          </a:xfrm>
          <a:prstGeom prst="rect">
            <a:avLst/>
          </a:prstGeom>
          <a:noFill/>
          <a:ln/>
        </p:spPr>
        <p:txBody>
          <a:bodyPr wrap="square" lIns="0" tIns="0" rIns="0" bIns="0" rtlCol="0" anchor="ctr"/>
          <a:lstStyle/>
          <a:p>
            <a:pPr marL="0" indent="0">
              <a:buNone/>
            </a:pPr>
            <a:r>
              <a:rPr lang="en-US" sz="900" b="1" dirty="0">
                <a:solidFill>
                  <a:srgbClr val="028090"/>
                </a:solidFill>
                <a:latin typeface="Calibri" pitchFamily="34" charset="0"/>
                <a:ea typeface="Calibri" pitchFamily="34" charset="-122"/>
                <a:cs typeface="Calibri" pitchFamily="34" charset="-120"/>
              </a:rPr>
              <a:t>Trigger: </a:t>
            </a:r>
            <a:r>
              <a:rPr lang="en-US" sz="900" dirty="0">
                <a:solidFill>
                  <a:srgbClr val="36454F"/>
                </a:solidFill>
                <a:latin typeface="Calibri" pitchFamily="34" charset="0"/>
                <a:ea typeface="Calibri" pitchFamily="34" charset="-122"/>
                <a:cs typeface="Calibri" pitchFamily="34" charset="-120"/>
              </a:rPr>
              <a:t>February revenue ($20K) is 83% below November peak ($118K); August actual ($47K) misses its $63K target — both are recurring low-performance periods confirmed in the data   </a:t>
            </a:r>
            <a:r>
              <a:rPr lang="en-US" sz="900" b="1" dirty="0">
                <a:solidFill>
                  <a:srgbClr val="1B3A6B"/>
                </a:solidFill>
                <a:latin typeface="Calibri" pitchFamily="34" charset="0"/>
                <a:ea typeface="Calibri" pitchFamily="34" charset="-122"/>
                <a:cs typeface="Calibri" pitchFamily="34" charset="-120"/>
              </a:rPr>
              <a:t>Action: </a:t>
            </a:r>
            <a:r>
              <a:rPr lang="en-US" sz="900" dirty="0">
                <a:solidFill>
                  <a:srgbClr val="36454F"/>
                </a:solidFill>
                <a:latin typeface="Calibri" pitchFamily="34" charset="0"/>
                <a:ea typeface="Calibri" pitchFamily="34" charset="-122"/>
                <a:cs typeface="Calibri" pitchFamily="34" charset="-120"/>
              </a:rPr>
              <a:t>Launch 'New Year, New Office' campaign in February targeting Consumer and Corporate with bundle offers. Run annual 'Back to Business' promotion in August. Pre-negotiate bulk corporate orders in July for August delivery.</a:t>
            </a:r>
            <a:endParaRPr lang="en-US" sz="900" dirty="0"/>
          </a:p>
        </p:txBody>
      </p:sp>
      <p:sp>
        <p:nvSpPr>
          <p:cNvPr id="12" name="Text 10"/>
          <p:cNvSpPr/>
          <p:nvPr/>
        </p:nvSpPr>
        <p:spPr>
          <a:xfrm>
            <a:off x="7315200" y="1078992"/>
            <a:ext cx="1463040" cy="566928"/>
          </a:xfrm>
          <a:prstGeom prst="rect">
            <a:avLst/>
          </a:prstGeom>
          <a:noFill/>
          <a:ln/>
        </p:spPr>
        <p:txBody>
          <a:bodyPr wrap="square" lIns="0" tIns="0" rIns="0" bIns="0" rtlCol="0" anchor="ctr"/>
          <a:lstStyle/>
          <a:p>
            <a:pPr marL="0" indent="0">
              <a:buNone/>
            </a:pPr>
            <a:r>
              <a:rPr lang="en-US" sz="850" b="1" dirty="0">
                <a:solidFill>
                  <a:srgbClr val="028090"/>
                </a:solidFill>
                <a:latin typeface="Calibri" pitchFamily="34" charset="0"/>
                <a:ea typeface="Calibri" pitchFamily="34" charset="-122"/>
                <a:cs typeface="Calibri" pitchFamily="34" charset="-120"/>
              </a:rPr>
              <a:t>KPI: Increase February revenue from $20K to $40K and eliminate August target miss within 12 months</a:t>
            </a:r>
            <a:endParaRPr lang="en-US" sz="850" dirty="0"/>
          </a:p>
        </p:txBody>
      </p:sp>
      <p:sp>
        <p:nvSpPr>
          <p:cNvPr id="13" name="Shape 11"/>
          <p:cNvSpPr/>
          <p:nvPr/>
        </p:nvSpPr>
        <p:spPr>
          <a:xfrm>
            <a:off x="274320" y="1828800"/>
            <a:ext cx="8595360" cy="98755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4" name="Shape 12"/>
          <p:cNvSpPr/>
          <p:nvPr/>
        </p:nvSpPr>
        <p:spPr>
          <a:xfrm>
            <a:off x="274320" y="1828800"/>
            <a:ext cx="548640" cy="987552"/>
          </a:xfrm>
          <a:prstGeom prst="rect">
            <a:avLst/>
          </a:prstGeom>
          <a:solidFill>
            <a:srgbClr val="1B3A6B"/>
          </a:solidFill>
          <a:ln/>
        </p:spPr>
      </p:sp>
      <p:sp>
        <p:nvSpPr>
          <p:cNvPr id="15" name="Text 13"/>
          <p:cNvSpPr/>
          <p:nvPr/>
        </p:nvSpPr>
        <p:spPr>
          <a:xfrm>
            <a:off x="274320" y="2148840"/>
            <a:ext cx="54864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6" name="Text 14"/>
          <p:cNvSpPr/>
          <p:nvPr/>
        </p:nvSpPr>
        <p:spPr>
          <a:xfrm>
            <a:off x="960120" y="1883664"/>
            <a:ext cx="7772400" cy="256032"/>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Close the Target Gap</a:t>
            </a:r>
            <a:endParaRPr lang="en-US" sz="1200" dirty="0"/>
          </a:p>
        </p:txBody>
      </p:sp>
      <p:sp>
        <p:nvSpPr>
          <p:cNvPr id="17" name="Text 15"/>
          <p:cNvSpPr/>
          <p:nvPr/>
        </p:nvSpPr>
        <p:spPr>
          <a:xfrm>
            <a:off x="960120" y="2157984"/>
            <a:ext cx="6217920" cy="566928"/>
          </a:xfrm>
          <a:prstGeom prst="rect">
            <a:avLst/>
          </a:prstGeom>
          <a:noFill/>
          <a:ln/>
        </p:spPr>
        <p:txBody>
          <a:bodyPr wrap="square" lIns="0" tIns="0" rIns="0" bIns="0" rtlCol="0" anchor="ctr"/>
          <a:lstStyle/>
          <a:p>
            <a:pPr marL="0" indent="0">
              <a:buNone/>
            </a:pPr>
            <a:r>
              <a:rPr lang="en-US" sz="900" b="1" dirty="0">
                <a:solidFill>
                  <a:srgbClr val="1B3A6B"/>
                </a:solidFill>
                <a:latin typeface="Calibri" pitchFamily="34" charset="0"/>
                <a:ea typeface="Calibri" pitchFamily="34" charset="-122"/>
                <a:cs typeface="Calibri" pitchFamily="34" charset="-120"/>
              </a:rPr>
              <a:t>Trigger: </a:t>
            </a:r>
            <a:r>
              <a:rPr lang="en-US" sz="900" dirty="0">
                <a:solidFill>
                  <a:srgbClr val="36454F"/>
                </a:solidFill>
                <a:latin typeface="Calibri" pitchFamily="34" charset="0"/>
                <a:ea typeface="Calibri" pitchFamily="34" charset="-122"/>
                <a:cs typeface="Calibri" pitchFamily="34" charset="-120"/>
              </a:rPr>
              <a:t>5 months exceeded targets (Jan, Jun, Sep, Oct, Nov); 4 months significantly missed (Feb, Mar, May, Dec). The May gap (-$24K) is the single largest miss. Q1/Q2 is where performance consistently falls short.   </a:t>
            </a:r>
            <a:r>
              <a:rPr lang="en-US" sz="900" b="1" dirty="0">
                <a:solidFill>
                  <a:srgbClr val="1B3A6B"/>
                </a:solidFill>
                <a:latin typeface="Calibri" pitchFamily="34" charset="0"/>
                <a:ea typeface="Calibri" pitchFamily="34" charset="-122"/>
                <a:cs typeface="Calibri" pitchFamily="34" charset="-120"/>
              </a:rPr>
              <a:t>Action: </a:t>
            </a:r>
            <a:r>
              <a:rPr lang="en-US" sz="900" dirty="0">
                <a:solidFill>
                  <a:srgbClr val="36454F"/>
                </a:solidFill>
                <a:latin typeface="Calibri" pitchFamily="34" charset="0"/>
                <a:ea typeface="Calibri" pitchFamily="34" charset="-122"/>
                <a:cs typeface="Calibri" pitchFamily="34" charset="-120"/>
              </a:rPr>
              <a:t>Validate whether the Prior Year ×1.20 growth multiplier used for targets is realistic given actual growth rates. For Q1/Q2 months where misses are largest (May: -$24K, Feb: -$8K), investigate root causes — is it demand, stock availability, or marketing gaps? Implement weekly sales performance monitoring with automated alerts.</a:t>
            </a:r>
            <a:endParaRPr lang="en-US" sz="900" dirty="0"/>
          </a:p>
        </p:txBody>
      </p:sp>
      <p:sp>
        <p:nvSpPr>
          <p:cNvPr id="18" name="Text 16"/>
          <p:cNvSpPr/>
          <p:nvPr/>
        </p:nvSpPr>
        <p:spPr>
          <a:xfrm>
            <a:off x="7315200" y="2157984"/>
            <a:ext cx="1463040" cy="566928"/>
          </a:xfrm>
          <a:prstGeom prst="rect">
            <a:avLst/>
          </a:prstGeom>
          <a:noFill/>
          <a:ln/>
        </p:spPr>
        <p:txBody>
          <a:bodyPr wrap="square" lIns="0" tIns="0" rIns="0" bIns="0" rtlCol="0" anchor="ctr"/>
          <a:lstStyle/>
          <a:p>
            <a:pPr marL="0" indent="0">
              <a:buNone/>
            </a:pPr>
            <a:r>
              <a:rPr lang="en-US" sz="850" b="1" dirty="0">
                <a:solidFill>
                  <a:srgbClr val="1B3A6B"/>
                </a:solidFill>
                <a:latin typeface="Calibri" pitchFamily="34" charset="0"/>
                <a:ea typeface="Calibri" pitchFamily="34" charset="-122"/>
                <a:cs typeface="Calibri" pitchFamily="34" charset="-120"/>
              </a:rPr>
              <a:t>KPI: Achieve ≥90% of monthly target attainment across all 12 months within 2 quarters; eliminate the May and February gaps within the first quarter</a:t>
            </a:r>
            <a:endParaRPr lang="en-US" sz="850" dirty="0"/>
          </a:p>
        </p:txBody>
      </p:sp>
      <p:sp>
        <p:nvSpPr>
          <p:cNvPr id="19" name="Shape 17"/>
          <p:cNvSpPr/>
          <p:nvPr/>
        </p:nvSpPr>
        <p:spPr>
          <a:xfrm>
            <a:off x="274320" y="2907792"/>
            <a:ext cx="8595360" cy="98755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0" name="Shape 18"/>
          <p:cNvSpPr/>
          <p:nvPr/>
        </p:nvSpPr>
        <p:spPr>
          <a:xfrm>
            <a:off x="274320" y="2907792"/>
            <a:ext cx="548640" cy="987552"/>
          </a:xfrm>
          <a:prstGeom prst="rect">
            <a:avLst/>
          </a:prstGeom>
          <a:solidFill>
            <a:srgbClr val="F59E0B"/>
          </a:solidFill>
          <a:ln/>
        </p:spPr>
      </p:sp>
      <p:sp>
        <p:nvSpPr>
          <p:cNvPr id="21" name="Text 19"/>
          <p:cNvSpPr/>
          <p:nvPr/>
        </p:nvSpPr>
        <p:spPr>
          <a:xfrm>
            <a:off x="274320" y="3227832"/>
            <a:ext cx="54864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2" name="Text 20"/>
          <p:cNvSpPr/>
          <p:nvPr/>
        </p:nvSpPr>
        <p:spPr>
          <a:xfrm>
            <a:off x="960120" y="2962656"/>
            <a:ext cx="7772400" cy="256032"/>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Geographic Expansion — South &amp; Central</a:t>
            </a:r>
            <a:endParaRPr lang="en-US" sz="1200" dirty="0"/>
          </a:p>
        </p:txBody>
      </p:sp>
      <p:sp>
        <p:nvSpPr>
          <p:cNvPr id="23" name="Text 21"/>
          <p:cNvSpPr/>
          <p:nvPr/>
        </p:nvSpPr>
        <p:spPr>
          <a:xfrm>
            <a:off x="960120" y="3236976"/>
            <a:ext cx="6217920" cy="566928"/>
          </a:xfrm>
          <a:prstGeom prst="rect">
            <a:avLst/>
          </a:prstGeom>
          <a:noFill/>
          <a:ln/>
        </p:spPr>
        <p:txBody>
          <a:bodyPr wrap="square" lIns="0" tIns="0" rIns="0" bIns="0" rtlCol="0" anchor="ctr"/>
          <a:lstStyle/>
          <a:p>
            <a:pPr marL="0" indent="0">
              <a:buNone/>
            </a:pPr>
            <a:r>
              <a:rPr lang="en-US" sz="900" b="1" dirty="0">
                <a:solidFill>
                  <a:srgbClr val="F59E0B"/>
                </a:solidFill>
                <a:latin typeface="Calibri" pitchFamily="34" charset="0"/>
                <a:ea typeface="Calibri" pitchFamily="34" charset="-122"/>
                <a:cs typeface="Calibri" pitchFamily="34" charset="-120"/>
              </a:rPr>
              <a:t>Trigger: </a:t>
            </a:r>
            <a:r>
              <a:rPr lang="en-US" sz="900" dirty="0">
                <a:solidFill>
                  <a:srgbClr val="36454F"/>
                </a:solidFill>
                <a:latin typeface="Calibri" pitchFamily="34" charset="0"/>
                <a:ea typeface="Calibri" pitchFamily="34" charset="-122"/>
                <a:cs typeface="Calibri" pitchFamily="34" charset="-120"/>
              </a:rPr>
              <a:t>West generates $250K vs South's $105K — 2.4× gap   </a:t>
            </a:r>
            <a:r>
              <a:rPr lang="en-US" sz="900" b="1" dirty="0">
                <a:solidFill>
                  <a:srgbClr val="1B3A6B"/>
                </a:solidFill>
                <a:latin typeface="Calibri" pitchFamily="34" charset="0"/>
                <a:ea typeface="Calibri" pitchFamily="34" charset="-122"/>
                <a:cs typeface="Calibri" pitchFamily="34" charset="-120"/>
              </a:rPr>
              <a:t>Action: </a:t>
            </a:r>
            <a:r>
              <a:rPr lang="en-US" sz="900" dirty="0">
                <a:solidFill>
                  <a:srgbClr val="36454F"/>
                </a:solidFill>
                <a:latin typeface="Calibri" pitchFamily="34" charset="0"/>
                <a:ea typeface="Calibri" pitchFamily="34" charset="-122"/>
                <a:cs typeface="Calibri" pitchFamily="34" charset="-120"/>
              </a:rPr>
              <a:t>Invest marketing budget in high-population underpenetrated states in South (Florida, North Carolina) and Central (Illinois — after fixing profitability, Georgia). Partner with regional distributors to reduce logistics costs in these regions. Study what makes West outperform and transfer those pricing and product-mix strategies to South and Central.</a:t>
            </a:r>
            <a:endParaRPr lang="en-US" sz="900" dirty="0"/>
          </a:p>
        </p:txBody>
      </p:sp>
      <p:sp>
        <p:nvSpPr>
          <p:cNvPr id="24" name="Text 22"/>
          <p:cNvSpPr/>
          <p:nvPr/>
        </p:nvSpPr>
        <p:spPr>
          <a:xfrm>
            <a:off x="7315200" y="3236976"/>
            <a:ext cx="1463040" cy="566928"/>
          </a:xfrm>
          <a:prstGeom prst="rect">
            <a:avLst/>
          </a:prstGeom>
          <a:noFill/>
          <a:ln/>
        </p:spPr>
        <p:txBody>
          <a:bodyPr wrap="square" lIns="0" tIns="0" rIns="0" bIns="0" rtlCol="0" anchor="ctr"/>
          <a:lstStyle/>
          <a:p>
            <a:pPr marL="0" indent="0">
              <a:buNone/>
            </a:pPr>
            <a:r>
              <a:rPr lang="en-US" sz="850" b="1" dirty="0">
                <a:solidFill>
                  <a:srgbClr val="F59E0B"/>
                </a:solidFill>
                <a:latin typeface="Calibri" pitchFamily="34" charset="0"/>
                <a:ea typeface="Calibri" pitchFamily="34" charset="-122"/>
                <a:cs typeface="Calibri" pitchFamily="34" charset="-120"/>
              </a:rPr>
              <a:t>KPI: Grow South + Central combined from $251K to $320K within 18 months</a:t>
            </a:r>
            <a:endParaRPr lang="en-US" sz="850" dirty="0"/>
          </a:p>
        </p:txBody>
      </p:sp>
      <p:sp>
        <p:nvSpPr>
          <p:cNvPr id="25" name="Shape 23"/>
          <p:cNvSpPr/>
          <p:nvPr/>
        </p:nvSpPr>
        <p:spPr>
          <a:xfrm>
            <a:off x="274320" y="3986784"/>
            <a:ext cx="8595360" cy="98755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6" name="Shape 24"/>
          <p:cNvSpPr/>
          <p:nvPr/>
        </p:nvSpPr>
        <p:spPr>
          <a:xfrm>
            <a:off x="274320" y="3986784"/>
            <a:ext cx="548640" cy="987552"/>
          </a:xfrm>
          <a:prstGeom prst="rect">
            <a:avLst/>
          </a:prstGeom>
          <a:solidFill>
            <a:srgbClr val="EF4444"/>
          </a:solidFill>
          <a:ln/>
        </p:spPr>
      </p:sp>
      <p:sp>
        <p:nvSpPr>
          <p:cNvPr id="27" name="Text 25"/>
          <p:cNvSpPr/>
          <p:nvPr/>
        </p:nvSpPr>
        <p:spPr>
          <a:xfrm>
            <a:off x="274320" y="4306824"/>
            <a:ext cx="54864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8" name="Text 26"/>
          <p:cNvSpPr/>
          <p:nvPr/>
        </p:nvSpPr>
        <p:spPr>
          <a:xfrm>
            <a:off x="960120" y="4041648"/>
            <a:ext cx="7772400" cy="256032"/>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Resolve Negative-Profit States</a:t>
            </a:r>
            <a:endParaRPr lang="en-US" sz="1200" dirty="0"/>
          </a:p>
        </p:txBody>
      </p:sp>
      <p:sp>
        <p:nvSpPr>
          <p:cNvPr id="29" name="Text 27"/>
          <p:cNvSpPr/>
          <p:nvPr/>
        </p:nvSpPr>
        <p:spPr>
          <a:xfrm>
            <a:off x="960120" y="4315968"/>
            <a:ext cx="6217920" cy="566928"/>
          </a:xfrm>
          <a:prstGeom prst="rect">
            <a:avLst/>
          </a:prstGeom>
          <a:noFill/>
          <a:ln/>
        </p:spPr>
        <p:txBody>
          <a:bodyPr wrap="square" lIns="0" tIns="0" rIns="0" bIns="0" rtlCol="0" anchor="ctr"/>
          <a:lstStyle/>
          <a:p>
            <a:pPr marL="0" indent="0">
              <a:buNone/>
            </a:pPr>
            <a:r>
              <a:rPr lang="en-US" sz="900" b="1" dirty="0">
                <a:solidFill>
                  <a:srgbClr val="EF4444"/>
                </a:solidFill>
                <a:latin typeface="Calibri" pitchFamily="34" charset="0"/>
                <a:ea typeface="Calibri" pitchFamily="34" charset="-122"/>
                <a:cs typeface="Calibri" pitchFamily="34" charset="-120"/>
              </a:rPr>
              <a:t>Trigger: </a:t>
            </a:r>
            <a:r>
              <a:rPr lang="en-US" sz="900" dirty="0">
                <a:solidFill>
                  <a:srgbClr val="36454F"/>
                </a:solidFill>
                <a:latin typeface="Calibri" pitchFamily="34" charset="0"/>
                <a:ea typeface="Calibri" pitchFamily="34" charset="-122"/>
                <a:cs typeface="Calibri" pitchFamily="34" charset="-120"/>
              </a:rPr>
              <a:t>Texas (-$8.84K), Colorado (-$4.44K), Oregon (-$0.38K) lose money despite decent sales — discounting and logistics costs exceed gross margin   </a:t>
            </a:r>
            <a:r>
              <a:rPr lang="en-US" sz="900" b="1" dirty="0">
                <a:solidFill>
                  <a:srgbClr val="1B3A6B"/>
                </a:solidFill>
                <a:latin typeface="Calibri" pitchFamily="34" charset="0"/>
                <a:ea typeface="Calibri" pitchFamily="34" charset="-122"/>
                <a:cs typeface="Calibri" pitchFamily="34" charset="-120"/>
              </a:rPr>
              <a:t>Action: </a:t>
            </a:r>
            <a:r>
              <a:rPr lang="en-US" sz="900" dirty="0">
                <a:solidFill>
                  <a:srgbClr val="36454F"/>
                </a:solidFill>
                <a:latin typeface="Calibri" pitchFamily="34" charset="0"/>
                <a:ea typeface="Calibri" pitchFamily="34" charset="-122"/>
                <a:cs typeface="Calibri" pitchFamily="34" charset="-120"/>
              </a:rPr>
              <a:t>Conduct full pricing and discount audit in Texas, Colorado, Oregon. Investigate shipping/logistics costs eating profit. Introduce minimum order values for high-cost delivery areas. If losses persist after 2 quarters — consider limiting operations.</a:t>
            </a:r>
            <a:endParaRPr lang="en-US" sz="900" dirty="0"/>
          </a:p>
        </p:txBody>
      </p:sp>
      <p:sp>
        <p:nvSpPr>
          <p:cNvPr id="30" name="Text 28"/>
          <p:cNvSpPr/>
          <p:nvPr/>
        </p:nvSpPr>
        <p:spPr>
          <a:xfrm>
            <a:off x="7315200" y="4315968"/>
            <a:ext cx="1463040" cy="566928"/>
          </a:xfrm>
          <a:prstGeom prst="rect">
            <a:avLst/>
          </a:prstGeom>
          <a:noFill/>
          <a:ln/>
        </p:spPr>
        <p:txBody>
          <a:bodyPr wrap="square" lIns="0" tIns="0" rIns="0" bIns="0" rtlCol="0" anchor="ctr"/>
          <a:lstStyle/>
          <a:p>
            <a:pPr marL="0" indent="0">
              <a:buNone/>
            </a:pPr>
            <a:r>
              <a:rPr lang="en-US" sz="850" b="1" dirty="0">
                <a:solidFill>
                  <a:srgbClr val="EF4444"/>
                </a:solidFill>
                <a:latin typeface="Calibri" pitchFamily="34" charset="0"/>
                <a:ea typeface="Calibri" pitchFamily="34" charset="-122"/>
                <a:cs typeface="Calibri" pitchFamily="34" charset="-120"/>
              </a:rPr>
              <a:t>KPI: Achieve breakeven (≥0 profit) in all three states within 6 months</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3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Strategic Recommendations — Part 2: Customer &amp; Product</a:t>
            </a:r>
            <a:endParaRPr lang="en-US" sz="2200" dirty="0"/>
          </a:p>
        </p:txBody>
      </p:sp>
      <p:sp>
        <p:nvSpPr>
          <p:cNvPr id="4" name="Shape 2"/>
          <p:cNvSpPr/>
          <p:nvPr/>
        </p:nvSpPr>
        <p:spPr>
          <a:xfrm>
            <a:off x="0" y="4892040"/>
            <a:ext cx="9144000" cy="251460"/>
          </a:xfrm>
          <a:prstGeom prst="rect">
            <a:avLst/>
          </a:prstGeom>
          <a:solidFill>
            <a:srgbClr val="1B3A6B"/>
          </a:solidFill>
          <a:ln/>
        </p:spPr>
      </p:sp>
      <p:sp>
        <p:nvSpPr>
          <p:cNvPr id="7" name="Shape 5"/>
          <p:cNvSpPr/>
          <p:nvPr/>
        </p:nvSpPr>
        <p:spPr>
          <a:xfrm>
            <a:off x="274320" y="749808"/>
            <a:ext cx="8595360" cy="98755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8" name="Shape 6"/>
          <p:cNvSpPr/>
          <p:nvPr/>
        </p:nvSpPr>
        <p:spPr>
          <a:xfrm>
            <a:off x="274320" y="749808"/>
            <a:ext cx="548640" cy="987552"/>
          </a:xfrm>
          <a:prstGeom prst="rect">
            <a:avLst/>
          </a:prstGeom>
          <a:solidFill>
            <a:srgbClr val="00A896"/>
          </a:solidFill>
          <a:ln/>
        </p:spPr>
      </p:sp>
      <p:sp>
        <p:nvSpPr>
          <p:cNvPr id="9" name="Text 7"/>
          <p:cNvSpPr/>
          <p:nvPr/>
        </p:nvSpPr>
        <p:spPr>
          <a:xfrm>
            <a:off x="274320" y="1069848"/>
            <a:ext cx="54864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10" name="Text 8"/>
          <p:cNvSpPr/>
          <p:nvPr/>
        </p:nvSpPr>
        <p:spPr>
          <a:xfrm>
            <a:off x="960120" y="804672"/>
            <a:ext cx="7772400" cy="256032"/>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Customer Loyalty &amp; Retention Program</a:t>
            </a:r>
            <a:endParaRPr lang="en-US" sz="1200" dirty="0"/>
          </a:p>
        </p:txBody>
      </p:sp>
      <p:sp>
        <p:nvSpPr>
          <p:cNvPr id="11" name="Text 9"/>
          <p:cNvSpPr/>
          <p:nvPr/>
        </p:nvSpPr>
        <p:spPr>
          <a:xfrm>
            <a:off x="960120" y="1078992"/>
            <a:ext cx="6217920" cy="566928"/>
          </a:xfrm>
          <a:prstGeom prst="rect">
            <a:avLst/>
          </a:prstGeom>
          <a:noFill/>
          <a:ln/>
        </p:spPr>
        <p:txBody>
          <a:bodyPr wrap="square" lIns="0" tIns="0" rIns="0" bIns="0" rtlCol="0" anchor="ctr"/>
          <a:lstStyle/>
          <a:p>
            <a:pPr marL="0" indent="0">
              <a:buNone/>
            </a:pPr>
            <a:r>
              <a:rPr lang="en-US" sz="900" b="1" dirty="0">
                <a:solidFill>
                  <a:srgbClr val="00A896"/>
                </a:solidFill>
                <a:latin typeface="Calibri" pitchFamily="34" charset="0"/>
                <a:ea typeface="Calibri" pitchFamily="34" charset="-122"/>
                <a:cs typeface="Calibri" pitchFamily="34" charset="-120"/>
              </a:rPr>
              <a:t>Trigger: </a:t>
            </a:r>
            <a:r>
              <a:rPr lang="en-US" sz="900" dirty="0">
                <a:solidFill>
                  <a:srgbClr val="36454F"/>
                </a:solidFill>
                <a:latin typeface="Calibri" pitchFamily="34" charset="0"/>
                <a:ea typeface="Calibri" pitchFamily="34" charset="-122"/>
                <a:cs typeface="Calibri" pitchFamily="34" charset="-120"/>
              </a:rPr>
              <a:t>493 returning customers (within-year buyers); avg orders/customer +18.1% to 2.4 orders in 2023 — loyalty is growing but not yet fully monetized   </a:t>
            </a:r>
            <a:r>
              <a:rPr lang="en-US" sz="900" b="1" dirty="0">
                <a:solidFill>
                  <a:srgbClr val="1B3A6B"/>
                </a:solidFill>
                <a:latin typeface="Calibri" pitchFamily="34" charset="0"/>
                <a:ea typeface="Calibri" pitchFamily="34" charset="-122"/>
                <a:cs typeface="Calibri" pitchFamily="34" charset="-120"/>
              </a:rPr>
              <a:t>Action: </a:t>
            </a:r>
            <a:r>
              <a:rPr lang="en-US" sz="900" dirty="0">
                <a:solidFill>
                  <a:srgbClr val="36454F"/>
                </a:solidFill>
                <a:latin typeface="Calibri" pitchFamily="34" charset="0"/>
                <a:ea typeface="Calibri" pitchFamily="34" charset="-122"/>
                <a:cs typeface="Calibri" pitchFamily="34" charset="-120"/>
              </a:rPr>
              <a:t>Launch tiered loyalty program with points system. Create VIP tier for customers with 10+ orders/year (e.g. Seth Vernon: 73 orders). Use purchase history for personalized recommendations. Consider annual subscription model for high-frequency buyers. To accelerate acquisition: launch referral program, offer first-order discount for new customers, set quarterly new customer acquisition target of minimum 15% growth.</a:t>
            </a:r>
            <a:endParaRPr lang="en-US" sz="900" dirty="0"/>
          </a:p>
        </p:txBody>
      </p:sp>
      <p:sp>
        <p:nvSpPr>
          <p:cNvPr id="12" name="Text 10"/>
          <p:cNvSpPr/>
          <p:nvPr/>
        </p:nvSpPr>
        <p:spPr>
          <a:xfrm>
            <a:off x="7315200" y="1078992"/>
            <a:ext cx="1463040" cy="566928"/>
          </a:xfrm>
          <a:prstGeom prst="rect">
            <a:avLst/>
          </a:prstGeom>
          <a:noFill/>
          <a:ln/>
        </p:spPr>
        <p:txBody>
          <a:bodyPr wrap="square" lIns="0" tIns="0" rIns="0" bIns="0" rtlCol="0" anchor="ctr"/>
          <a:lstStyle/>
          <a:p>
            <a:pPr marL="0" indent="0">
              <a:buNone/>
            </a:pPr>
            <a:r>
              <a:rPr lang="en-US" sz="850" b="1" dirty="0">
                <a:solidFill>
                  <a:srgbClr val="00A896"/>
                </a:solidFill>
                <a:latin typeface="Calibri" pitchFamily="34" charset="0"/>
                <a:ea typeface="Calibri" pitchFamily="34" charset="-122"/>
                <a:cs typeface="Calibri" pitchFamily="34" charset="-120"/>
              </a:rPr>
              <a:t>KPI: Sustain returning customer YoY growth at ≥30% (currently +70.7%); grow new customer acquisition rate from +8.6% to +15% per quarter; increase avg orders per customer from 2.4 to 3.5 within 12 months</a:t>
            </a:r>
            <a:endParaRPr lang="en-US" sz="850" dirty="0"/>
          </a:p>
        </p:txBody>
      </p:sp>
      <p:sp>
        <p:nvSpPr>
          <p:cNvPr id="13" name="Shape 11"/>
          <p:cNvSpPr/>
          <p:nvPr/>
        </p:nvSpPr>
        <p:spPr>
          <a:xfrm>
            <a:off x="274320" y="1828800"/>
            <a:ext cx="8595360" cy="98755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4" name="Shape 12"/>
          <p:cNvSpPr/>
          <p:nvPr/>
        </p:nvSpPr>
        <p:spPr>
          <a:xfrm>
            <a:off x="274320" y="1828800"/>
            <a:ext cx="548640" cy="987552"/>
          </a:xfrm>
          <a:prstGeom prst="rect">
            <a:avLst/>
          </a:prstGeom>
          <a:solidFill>
            <a:srgbClr val="EF4444"/>
          </a:solidFill>
          <a:ln/>
        </p:spPr>
      </p:sp>
      <p:sp>
        <p:nvSpPr>
          <p:cNvPr id="15" name="Text 13"/>
          <p:cNvSpPr/>
          <p:nvPr/>
        </p:nvSpPr>
        <p:spPr>
          <a:xfrm>
            <a:off x="274320" y="2148840"/>
            <a:ext cx="54864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06</a:t>
            </a:r>
            <a:endParaRPr lang="en-US" sz="1600" dirty="0"/>
          </a:p>
        </p:txBody>
      </p:sp>
      <p:sp>
        <p:nvSpPr>
          <p:cNvPr id="16" name="Text 14"/>
          <p:cNvSpPr/>
          <p:nvPr/>
        </p:nvSpPr>
        <p:spPr>
          <a:xfrm>
            <a:off x="960120" y="1883664"/>
            <a:ext cx="7772400" cy="256032"/>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Eliminate Loss-Making Products &amp; Accounts</a:t>
            </a:r>
            <a:endParaRPr lang="en-US" sz="1200" dirty="0"/>
          </a:p>
        </p:txBody>
      </p:sp>
      <p:sp>
        <p:nvSpPr>
          <p:cNvPr id="17" name="Text 15"/>
          <p:cNvSpPr/>
          <p:nvPr/>
        </p:nvSpPr>
        <p:spPr>
          <a:xfrm>
            <a:off x="960120" y="2157984"/>
            <a:ext cx="6217920" cy="566928"/>
          </a:xfrm>
          <a:prstGeom prst="rect">
            <a:avLst/>
          </a:prstGeom>
          <a:noFill/>
          <a:ln/>
        </p:spPr>
        <p:txBody>
          <a:bodyPr wrap="square" lIns="0" tIns="0" rIns="0" bIns="0" rtlCol="0" anchor="ctr"/>
          <a:lstStyle/>
          <a:p>
            <a:pPr marL="0" indent="0">
              <a:buNone/>
            </a:pPr>
            <a:r>
              <a:rPr lang="en-US" sz="900" b="1" dirty="0">
                <a:solidFill>
                  <a:srgbClr val="EF4444"/>
                </a:solidFill>
                <a:latin typeface="Calibri" pitchFamily="34" charset="0"/>
                <a:ea typeface="Calibri" pitchFamily="34" charset="-122"/>
                <a:cs typeface="Calibri" pitchFamily="34" charset="-120"/>
              </a:rPr>
              <a:t>Trigger: </a:t>
            </a:r>
            <a:r>
              <a:rPr lang="en-US" sz="900" dirty="0">
                <a:solidFill>
                  <a:srgbClr val="36454F"/>
                </a:solidFill>
                <a:latin typeface="Calibri" pitchFamily="34" charset="0"/>
                <a:ea typeface="Calibri" pitchFamily="34" charset="-122"/>
                <a:cs typeface="Calibri" pitchFamily="34" charset="-120"/>
              </a:rPr>
              <a:t>Tables sub-category is profit-negative; Grant Thornton: $8K sales but -$3.83K profit — net loss customer requiring urgent review   </a:t>
            </a:r>
            <a:r>
              <a:rPr lang="en-US" sz="900" b="1" dirty="0">
                <a:solidFill>
                  <a:srgbClr val="1B3A6B"/>
                </a:solidFill>
                <a:latin typeface="Calibri" pitchFamily="34" charset="0"/>
                <a:ea typeface="Calibri" pitchFamily="34" charset="-122"/>
                <a:cs typeface="Calibri" pitchFamily="34" charset="-120"/>
              </a:rPr>
              <a:t>Action: </a:t>
            </a:r>
            <a:r>
              <a:rPr lang="en-US" sz="900" dirty="0">
                <a:solidFill>
                  <a:srgbClr val="36454F"/>
                </a:solidFill>
                <a:latin typeface="Calibri" pitchFamily="34" charset="0"/>
                <a:ea typeface="Calibri" pitchFamily="34" charset="-122"/>
                <a:cs typeface="Calibri" pitchFamily="34" charset="-120"/>
              </a:rPr>
              <a:t>Reprice Tables by 15-20% or discontinue. Review Grant Thornton pricing — renegotiate or exit. For Fasteners/Envelopes/Labels: calculate true profitability including storage, handling, shipping costs — if unprofitable discontinue and reallocate warehouse space; if marginal, bundle with high-demand products.</a:t>
            </a:r>
            <a:endParaRPr lang="en-US" sz="900" dirty="0"/>
          </a:p>
        </p:txBody>
      </p:sp>
      <p:sp>
        <p:nvSpPr>
          <p:cNvPr id="18" name="Text 16"/>
          <p:cNvSpPr/>
          <p:nvPr/>
        </p:nvSpPr>
        <p:spPr>
          <a:xfrm>
            <a:off x="7315200" y="2157984"/>
            <a:ext cx="1463040" cy="566928"/>
          </a:xfrm>
          <a:prstGeom prst="rect">
            <a:avLst/>
          </a:prstGeom>
          <a:noFill/>
          <a:ln/>
        </p:spPr>
        <p:txBody>
          <a:bodyPr wrap="square" lIns="0" tIns="0" rIns="0" bIns="0" rtlCol="0" anchor="ctr"/>
          <a:lstStyle/>
          <a:p>
            <a:pPr marL="0" indent="0">
              <a:buNone/>
            </a:pPr>
            <a:r>
              <a:rPr lang="en-US" sz="900" b="1" dirty="0">
                <a:solidFill>
                  <a:srgbClr val="EF4444"/>
                </a:solidFill>
                <a:latin typeface="Calibri" pitchFamily="34" charset="0"/>
                <a:ea typeface="Calibri" pitchFamily="34" charset="-122"/>
                <a:cs typeface="Calibri" pitchFamily="34" charset="-120"/>
              </a:rPr>
              <a:t>KPI: Tables: breakeven within 2 quarters via repricing. Grant Thornton: renegotiate or exit within 30 days. All loss-making sub-categories: reach positive profit within 3 quarters.</a:t>
            </a:r>
            <a:endParaRPr lang="en-US" sz="850" dirty="0"/>
          </a:p>
        </p:txBody>
      </p:sp>
      <p:sp>
        <p:nvSpPr>
          <p:cNvPr id="19" name="Shape 17"/>
          <p:cNvSpPr/>
          <p:nvPr/>
        </p:nvSpPr>
        <p:spPr>
          <a:xfrm>
            <a:off x="274320" y="2907792"/>
            <a:ext cx="8595360" cy="98755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0" name="Shape 18"/>
          <p:cNvSpPr/>
          <p:nvPr/>
        </p:nvSpPr>
        <p:spPr>
          <a:xfrm>
            <a:off x="274320" y="2907792"/>
            <a:ext cx="548640" cy="987552"/>
          </a:xfrm>
          <a:prstGeom prst="rect">
            <a:avLst/>
          </a:prstGeom>
          <a:solidFill>
            <a:srgbClr val="028090"/>
          </a:solidFill>
          <a:ln/>
        </p:spPr>
      </p:sp>
      <p:sp>
        <p:nvSpPr>
          <p:cNvPr id="21" name="Text 19"/>
          <p:cNvSpPr/>
          <p:nvPr/>
        </p:nvSpPr>
        <p:spPr>
          <a:xfrm>
            <a:off x="274320" y="3227832"/>
            <a:ext cx="54864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07</a:t>
            </a:r>
            <a:endParaRPr lang="en-US" sz="1600" dirty="0"/>
          </a:p>
        </p:txBody>
      </p:sp>
      <p:sp>
        <p:nvSpPr>
          <p:cNvPr id="22" name="Text 20"/>
          <p:cNvSpPr/>
          <p:nvPr/>
        </p:nvSpPr>
        <p:spPr>
          <a:xfrm>
            <a:off x="960120" y="2962656"/>
            <a:ext cx="7772400" cy="256032"/>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Discount Reduction &amp; Margin Optimization</a:t>
            </a:r>
            <a:endParaRPr lang="en-US" sz="1200" dirty="0"/>
          </a:p>
        </p:txBody>
      </p:sp>
      <p:sp>
        <p:nvSpPr>
          <p:cNvPr id="23" name="Text 21"/>
          <p:cNvSpPr/>
          <p:nvPr/>
        </p:nvSpPr>
        <p:spPr>
          <a:xfrm>
            <a:off x="960120" y="3236976"/>
            <a:ext cx="6217920" cy="566928"/>
          </a:xfrm>
          <a:prstGeom prst="rect">
            <a:avLst/>
          </a:prstGeom>
          <a:noFill/>
          <a:ln/>
        </p:spPr>
        <p:txBody>
          <a:bodyPr wrap="square" lIns="0" tIns="0" rIns="0" bIns="0" rtlCol="0" anchor="ctr"/>
          <a:lstStyle/>
          <a:p>
            <a:pPr marL="0" indent="0">
              <a:buNone/>
            </a:pPr>
            <a:r>
              <a:rPr lang="en-US" sz="900" b="1" dirty="0">
                <a:solidFill>
                  <a:srgbClr val="028090"/>
                </a:solidFill>
                <a:latin typeface="Calibri" pitchFamily="34" charset="0"/>
                <a:ea typeface="Calibri" pitchFamily="34" charset="-122"/>
                <a:cs typeface="Calibri" pitchFamily="34" charset="-120"/>
              </a:rPr>
              <a:t>Trigger: </a:t>
            </a:r>
            <a:r>
              <a:rPr lang="en-US" sz="900" dirty="0">
                <a:solidFill>
                  <a:srgbClr val="36454F"/>
                </a:solidFill>
                <a:latin typeface="Calibri" pitchFamily="34" charset="0"/>
                <a:ea typeface="Calibri" pitchFamily="34" charset="-122"/>
                <a:cs typeface="Calibri" pitchFamily="34" charset="-120"/>
              </a:rPr>
              <a:t>Average profit of $28.21/order indicates thin margins across the portfolio   </a:t>
            </a:r>
            <a:r>
              <a:rPr lang="en-US" sz="900" b="1" dirty="0">
                <a:solidFill>
                  <a:srgbClr val="1B3A6B"/>
                </a:solidFill>
                <a:latin typeface="Calibri" pitchFamily="34" charset="0"/>
                <a:ea typeface="Calibri" pitchFamily="34" charset="-122"/>
                <a:cs typeface="Calibri" pitchFamily="34" charset="-120"/>
              </a:rPr>
              <a:t>Action: </a:t>
            </a:r>
            <a:r>
              <a:rPr lang="en-US" sz="900" dirty="0">
                <a:solidFill>
                  <a:srgbClr val="36454F"/>
                </a:solidFill>
                <a:latin typeface="Calibri" pitchFamily="34" charset="0"/>
                <a:ea typeface="Calibri" pitchFamily="34" charset="-122"/>
                <a:cs typeface="Calibri" pitchFamily="34" charset="-120"/>
              </a:rPr>
              <a:t>Conduct full discount audit — identify products/customers with excessive discounts. Set an initial minimum 10% profit margin floor per order (current avg: 6.5%), targeting 15% within 18 months. Remove discounts on high-demand products (Phones, Chairs) where demand is inelastic. Introduce tiered pricing for volume buyers to protect margin at scale.</a:t>
            </a:r>
            <a:endParaRPr lang="en-US" sz="900" dirty="0"/>
          </a:p>
        </p:txBody>
      </p:sp>
      <p:sp>
        <p:nvSpPr>
          <p:cNvPr id="24" name="Text 22"/>
          <p:cNvSpPr/>
          <p:nvPr/>
        </p:nvSpPr>
        <p:spPr>
          <a:xfrm>
            <a:off x="7315200" y="3236976"/>
            <a:ext cx="1463040" cy="566928"/>
          </a:xfrm>
          <a:prstGeom prst="rect">
            <a:avLst/>
          </a:prstGeom>
          <a:noFill/>
          <a:ln/>
        </p:spPr>
        <p:txBody>
          <a:bodyPr wrap="square" lIns="0" tIns="0" rIns="0" bIns="0" rtlCol="0" anchor="ctr"/>
          <a:lstStyle/>
          <a:p>
            <a:pPr marL="0" indent="0">
              <a:buNone/>
            </a:pPr>
            <a:r>
              <a:rPr lang="en-US" sz="850" b="1" dirty="0">
                <a:solidFill>
                  <a:srgbClr val="028090"/>
                </a:solidFill>
                <a:latin typeface="Calibri" pitchFamily="34" charset="0"/>
                <a:ea typeface="Calibri" pitchFamily="34" charset="-122"/>
                <a:cs typeface="Calibri" pitchFamily="34" charset="-120"/>
              </a:rPr>
              <a:t>KPI: Increase average profit per order from $28.21 to $35+ within 12 months</a:t>
            </a:r>
            <a:endParaRPr lang="en-US" sz="850" dirty="0"/>
          </a:p>
        </p:txBody>
      </p:sp>
      <p:sp>
        <p:nvSpPr>
          <p:cNvPr id="25" name="Shape 23"/>
          <p:cNvSpPr/>
          <p:nvPr/>
        </p:nvSpPr>
        <p:spPr>
          <a:xfrm>
            <a:off x="274320" y="3986784"/>
            <a:ext cx="8595360" cy="98755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6" name="Shape 24"/>
          <p:cNvSpPr/>
          <p:nvPr/>
        </p:nvSpPr>
        <p:spPr>
          <a:xfrm>
            <a:off x="274320" y="3986784"/>
            <a:ext cx="548640" cy="987552"/>
          </a:xfrm>
          <a:prstGeom prst="rect">
            <a:avLst/>
          </a:prstGeom>
          <a:solidFill>
            <a:srgbClr val="1B3A6B"/>
          </a:solidFill>
          <a:ln/>
        </p:spPr>
      </p:sp>
      <p:sp>
        <p:nvSpPr>
          <p:cNvPr id="27" name="Text 25"/>
          <p:cNvSpPr/>
          <p:nvPr/>
        </p:nvSpPr>
        <p:spPr>
          <a:xfrm>
            <a:off x="274320" y="4306824"/>
            <a:ext cx="54864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08</a:t>
            </a:r>
            <a:endParaRPr lang="en-US" sz="1600" dirty="0"/>
          </a:p>
        </p:txBody>
      </p:sp>
      <p:sp>
        <p:nvSpPr>
          <p:cNvPr id="28" name="Text 26"/>
          <p:cNvSpPr/>
          <p:nvPr/>
        </p:nvSpPr>
        <p:spPr>
          <a:xfrm>
            <a:off x="960120" y="4041648"/>
            <a:ext cx="7772400" cy="256032"/>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Cross-Sell Technology + Office Supplies Bundles</a:t>
            </a:r>
            <a:endParaRPr lang="en-US" sz="1200" dirty="0"/>
          </a:p>
        </p:txBody>
      </p:sp>
      <p:sp>
        <p:nvSpPr>
          <p:cNvPr id="29" name="Text 27"/>
          <p:cNvSpPr/>
          <p:nvPr/>
        </p:nvSpPr>
        <p:spPr>
          <a:xfrm>
            <a:off x="960120" y="4315968"/>
            <a:ext cx="6217920" cy="566928"/>
          </a:xfrm>
          <a:prstGeom prst="rect">
            <a:avLst/>
          </a:prstGeom>
          <a:noFill/>
          <a:ln/>
        </p:spPr>
        <p:txBody>
          <a:bodyPr wrap="square" lIns="0" tIns="0" rIns="0" bIns="0" rtlCol="0" anchor="ctr"/>
          <a:lstStyle/>
          <a:p>
            <a:pPr marL="0" indent="0">
              <a:buNone/>
            </a:pPr>
            <a:r>
              <a:rPr lang="en-US" sz="900" b="1" dirty="0">
                <a:solidFill>
                  <a:srgbClr val="1B3A6B"/>
                </a:solidFill>
                <a:latin typeface="Calibri" pitchFamily="34" charset="0"/>
                <a:ea typeface="Calibri" pitchFamily="34" charset="-122"/>
                <a:cs typeface="Calibri" pitchFamily="34" charset="-120"/>
              </a:rPr>
              <a:t>Trigger: </a:t>
            </a:r>
            <a:r>
              <a:rPr lang="en-US" sz="900" dirty="0">
                <a:solidFill>
                  <a:srgbClr val="36454F"/>
                </a:solidFill>
                <a:latin typeface="Calibri" pitchFamily="34" charset="0"/>
                <a:ea typeface="Calibri" pitchFamily="34" charset="-122"/>
                <a:cs typeface="Calibri" pitchFamily="34" charset="-120"/>
              </a:rPr>
              <a:t>Technology leads in revenue but Office Supplies leads in quantity (7.68K units)   </a:t>
            </a:r>
            <a:r>
              <a:rPr lang="en-US" sz="900" b="1" dirty="0">
                <a:solidFill>
                  <a:srgbClr val="1B3A6B"/>
                </a:solidFill>
                <a:latin typeface="Calibri" pitchFamily="34" charset="0"/>
                <a:ea typeface="Calibri" pitchFamily="34" charset="-122"/>
                <a:cs typeface="Calibri" pitchFamily="34" charset="-120"/>
              </a:rPr>
              <a:t>Action: </a:t>
            </a:r>
            <a:r>
              <a:rPr lang="en-US" sz="900" dirty="0">
                <a:solidFill>
                  <a:srgbClr val="36454F"/>
                </a:solidFill>
                <a:latin typeface="Calibri" pitchFamily="34" charset="0"/>
                <a:ea typeface="Calibri" pitchFamily="34" charset="-122"/>
                <a:cs typeface="Calibri" pitchFamily="34" charset="-120"/>
              </a:rPr>
              <a:t>Upsell accessories at point of sale (cases, chargers, warranties) with Phones. Create Technology bundles (Phone + Accessories + Support). Focus on higher-margin sub-categories: Copiers and Machines alongside Phones. Negotiate better supplier pricing given high Phone volume.</a:t>
            </a:r>
            <a:endParaRPr lang="en-US" sz="900" dirty="0"/>
          </a:p>
        </p:txBody>
      </p:sp>
      <p:sp>
        <p:nvSpPr>
          <p:cNvPr id="30" name="Text 28"/>
          <p:cNvSpPr/>
          <p:nvPr/>
        </p:nvSpPr>
        <p:spPr>
          <a:xfrm>
            <a:off x="7315200" y="4315968"/>
            <a:ext cx="1463040" cy="566928"/>
          </a:xfrm>
          <a:prstGeom prst="rect">
            <a:avLst/>
          </a:prstGeom>
          <a:noFill/>
          <a:ln/>
        </p:spPr>
        <p:txBody>
          <a:bodyPr wrap="square" lIns="0" tIns="0" rIns="0" bIns="0" rtlCol="0" anchor="ctr"/>
          <a:lstStyle/>
          <a:p>
            <a:pPr marL="0" indent="0">
              <a:buNone/>
            </a:pPr>
            <a:r>
              <a:rPr lang="en-US" sz="850" b="1" dirty="0">
                <a:solidFill>
                  <a:srgbClr val="1B3A6B"/>
                </a:solidFill>
                <a:latin typeface="Calibri" pitchFamily="34" charset="0"/>
                <a:ea typeface="Calibri" pitchFamily="34" charset="-122"/>
                <a:cs typeface="Calibri" pitchFamily="34" charset="-120"/>
              </a:rPr>
              <a:t>KPI: Increase average items per order by 25% and achieve a 30% Technology accessory attach rate on Phone orders within 6 months</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45720" tIns="45720" rIns="45720" bIns="45720" rtlCol="0" anchor="t">
            <a:normAutofit/>
          </a:bodyPr>
          <a:lstStyle/>
          <a:p>
            <a:pPr marL="0" indent="0" algn="l">
              <a:buNone/>
            </a:pPr>
            <a:r>
              <a:rPr lang="en-US" sz="2200" b="1" dirty="0">
                <a:solidFill>
                  <a:srgbClr val="FFFFFF"/>
                </a:solidFill>
                <a:latin typeface="Calibri" pitchFamily="34" charset="0"/>
                <a:ea typeface="Calibri" pitchFamily="34" charset="-122"/>
                <a:cs typeface="Calibri" pitchFamily="34" charset="-120"/>
              </a:rPr>
              <a:t>Strategic Recommendations — Part 3: Segmentation &amp; Future Growth</a:t>
            </a:r>
            <a:endParaRPr lang="en-US" sz="2200" dirty="0"/>
          </a:p>
        </p:txBody>
      </p:sp>
      <p:sp>
        <p:nvSpPr>
          <p:cNvPr id="4" name="Shape 2"/>
          <p:cNvSpPr/>
          <p:nvPr/>
        </p:nvSpPr>
        <p:spPr>
          <a:xfrm>
            <a:off x="0" y="4892040"/>
            <a:ext cx="9144000" cy="251460"/>
          </a:xfrm>
          <a:prstGeom prst="rect">
            <a:avLst/>
          </a:prstGeom>
          <a:solidFill>
            <a:srgbClr val="1B3A6B"/>
          </a:solidFill>
          <a:ln/>
        </p:spPr>
      </p:sp>
      <p:sp>
        <p:nvSpPr>
          <p:cNvPr id="7" name="Shape 5"/>
          <p:cNvSpPr/>
          <p:nvPr/>
        </p:nvSpPr>
        <p:spPr>
          <a:xfrm>
            <a:off x="274320" y="804672"/>
            <a:ext cx="859536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8" name="Shape 6"/>
          <p:cNvSpPr/>
          <p:nvPr/>
        </p:nvSpPr>
        <p:spPr>
          <a:xfrm>
            <a:off x="274320" y="804672"/>
            <a:ext cx="594360" cy="1691640"/>
          </a:xfrm>
          <a:prstGeom prst="rect">
            <a:avLst/>
          </a:prstGeom>
          <a:solidFill>
            <a:srgbClr val="9333EA"/>
          </a:solidFill>
          <a:ln/>
        </p:spPr>
      </p:sp>
      <p:sp>
        <p:nvSpPr>
          <p:cNvPr id="9" name="Text 7"/>
          <p:cNvSpPr/>
          <p:nvPr/>
        </p:nvSpPr>
        <p:spPr>
          <a:xfrm>
            <a:off x="274320" y="1463040"/>
            <a:ext cx="594360" cy="384048"/>
          </a:xfrm>
          <a:prstGeom prst="rect">
            <a:avLst/>
          </a:prstGeom>
          <a:noFill/>
          <a:ln/>
        </p:spPr>
        <p:txBody>
          <a:bodyPr wrap="square" lIns="45720" tIns="45720" rIns="45720" bIns="45720" rtlCol="0" anchor="t">
            <a:normAutofit/>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09</a:t>
            </a:r>
            <a:endParaRPr lang="en-US" sz="1800" dirty="0"/>
          </a:p>
        </p:txBody>
      </p:sp>
      <p:sp>
        <p:nvSpPr>
          <p:cNvPr id="10" name="Text 8"/>
          <p:cNvSpPr/>
          <p:nvPr/>
        </p:nvSpPr>
        <p:spPr>
          <a:xfrm>
            <a:off x="1005840" y="896112"/>
            <a:ext cx="7406640" cy="310896"/>
          </a:xfrm>
          <a:prstGeom prst="rect">
            <a:avLst/>
          </a:prstGeom>
          <a:noFill/>
          <a:ln/>
        </p:spPr>
        <p:txBody>
          <a:bodyPr wrap="square" lIns="0" tIns="0" rIns="0" bIns="0"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Customer Segmentation &amp; Personalization</a:t>
            </a:r>
            <a:endParaRPr lang="en-US" sz="1400" dirty="0"/>
          </a:p>
        </p:txBody>
      </p:sp>
      <p:sp>
        <p:nvSpPr>
          <p:cNvPr id="11" name="Text 9"/>
          <p:cNvSpPr/>
          <p:nvPr/>
        </p:nvSpPr>
        <p:spPr>
          <a:xfrm>
            <a:off x="1005840" y="1261872"/>
            <a:ext cx="7406640" cy="1152144"/>
          </a:xfrm>
          <a:prstGeom prst="rect">
            <a:avLst/>
          </a:prstGeom>
          <a:noFill/>
          <a:ln/>
        </p:spPr>
        <p:txBody>
          <a:bodyPr wrap="square" lIns="0" tIns="0" rIns="0" bIns="0" rtlCol="0" anchor="ctr"/>
          <a:lstStyle/>
          <a:p>
            <a:pPr marL="0" indent="0">
              <a:buNone/>
            </a:pPr>
            <a:r>
              <a:rPr lang="en-US" sz="900" b="1" dirty="0">
                <a:solidFill>
                  <a:srgbClr val="9333EA"/>
                </a:solidFill>
                <a:latin typeface="Calibri" pitchFamily="34" charset="0"/>
                <a:ea typeface="Calibri" pitchFamily="34" charset="-122"/>
                <a:cs typeface="Calibri" pitchFamily="34" charset="-120"/>
              </a:rPr>
              <a:t>📌 Trigger: </a:t>
            </a:r>
            <a:r>
              <a:rPr lang="en-US" sz="900" dirty="0">
                <a:solidFill>
                  <a:srgbClr val="36454F"/>
                </a:solidFill>
                <a:latin typeface="Calibri" pitchFamily="34" charset="0"/>
                <a:ea typeface="Calibri" pitchFamily="34" charset="-122"/>
                <a:cs typeface="Calibri" pitchFamily="34" charset="-120"/>
              </a:rPr>
              <a:t>Consumer (52%), Corporate (29%), Home Office (18%) each have distinct needs
</a:t>
            </a:r>
            <a:endParaRPr lang="en-US" sz="900" dirty="0"/>
          </a:p>
          <a:p>
            <a:pPr marL="0" indent="0">
              <a:buNone/>
            </a:pPr>
            <a:r>
              <a:rPr lang="en-US" sz="900" b="1" dirty="0">
                <a:solidFill>
                  <a:srgbClr val="1B3A6B"/>
                </a:solidFill>
                <a:latin typeface="Calibri" pitchFamily="34" charset="0"/>
                <a:ea typeface="Calibri" pitchFamily="34" charset="-122"/>
                <a:cs typeface="Calibri" pitchFamily="34" charset="-120"/>
              </a:rPr>
              <a:t>🎯 Action: </a:t>
            </a:r>
            <a:r>
              <a:rPr lang="en-US" sz="900" dirty="0">
                <a:solidFill>
                  <a:srgbClr val="36454F"/>
                </a:solidFill>
                <a:latin typeface="Calibri" pitchFamily="34" charset="0"/>
                <a:ea typeface="Calibri" pitchFamily="34" charset="-122"/>
                <a:cs typeface="Calibri" pitchFamily="34" charset="-120"/>
              </a:rPr>
              <a:t>Launch dedicated B2B sales team. Create corporate account packages (bulk pricing, guaranteed margins). Target Furniture + Office Supplies for corporate clients. Offer corporate credit terms (net 30/60). For Home Office: create starter packages, offer home delivery with setup service, partner with HR departments of remote-work companies, and target via digital ads.
</a:t>
            </a:r>
            <a:endParaRPr lang="en-US" sz="900" dirty="0"/>
          </a:p>
          <a:p>
            <a:pPr marL="0" indent="0">
              <a:buNone/>
            </a:pPr>
            <a:r>
              <a:rPr lang="en-US" sz="900" b="1" dirty="0">
                <a:solidFill>
                  <a:srgbClr val="9333EA"/>
                </a:solidFill>
                <a:latin typeface="Calibri" pitchFamily="34" charset="0"/>
                <a:ea typeface="Calibri" pitchFamily="34" charset="-122"/>
                <a:cs typeface="Calibri" pitchFamily="34" charset="-120"/>
              </a:rPr>
              <a:t>📊 KPI Target: </a:t>
            </a:r>
            <a:r>
              <a:rPr lang="en-US" sz="900" dirty="0">
                <a:solidFill>
                  <a:srgbClr val="36454F"/>
                </a:solidFill>
                <a:latin typeface="Calibri" pitchFamily="34" charset="0"/>
                <a:ea typeface="Calibri" pitchFamily="34" charset="-122"/>
                <a:cs typeface="Calibri" pitchFamily="34" charset="-120"/>
              </a:rPr>
              <a:t>Grow Corporate segment contribution from 29% to 35% over 24 months</a:t>
            </a:r>
            <a:endParaRPr lang="en-US" sz="900" dirty="0"/>
          </a:p>
        </p:txBody>
      </p:sp>
      <p:sp>
        <p:nvSpPr>
          <p:cNvPr id="12" name="Shape 10"/>
          <p:cNvSpPr/>
          <p:nvPr/>
        </p:nvSpPr>
        <p:spPr>
          <a:xfrm>
            <a:off x="274320" y="2724912"/>
            <a:ext cx="859536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3" name="Shape 11"/>
          <p:cNvSpPr/>
          <p:nvPr/>
        </p:nvSpPr>
        <p:spPr>
          <a:xfrm>
            <a:off x="274320" y="2724912"/>
            <a:ext cx="594360" cy="1691640"/>
          </a:xfrm>
          <a:prstGeom prst="rect">
            <a:avLst/>
          </a:prstGeom>
          <a:solidFill>
            <a:srgbClr val="F59E0B"/>
          </a:solidFill>
          <a:ln/>
        </p:spPr>
      </p:sp>
      <p:sp>
        <p:nvSpPr>
          <p:cNvPr id="14" name="Text 12"/>
          <p:cNvSpPr/>
          <p:nvPr/>
        </p:nvSpPr>
        <p:spPr>
          <a:xfrm>
            <a:off x="274320" y="3383280"/>
            <a:ext cx="594360"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10</a:t>
            </a:r>
            <a:endParaRPr lang="en-US" sz="1800" dirty="0"/>
          </a:p>
        </p:txBody>
      </p:sp>
      <p:sp>
        <p:nvSpPr>
          <p:cNvPr id="15" name="Text 13"/>
          <p:cNvSpPr/>
          <p:nvPr/>
        </p:nvSpPr>
        <p:spPr>
          <a:xfrm>
            <a:off x="1005840" y="2816352"/>
            <a:ext cx="7406640" cy="310896"/>
          </a:xfrm>
          <a:prstGeom prst="rect">
            <a:avLst/>
          </a:prstGeom>
          <a:noFill/>
          <a:ln/>
        </p:spPr>
        <p:txBody>
          <a:bodyPr wrap="square" lIns="0" tIns="0" rIns="0" bIns="0"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Inventory Optimization for Peak Periods</a:t>
            </a:r>
            <a:endParaRPr lang="en-US" sz="1400" dirty="0"/>
          </a:p>
        </p:txBody>
      </p:sp>
      <p:sp>
        <p:nvSpPr>
          <p:cNvPr id="16" name="Text 14"/>
          <p:cNvSpPr/>
          <p:nvPr/>
        </p:nvSpPr>
        <p:spPr>
          <a:xfrm>
            <a:off x="1005840" y="3182112"/>
            <a:ext cx="7406640" cy="1152144"/>
          </a:xfrm>
          <a:prstGeom prst="rect">
            <a:avLst/>
          </a:prstGeom>
          <a:noFill/>
          <a:ln/>
        </p:spPr>
        <p:txBody>
          <a:bodyPr wrap="square" lIns="0" tIns="0" rIns="0" bIns="0" rtlCol="0" anchor="ctr"/>
          <a:lstStyle/>
          <a:p>
            <a:pPr marL="0" indent="0">
              <a:buNone/>
            </a:pPr>
            <a:r>
              <a:rPr lang="en-US" sz="900" b="1" dirty="0">
                <a:solidFill>
                  <a:srgbClr val="F59E0B"/>
                </a:solidFill>
                <a:latin typeface="Calibri" pitchFamily="34" charset="0"/>
                <a:ea typeface="Calibri" pitchFamily="34" charset="-122"/>
                <a:cs typeface="Calibri" pitchFamily="34" charset="-120"/>
              </a:rPr>
              <a:t>📌 Trigger: </a:t>
            </a:r>
            <a:r>
              <a:rPr lang="en-US" sz="900" dirty="0">
                <a:solidFill>
                  <a:srgbClr val="36454F"/>
                </a:solidFill>
                <a:latin typeface="Calibri" pitchFamily="34" charset="0"/>
                <a:ea typeface="Calibri" pitchFamily="34" charset="-122"/>
                <a:cs typeface="Calibri" pitchFamily="34" charset="-120"/>
              </a:rPr>
              <a:t>November peaks at $118K but other months average $50-60K — seasonal success not yet replicated across the year
</a:t>
            </a:r>
            <a:endParaRPr lang="en-US" sz="900" dirty="0"/>
          </a:p>
          <a:p>
            <a:pPr marL="0" indent="0">
              <a:buNone/>
            </a:pPr>
            <a:r>
              <a:rPr lang="en-US" sz="900" b="1" dirty="0">
                <a:solidFill>
                  <a:srgbClr val="1B3A6B"/>
                </a:solidFill>
                <a:latin typeface="Calibri" pitchFamily="34" charset="0"/>
                <a:ea typeface="Calibri" pitchFamily="34" charset="-122"/>
                <a:cs typeface="Calibri" pitchFamily="34" charset="-120"/>
              </a:rPr>
              <a:t>🎯 Action: </a:t>
            </a:r>
            <a:r>
              <a:rPr lang="en-US" sz="900" dirty="0">
                <a:solidFill>
                  <a:srgbClr val="36454F"/>
                </a:solidFill>
                <a:latin typeface="Calibri" pitchFamily="34" charset="0"/>
                <a:ea typeface="Calibri" pitchFamily="34" charset="-122"/>
                <a:cs typeface="Calibri" pitchFamily="34" charset="-120"/>
              </a:rPr>
              <a:t>Analyze what drove November success — replicate strategy in March and June (2nd and 3rd strongest months). Create quarterly 'peak events' instead of relying solely on Q4. Pre-stock Phones, Chairs, Binders before peak months to avoid stockouts.
</a:t>
            </a:r>
            <a:endParaRPr lang="en-US" sz="900" dirty="0"/>
          </a:p>
          <a:p>
            <a:pPr marL="0" indent="0">
              <a:buNone/>
            </a:pPr>
            <a:r>
              <a:rPr lang="en-US" sz="900" b="1" dirty="0">
                <a:solidFill>
                  <a:srgbClr val="F59E0B"/>
                </a:solidFill>
                <a:latin typeface="Calibri" pitchFamily="34" charset="0"/>
                <a:ea typeface="Calibri" pitchFamily="34" charset="-122"/>
                <a:cs typeface="Calibri" pitchFamily="34" charset="-120"/>
              </a:rPr>
              <a:t>📊 KPI Target: </a:t>
            </a:r>
            <a:r>
              <a:rPr lang="en-US" sz="900" dirty="0">
                <a:solidFill>
                  <a:srgbClr val="36454F"/>
                </a:solidFill>
                <a:latin typeface="Calibri" pitchFamily="34" charset="0"/>
                <a:ea typeface="Calibri" pitchFamily="34" charset="-122"/>
                <a:cs typeface="Calibri" pitchFamily="34" charset="-120"/>
              </a:rPr>
              <a:t>Increase November revenue to $130K; grow March + June combined by 30%; achieve &lt;2% stockout rate in Q4</a:t>
            </a:r>
            <a:endParaRPr lang="en-US" sz="900" dirty="0"/>
          </a:p>
        </p:txBody>
      </p:sp>
      <p:sp>
        <p:nvSpPr>
          <p:cNvPr id="17" name="Shape 15"/>
          <p:cNvSpPr/>
          <p:nvPr/>
        </p:nvSpPr>
        <p:spPr>
          <a:xfrm>
            <a:off x="274320" y="4663440"/>
            <a:ext cx="8595360" cy="201168"/>
          </a:xfrm>
          <a:prstGeom prst="rect">
            <a:avLst/>
          </a:prstGeom>
          <a:solidFill>
            <a:srgbClr val="F4F7FB"/>
          </a:solidFill>
          <a:ln w="12700">
            <a:solidFill>
              <a:srgbClr val="E2E8F0"/>
            </a:solidFill>
            <a:prstDash val="solid"/>
          </a:ln>
        </p:spPr>
      </p:sp>
      <p:sp>
        <p:nvSpPr>
          <p:cNvPr id="18" name="Text 16"/>
          <p:cNvSpPr/>
          <p:nvPr/>
        </p:nvSpPr>
        <p:spPr>
          <a:xfrm>
            <a:off x="457200" y="4690872"/>
            <a:ext cx="8229600" cy="164592"/>
          </a:xfrm>
          <a:prstGeom prst="rect">
            <a:avLst/>
          </a:prstGeom>
          <a:noFill/>
          <a:ln/>
        </p:spPr>
        <p:txBody>
          <a:bodyPr wrap="square" lIns="0" tIns="0" rIns="0" bIns="0" rtlCol="0" anchor="ctr"/>
          <a:lstStyle/>
          <a:p>
            <a:pPr marL="0" indent="0">
              <a:buNone/>
            </a:pPr>
            <a:r>
              <a:rPr lang="en-US" sz="950" i="1" dirty="0">
                <a:solidFill>
                  <a:srgbClr val="028090"/>
                </a:solidFill>
                <a:latin typeface="Calibri" pitchFamily="34" charset="0"/>
                <a:ea typeface="Calibri" pitchFamily="34" charset="-122"/>
                <a:cs typeface="Calibri" pitchFamily="34" charset="-120"/>
              </a:rPr>
              <a:t>All 10 recommendations are directly grounded in specific findings from the three interactive dashboards — enabling immediate, evidence-based action.</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0">
    <p:bg>
      <p:bgPr>
        <a:solidFill>
          <a:srgbClr val="0F2240"/>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A896"/>
          </a:solidFill>
          <a:ln/>
        </p:spPr>
      </p:sp>
      <p:sp>
        <p:nvSpPr>
          <p:cNvPr id="3" name="Text 1"/>
          <p:cNvSpPr/>
          <p:nvPr/>
        </p:nvSpPr>
        <p:spPr>
          <a:xfrm>
            <a:off x="457200" y="1645920"/>
            <a:ext cx="8229600" cy="109728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08 | Executive Summary</a:t>
            </a:r>
            <a:endParaRPr lang="en-US" sz="4400" dirty="0"/>
          </a:p>
        </p:txBody>
      </p:sp>
      <p:sp>
        <p:nvSpPr>
          <p:cNvPr id="4" name="Text 2"/>
          <p:cNvSpPr/>
          <p:nvPr/>
        </p:nvSpPr>
        <p:spPr>
          <a:xfrm>
            <a:off x="457200" y="2834640"/>
            <a:ext cx="8229600" cy="640080"/>
          </a:xfrm>
          <a:prstGeom prst="rect">
            <a:avLst/>
          </a:prstGeom>
          <a:noFill/>
          <a:ln/>
        </p:spPr>
        <p:txBody>
          <a:bodyPr wrap="square" rtlCol="0" anchor="ctr"/>
          <a:lstStyle/>
          <a:p>
            <a:pPr marL="0" indent="0" algn="ctr">
              <a:buNone/>
            </a:pPr>
            <a:r>
              <a:rPr lang="en-US" sz="1800" dirty="0">
                <a:solidFill>
                  <a:srgbClr val="D5E8F4"/>
                </a:solidFill>
                <a:latin typeface="Calibri" pitchFamily="34" charset="0"/>
                <a:ea typeface="Calibri" pitchFamily="34" charset="-122"/>
                <a:cs typeface="Calibri" pitchFamily="34" charset="-120"/>
              </a:rPr>
              <a:t>Main Findings · Critical Insights · Recommendations · Expected Impact</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Executive Summary — Complete Business Intelligence Solution</a:t>
            </a:r>
            <a:endParaRPr lang="en-US" sz="2200" dirty="0"/>
          </a:p>
        </p:txBody>
      </p:sp>
      <p:sp>
        <p:nvSpPr>
          <p:cNvPr id="4" name="Shape 2"/>
          <p:cNvSpPr/>
          <p:nvPr/>
        </p:nvSpPr>
        <p:spPr>
          <a:xfrm>
            <a:off x="0" y="4892040"/>
            <a:ext cx="9144000" cy="251460"/>
          </a:xfrm>
          <a:prstGeom prst="rect">
            <a:avLst/>
          </a:prstGeom>
          <a:solidFill>
            <a:srgbClr val="1B3A6B"/>
          </a:solidFill>
          <a:ln/>
        </p:spPr>
      </p:sp>
      <p:sp>
        <p:nvSpPr>
          <p:cNvPr id="7" name="Shape 5"/>
          <p:cNvSpPr/>
          <p:nvPr/>
        </p:nvSpPr>
        <p:spPr>
          <a:xfrm>
            <a:off x="274320" y="713232"/>
            <a:ext cx="1316736" cy="877824"/>
          </a:xfrm>
          <a:prstGeom prst="rect">
            <a:avLst/>
          </a:prstGeom>
          <a:solidFill>
            <a:srgbClr val="1B3A6B"/>
          </a:solidFill>
          <a:ln/>
          <a:effectLst>
            <a:outerShdw blurRad="101600" dist="38100" dir="8100000" algn="bl" rotWithShape="0">
              <a:srgbClr val="000000">
                <a:alpha val="12000"/>
              </a:srgbClr>
            </a:outerShdw>
          </a:effectLst>
        </p:spPr>
      </p:sp>
      <p:sp>
        <p:nvSpPr>
          <p:cNvPr id="8" name="Text 6"/>
          <p:cNvSpPr/>
          <p:nvPr/>
        </p:nvSpPr>
        <p:spPr>
          <a:xfrm>
            <a:off x="274320" y="749808"/>
            <a:ext cx="1316736"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$733K</a:t>
            </a:r>
            <a:endParaRPr lang="en-US" sz="1600" dirty="0"/>
          </a:p>
        </p:txBody>
      </p:sp>
      <p:sp>
        <p:nvSpPr>
          <p:cNvPr id="9" name="Text 7"/>
          <p:cNvSpPr/>
          <p:nvPr/>
        </p:nvSpPr>
        <p:spPr>
          <a:xfrm>
            <a:off x="274320" y="1060704"/>
            <a:ext cx="1316736" cy="182880"/>
          </a:xfrm>
          <a:prstGeom prst="rect">
            <a:avLst/>
          </a:prstGeom>
          <a:noFill/>
          <a:ln/>
        </p:spPr>
        <p:txBody>
          <a:bodyPr wrap="square" lIns="0" tIns="0" rIns="0" bIns="0" rtlCol="0" anchor="ctr"/>
          <a:lstStyle/>
          <a:p>
            <a:pPr marL="0" indent="0" algn="ctr">
              <a:buNone/>
            </a:pPr>
            <a:r>
              <a:rPr lang="en-US" sz="800" dirty="0">
                <a:solidFill>
                  <a:srgbClr val="D5E8F4"/>
                </a:solidFill>
                <a:latin typeface="Calibri" pitchFamily="34" charset="0"/>
                <a:ea typeface="Calibri" pitchFamily="34" charset="-122"/>
                <a:cs typeface="Calibri" pitchFamily="34" charset="-120"/>
              </a:rPr>
              <a:t>Total Sales</a:t>
            </a:r>
            <a:endParaRPr lang="en-US" sz="800" dirty="0"/>
          </a:p>
        </p:txBody>
      </p:sp>
      <p:sp>
        <p:nvSpPr>
          <p:cNvPr id="10" name="Text 8"/>
          <p:cNvSpPr/>
          <p:nvPr/>
        </p:nvSpPr>
        <p:spPr>
          <a:xfrm>
            <a:off x="274320" y="1243584"/>
            <a:ext cx="1316736" cy="201168"/>
          </a:xfrm>
          <a:prstGeom prst="rect">
            <a:avLst/>
          </a:prstGeom>
          <a:noFill/>
          <a:ln/>
        </p:spPr>
        <p:txBody>
          <a:bodyPr wrap="square" lIns="0" tIns="0" rIns="0" bIns="0" rtlCol="0" anchor="ctr"/>
          <a:lstStyle/>
          <a:p>
            <a:pPr marL="0" indent="0" algn="ctr">
              <a:buNone/>
            </a:pPr>
            <a:r>
              <a:rPr lang="en-US" sz="900" b="1" dirty="0">
                <a:solidFill>
                  <a:srgbClr val="00A896"/>
                </a:solidFill>
                <a:latin typeface="Calibri" pitchFamily="34" charset="0"/>
                <a:ea typeface="Calibri" pitchFamily="34" charset="-122"/>
                <a:cs typeface="Calibri" pitchFamily="34" charset="-120"/>
              </a:rPr>
              <a:t>▲ +20.4%</a:t>
            </a:r>
            <a:endParaRPr lang="en-US" sz="900" dirty="0"/>
          </a:p>
        </p:txBody>
      </p:sp>
      <p:sp>
        <p:nvSpPr>
          <p:cNvPr id="11" name="Shape 9"/>
          <p:cNvSpPr/>
          <p:nvPr/>
        </p:nvSpPr>
        <p:spPr>
          <a:xfrm>
            <a:off x="1719072" y="713232"/>
            <a:ext cx="1316736" cy="877824"/>
          </a:xfrm>
          <a:prstGeom prst="rect">
            <a:avLst/>
          </a:prstGeom>
          <a:solidFill>
            <a:srgbClr val="1B3A6B"/>
          </a:solidFill>
          <a:ln/>
          <a:effectLst>
            <a:outerShdw blurRad="101600" dist="38100" dir="8100000" algn="bl" rotWithShape="0">
              <a:srgbClr val="000000">
                <a:alpha val="12000"/>
              </a:srgbClr>
            </a:outerShdw>
          </a:effectLst>
        </p:spPr>
      </p:sp>
      <p:sp>
        <p:nvSpPr>
          <p:cNvPr id="12" name="Text 10"/>
          <p:cNvSpPr/>
          <p:nvPr/>
        </p:nvSpPr>
        <p:spPr>
          <a:xfrm>
            <a:off x="1719072" y="749808"/>
            <a:ext cx="1316736"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$93K</a:t>
            </a:r>
            <a:endParaRPr lang="en-US" sz="1600" dirty="0"/>
          </a:p>
        </p:txBody>
      </p:sp>
      <p:sp>
        <p:nvSpPr>
          <p:cNvPr id="13" name="Text 11"/>
          <p:cNvSpPr/>
          <p:nvPr/>
        </p:nvSpPr>
        <p:spPr>
          <a:xfrm>
            <a:off x="1719072" y="1060704"/>
            <a:ext cx="1316736" cy="182880"/>
          </a:xfrm>
          <a:prstGeom prst="rect">
            <a:avLst/>
          </a:prstGeom>
          <a:noFill/>
          <a:ln/>
        </p:spPr>
        <p:txBody>
          <a:bodyPr wrap="square" lIns="0" tIns="0" rIns="0" bIns="0" rtlCol="0" anchor="ctr"/>
          <a:lstStyle/>
          <a:p>
            <a:pPr marL="0" indent="0" algn="ctr">
              <a:buNone/>
            </a:pPr>
            <a:r>
              <a:rPr lang="en-US" sz="800" dirty="0">
                <a:solidFill>
                  <a:srgbClr val="D5E8F4"/>
                </a:solidFill>
                <a:latin typeface="Calibri" pitchFamily="34" charset="0"/>
                <a:ea typeface="Calibri" pitchFamily="34" charset="-122"/>
                <a:cs typeface="Calibri" pitchFamily="34" charset="-120"/>
              </a:rPr>
              <a:t>Total Profit</a:t>
            </a:r>
            <a:endParaRPr lang="en-US" sz="800" dirty="0"/>
          </a:p>
        </p:txBody>
      </p:sp>
      <p:sp>
        <p:nvSpPr>
          <p:cNvPr id="14" name="Text 12"/>
          <p:cNvSpPr/>
          <p:nvPr/>
        </p:nvSpPr>
        <p:spPr>
          <a:xfrm>
            <a:off x="1719072" y="1243584"/>
            <a:ext cx="1316736" cy="201168"/>
          </a:xfrm>
          <a:prstGeom prst="rect">
            <a:avLst/>
          </a:prstGeom>
          <a:noFill/>
          <a:ln/>
        </p:spPr>
        <p:txBody>
          <a:bodyPr wrap="square" lIns="0" tIns="0" rIns="0" bIns="0" rtlCol="0" anchor="ctr"/>
          <a:lstStyle/>
          <a:p>
            <a:pPr marL="0" indent="0" algn="ctr">
              <a:buNone/>
            </a:pPr>
            <a:r>
              <a:rPr lang="en-US" sz="900" b="1" dirty="0">
                <a:solidFill>
                  <a:srgbClr val="00A896"/>
                </a:solidFill>
                <a:latin typeface="Calibri" pitchFamily="34" charset="0"/>
                <a:ea typeface="Calibri" pitchFamily="34" charset="-122"/>
                <a:cs typeface="Calibri" pitchFamily="34" charset="-120"/>
              </a:rPr>
              <a:t>▲ +14.2%</a:t>
            </a:r>
            <a:endParaRPr lang="en-US" sz="900" dirty="0"/>
          </a:p>
        </p:txBody>
      </p:sp>
      <p:sp>
        <p:nvSpPr>
          <p:cNvPr id="15" name="Shape 13"/>
          <p:cNvSpPr/>
          <p:nvPr/>
        </p:nvSpPr>
        <p:spPr>
          <a:xfrm>
            <a:off x="3163824" y="713232"/>
            <a:ext cx="1316736" cy="877824"/>
          </a:xfrm>
          <a:prstGeom prst="rect">
            <a:avLst/>
          </a:prstGeom>
          <a:solidFill>
            <a:srgbClr val="1B3A6B"/>
          </a:solidFill>
          <a:ln/>
          <a:effectLst>
            <a:outerShdw blurRad="101600" dist="38100" dir="8100000" algn="bl" rotWithShape="0">
              <a:srgbClr val="000000">
                <a:alpha val="12000"/>
              </a:srgbClr>
            </a:outerShdw>
          </a:effectLst>
        </p:spPr>
      </p:sp>
      <p:sp>
        <p:nvSpPr>
          <p:cNvPr id="16" name="Text 14"/>
          <p:cNvSpPr/>
          <p:nvPr/>
        </p:nvSpPr>
        <p:spPr>
          <a:xfrm>
            <a:off x="3163824" y="749808"/>
            <a:ext cx="1316736"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1,687</a:t>
            </a:r>
            <a:endParaRPr lang="en-US" sz="1600" dirty="0"/>
          </a:p>
        </p:txBody>
      </p:sp>
      <p:sp>
        <p:nvSpPr>
          <p:cNvPr id="17" name="Text 15"/>
          <p:cNvSpPr/>
          <p:nvPr/>
        </p:nvSpPr>
        <p:spPr>
          <a:xfrm>
            <a:off x="3163824" y="1060704"/>
            <a:ext cx="1316736" cy="182880"/>
          </a:xfrm>
          <a:prstGeom prst="rect">
            <a:avLst/>
          </a:prstGeom>
          <a:noFill/>
          <a:ln/>
        </p:spPr>
        <p:txBody>
          <a:bodyPr wrap="square" lIns="0" tIns="0" rIns="0" bIns="0" rtlCol="0" anchor="ctr"/>
          <a:lstStyle/>
          <a:p>
            <a:pPr marL="0" indent="0" algn="ctr">
              <a:buNone/>
            </a:pPr>
            <a:r>
              <a:rPr lang="en-US" sz="800" dirty="0">
                <a:solidFill>
                  <a:srgbClr val="D5E8F4"/>
                </a:solidFill>
                <a:latin typeface="Calibri" pitchFamily="34" charset="0"/>
                <a:ea typeface="Calibri" pitchFamily="34" charset="-122"/>
                <a:cs typeface="Calibri" pitchFamily="34" charset="-120"/>
              </a:rPr>
              <a:t>Total Orders</a:t>
            </a:r>
            <a:endParaRPr lang="en-US" sz="800" dirty="0"/>
          </a:p>
        </p:txBody>
      </p:sp>
      <p:sp>
        <p:nvSpPr>
          <p:cNvPr id="18" name="Text 16"/>
          <p:cNvSpPr/>
          <p:nvPr/>
        </p:nvSpPr>
        <p:spPr>
          <a:xfrm>
            <a:off x="3163824" y="1243584"/>
            <a:ext cx="1316736" cy="201168"/>
          </a:xfrm>
          <a:prstGeom prst="rect">
            <a:avLst/>
          </a:prstGeom>
          <a:noFill/>
          <a:ln/>
        </p:spPr>
        <p:txBody>
          <a:bodyPr wrap="square" lIns="0" tIns="0" rIns="0" bIns="0" rtlCol="0" anchor="ctr"/>
          <a:lstStyle/>
          <a:p>
            <a:pPr marL="0" indent="0" algn="ctr">
              <a:buNone/>
            </a:pPr>
            <a:r>
              <a:rPr lang="en-US" sz="900" b="1" dirty="0">
                <a:solidFill>
                  <a:srgbClr val="00A896"/>
                </a:solidFill>
                <a:latin typeface="Calibri" pitchFamily="34" charset="0"/>
                <a:ea typeface="Calibri" pitchFamily="34" charset="-122"/>
                <a:cs typeface="Calibri" pitchFamily="34" charset="-120"/>
              </a:rPr>
              <a:t>▲ +28.3%</a:t>
            </a:r>
            <a:endParaRPr lang="en-US" sz="900" dirty="0"/>
          </a:p>
        </p:txBody>
      </p:sp>
      <p:sp>
        <p:nvSpPr>
          <p:cNvPr id="19" name="Shape 17"/>
          <p:cNvSpPr/>
          <p:nvPr/>
        </p:nvSpPr>
        <p:spPr>
          <a:xfrm>
            <a:off x="4608576" y="713232"/>
            <a:ext cx="1316736" cy="877824"/>
          </a:xfrm>
          <a:prstGeom prst="rect">
            <a:avLst/>
          </a:prstGeom>
          <a:solidFill>
            <a:srgbClr val="1B3A6B"/>
          </a:solidFill>
          <a:ln/>
          <a:effectLst>
            <a:outerShdw blurRad="101600" dist="38100" dir="8100000" algn="bl" rotWithShape="0">
              <a:srgbClr val="000000">
                <a:alpha val="12000"/>
              </a:srgbClr>
            </a:outerShdw>
          </a:effectLst>
        </p:spPr>
      </p:sp>
      <p:sp>
        <p:nvSpPr>
          <p:cNvPr id="20" name="Text 18"/>
          <p:cNvSpPr/>
          <p:nvPr/>
        </p:nvSpPr>
        <p:spPr>
          <a:xfrm>
            <a:off x="4608576" y="749808"/>
            <a:ext cx="1316736"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693</a:t>
            </a:r>
            <a:endParaRPr lang="en-US" sz="1600" dirty="0"/>
          </a:p>
        </p:txBody>
      </p:sp>
      <p:sp>
        <p:nvSpPr>
          <p:cNvPr id="21" name="Text 19"/>
          <p:cNvSpPr/>
          <p:nvPr/>
        </p:nvSpPr>
        <p:spPr>
          <a:xfrm>
            <a:off x="4608576" y="1060704"/>
            <a:ext cx="1316736" cy="182880"/>
          </a:xfrm>
          <a:prstGeom prst="rect">
            <a:avLst/>
          </a:prstGeom>
          <a:noFill/>
          <a:ln/>
        </p:spPr>
        <p:txBody>
          <a:bodyPr wrap="square" lIns="0" tIns="0" rIns="0" bIns="0" rtlCol="0" anchor="ctr"/>
          <a:lstStyle/>
          <a:p>
            <a:pPr marL="0" indent="0" algn="ctr">
              <a:buNone/>
            </a:pPr>
            <a:r>
              <a:rPr lang="en-US" sz="800" dirty="0">
                <a:solidFill>
                  <a:srgbClr val="D5E8F4"/>
                </a:solidFill>
                <a:latin typeface="Calibri" pitchFamily="34" charset="0"/>
                <a:ea typeface="Calibri" pitchFamily="34" charset="-122"/>
                <a:cs typeface="Calibri" pitchFamily="34" charset="-120"/>
              </a:rPr>
              <a:t>Customers</a:t>
            </a:r>
            <a:endParaRPr lang="en-US" sz="800" dirty="0"/>
          </a:p>
        </p:txBody>
      </p:sp>
      <p:sp>
        <p:nvSpPr>
          <p:cNvPr id="22" name="Text 20"/>
          <p:cNvSpPr/>
          <p:nvPr/>
        </p:nvSpPr>
        <p:spPr>
          <a:xfrm>
            <a:off x="4608576" y="1243584"/>
            <a:ext cx="1316736" cy="201168"/>
          </a:xfrm>
          <a:prstGeom prst="rect">
            <a:avLst/>
          </a:prstGeom>
          <a:noFill/>
          <a:ln/>
        </p:spPr>
        <p:txBody>
          <a:bodyPr wrap="square" lIns="0" tIns="0" rIns="0" bIns="0" rtlCol="0" anchor="ctr"/>
          <a:lstStyle/>
          <a:p>
            <a:pPr marL="0" indent="0" algn="ctr">
              <a:buNone/>
            </a:pPr>
            <a:r>
              <a:rPr lang="en-US" sz="900" b="1" dirty="0">
                <a:solidFill>
                  <a:srgbClr val="00A896"/>
                </a:solidFill>
                <a:latin typeface="Calibri" pitchFamily="34" charset="0"/>
                <a:ea typeface="Calibri" pitchFamily="34" charset="-122"/>
                <a:cs typeface="Calibri" pitchFamily="34" charset="-120"/>
              </a:rPr>
              <a:t>▲ +8.6%</a:t>
            </a:r>
            <a:endParaRPr lang="en-US" sz="900" dirty="0"/>
          </a:p>
        </p:txBody>
      </p:sp>
      <p:sp>
        <p:nvSpPr>
          <p:cNvPr id="23" name="Shape 21"/>
          <p:cNvSpPr/>
          <p:nvPr/>
        </p:nvSpPr>
        <p:spPr>
          <a:xfrm>
            <a:off x="6053328" y="713232"/>
            <a:ext cx="1316736" cy="877824"/>
          </a:xfrm>
          <a:prstGeom prst="rect">
            <a:avLst/>
          </a:prstGeom>
          <a:solidFill>
            <a:srgbClr val="1B3A6B"/>
          </a:solidFill>
          <a:ln/>
          <a:effectLst>
            <a:outerShdw blurRad="101600" dist="38100" dir="8100000" algn="bl" rotWithShape="0">
              <a:srgbClr val="000000">
                <a:alpha val="12000"/>
              </a:srgbClr>
            </a:outerShdw>
          </a:effectLst>
        </p:spPr>
      </p:sp>
      <p:sp>
        <p:nvSpPr>
          <p:cNvPr id="24" name="Text 22"/>
          <p:cNvSpPr/>
          <p:nvPr/>
        </p:nvSpPr>
        <p:spPr>
          <a:xfrm>
            <a:off x="6053328" y="749808"/>
            <a:ext cx="1316736"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$272K</a:t>
            </a:r>
            <a:endParaRPr lang="en-US" sz="1600" dirty="0"/>
          </a:p>
        </p:txBody>
      </p:sp>
      <p:sp>
        <p:nvSpPr>
          <p:cNvPr id="25" name="Text 23"/>
          <p:cNvSpPr/>
          <p:nvPr/>
        </p:nvSpPr>
        <p:spPr>
          <a:xfrm>
            <a:off x="6053328" y="1060704"/>
            <a:ext cx="1316736" cy="182880"/>
          </a:xfrm>
          <a:prstGeom prst="rect">
            <a:avLst/>
          </a:prstGeom>
          <a:noFill/>
          <a:ln/>
        </p:spPr>
        <p:txBody>
          <a:bodyPr wrap="square" lIns="0" tIns="0" rIns="0" bIns="0" rtlCol="0" anchor="ctr"/>
          <a:lstStyle/>
          <a:p>
            <a:pPr marL="0" indent="0" algn="ctr">
              <a:buNone/>
            </a:pPr>
            <a:r>
              <a:rPr lang="en-US" sz="800" dirty="0">
                <a:solidFill>
                  <a:srgbClr val="D5E8F4"/>
                </a:solidFill>
                <a:latin typeface="Calibri" pitchFamily="34" charset="0"/>
                <a:ea typeface="Calibri" pitchFamily="34" charset="-122"/>
                <a:cs typeface="Calibri" pitchFamily="34" charset="-120"/>
              </a:rPr>
              <a:t>Tech Revenue</a:t>
            </a:r>
            <a:endParaRPr lang="en-US" sz="800" dirty="0"/>
          </a:p>
        </p:txBody>
      </p:sp>
      <p:sp>
        <p:nvSpPr>
          <p:cNvPr id="26" name="Text 24"/>
          <p:cNvSpPr/>
          <p:nvPr/>
        </p:nvSpPr>
        <p:spPr>
          <a:xfrm>
            <a:off x="6053328" y="1243584"/>
            <a:ext cx="1316736" cy="201168"/>
          </a:xfrm>
          <a:prstGeom prst="rect">
            <a:avLst/>
          </a:prstGeom>
          <a:noFill/>
          <a:ln/>
        </p:spPr>
        <p:txBody>
          <a:bodyPr wrap="square" lIns="0" tIns="0" rIns="0" bIns="0" rtlCol="0" anchor="ctr"/>
          <a:lstStyle/>
          <a:p>
            <a:pPr marL="0" indent="0" algn="ctr">
              <a:buNone/>
            </a:pPr>
            <a:r>
              <a:rPr lang="en-US" sz="900" b="1" dirty="0">
                <a:solidFill>
                  <a:srgbClr val="00A896"/>
                </a:solidFill>
                <a:latin typeface="Calibri" pitchFamily="34" charset="0"/>
                <a:ea typeface="Calibri" pitchFamily="34" charset="-122"/>
                <a:cs typeface="Calibri" pitchFamily="34" charset="-120"/>
              </a:rPr>
              <a:t>#1 Category</a:t>
            </a:r>
            <a:endParaRPr lang="en-US" sz="900" dirty="0"/>
          </a:p>
        </p:txBody>
      </p:sp>
      <p:sp>
        <p:nvSpPr>
          <p:cNvPr id="27" name="Shape 25"/>
          <p:cNvSpPr/>
          <p:nvPr/>
        </p:nvSpPr>
        <p:spPr>
          <a:xfrm>
            <a:off x="7498080" y="713232"/>
            <a:ext cx="1316736" cy="877824"/>
          </a:xfrm>
          <a:prstGeom prst="rect">
            <a:avLst/>
          </a:prstGeom>
          <a:solidFill>
            <a:srgbClr val="1B3A6B"/>
          </a:solidFill>
          <a:ln/>
          <a:effectLst>
            <a:outerShdw blurRad="101600" dist="38100" dir="8100000" algn="bl" rotWithShape="0">
              <a:srgbClr val="000000">
                <a:alpha val="12000"/>
              </a:srgbClr>
            </a:outerShdw>
          </a:effectLst>
        </p:spPr>
      </p:sp>
      <p:sp>
        <p:nvSpPr>
          <p:cNvPr id="28" name="Text 26"/>
          <p:cNvSpPr/>
          <p:nvPr/>
        </p:nvSpPr>
        <p:spPr>
          <a:xfrm>
            <a:off x="7498080" y="749808"/>
            <a:ext cx="1316736"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$105K</a:t>
            </a:r>
            <a:endParaRPr lang="en-US" sz="1600" dirty="0"/>
          </a:p>
        </p:txBody>
      </p:sp>
      <p:sp>
        <p:nvSpPr>
          <p:cNvPr id="29" name="Text 27"/>
          <p:cNvSpPr/>
          <p:nvPr/>
        </p:nvSpPr>
        <p:spPr>
          <a:xfrm>
            <a:off x="7498080" y="1060704"/>
            <a:ext cx="1316736" cy="182880"/>
          </a:xfrm>
          <a:prstGeom prst="rect">
            <a:avLst/>
          </a:prstGeom>
          <a:noFill/>
          <a:ln/>
        </p:spPr>
        <p:txBody>
          <a:bodyPr wrap="square" lIns="0" tIns="0" rIns="0" bIns="0" rtlCol="0" anchor="ctr"/>
          <a:lstStyle/>
          <a:p>
            <a:pPr marL="0" indent="0" algn="ctr">
              <a:buNone/>
            </a:pPr>
            <a:r>
              <a:rPr lang="en-US" sz="800" dirty="0">
                <a:solidFill>
                  <a:srgbClr val="D5E8F4"/>
                </a:solidFill>
                <a:latin typeface="Calibri" pitchFamily="34" charset="0"/>
                <a:ea typeface="Calibri" pitchFamily="34" charset="-122"/>
                <a:cs typeface="Calibri" pitchFamily="34" charset="-120"/>
              </a:rPr>
              <a:t>Phones</a:t>
            </a:r>
            <a:endParaRPr lang="en-US" sz="800" dirty="0"/>
          </a:p>
        </p:txBody>
      </p:sp>
      <p:sp>
        <p:nvSpPr>
          <p:cNvPr id="30" name="Text 28"/>
          <p:cNvSpPr/>
          <p:nvPr/>
        </p:nvSpPr>
        <p:spPr>
          <a:xfrm>
            <a:off x="7498080" y="1243584"/>
            <a:ext cx="1316736" cy="201168"/>
          </a:xfrm>
          <a:prstGeom prst="rect">
            <a:avLst/>
          </a:prstGeom>
          <a:noFill/>
          <a:ln/>
        </p:spPr>
        <p:txBody>
          <a:bodyPr wrap="square" lIns="0" tIns="0" rIns="0" bIns="0" rtlCol="0" anchor="ctr"/>
          <a:lstStyle/>
          <a:p>
            <a:pPr marL="0" indent="0" algn="ctr">
              <a:buNone/>
            </a:pPr>
            <a:r>
              <a:rPr lang="en-US" sz="900" b="1" dirty="0">
                <a:solidFill>
                  <a:srgbClr val="00A896"/>
                </a:solidFill>
                <a:latin typeface="Calibri" pitchFamily="34" charset="0"/>
                <a:ea typeface="Calibri" pitchFamily="34" charset="-122"/>
                <a:cs typeface="Calibri" pitchFamily="34" charset="-120"/>
              </a:rPr>
              <a:t>Top Product</a:t>
            </a:r>
            <a:endParaRPr lang="en-US" sz="900" dirty="0"/>
          </a:p>
        </p:txBody>
      </p:sp>
      <p:sp>
        <p:nvSpPr>
          <p:cNvPr id="31" name="Shape 29"/>
          <p:cNvSpPr/>
          <p:nvPr/>
        </p:nvSpPr>
        <p:spPr>
          <a:xfrm>
            <a:off x="274320" y="1719072"/>
            <a:ext cx="2816352" cy="32004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2" name="Shape 30"/>
          <p:cNvSpPr/>
          <p:nvPr/>
        </p:nvSpPr>
        <p:spPr>
          <a:xfrm>
            <a:off x="274320" y="1719072"/>
            <a:ext cx="2816352" cy="384048"/>
          </a:xfrm>
          <a:prstGeom prst="rect">
            <a:avLst/>
          </a:prstGeom>
          <a:solidFill>
            <a:srgbClr val="028090"/>
          </a:solidFill>
          <a:ln/>
        </p:spPr>
      </p:sp>
      <p:sp>
        <p:nvSpPr>
          <p:cNvPr id="33" name="Text 31"/>
          <p:cNvSpPr/>
          <p:nvPr/>
        </p:nvSpPr>
        <p:spPr>
          <a:xfrm>
            <a:off x="384048" y="1755648"/>
            <a:ext cx="260604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Critical Findings</a:t>
            </a:r>
            <a:endParaRPr lang="en-US" sz="1100" dirty="0"/>
          </a:p>
        </p:txBody>
      </p:sp>
      <p:sp>
        <p:nvSpPr>
          <p:cNvPr id="34" name="Text 32"/>
          <p:cNvSpPr/>
          <p:nvPr/>
        </p:nvSpPr>
        <p:spPr>
          <a:xfrm>
            <a:off x="384048" y="2157984"/>
            <a:ext cx="2606040" cy="2651760"/>
          </a:xfrm>
          <a:prstGeom prst="rect">
            <a:avLst/>
          </a:prstGeom>
          <a:noFill/>
          <a:ln/>
        </p:spPr>
        <p:txBody>
          <a:bodyPr wrap="square" lIns="0" tIns="0" rIns="0" bIns="0" rtlCol="0" anchor="ctr"/>
          <a:lstStyle/>
          <a:p>
            <a:pPr marL="0" indent="0">
              <a:buNone/>
            </a:pPr>
            <a:r>
              <a:rPr lang="en-US" sz="1000" dirty="0">
                <a:solidFill>
                  <a:srgbClr val="36454F"/>
                </a:solidFill>
                <a:latin typeface="Calibri" pitchFamily="34" charset="0"/>
                <a:ea typeface="Calibri" pitchFamily="34" charset="-122"/>
                <a:cs typeface="Calibri" pitchFamily="34" charset="-120"/>
              </a:rPr>
              <a:t>▪  2023 is best-performing year across all KPIs</a:t>
            </a:r>
            <a:endParaRPr lang="en-US" sz="10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Profit growth (14.2%) lags order growth (28.3%)</a:t>
            </a:r>
            <a:endParaRPr lang="en-US" sz="10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Mixed target performance: 5 months exceeded targets (Jan, Jun, Sep, Oct, Nov); 4 months significantly missed (Feb, Mar, May, Dec). Largest miss: May (-$24K gap)</a:t>
            </a:r>
            <a:endParaRPr lang="en-US" sz="10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3 states operating at negative profit (TX -$8.84K, CO -$4.44K, OR -$0.38K)</a:t>
            </a:r>
            <a:endParaRPr lang="en-US" sz="10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Tables sub-category destroys margin</a:t>
            </a:r>
            <a:endParaRPr lang="en-US" sz="10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Corporate segment (29%) underutilized — especially in Furniture; new customer acquisition at only +8.6%</a:t>
            </a:r>
            <a:endParaRPr lang="en-US" sz="10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000" dirty="0"/>
          </a:p>
        </p:txBody>
      </p:sp>
      <p:sp>
        <p:nvSpPr>
          <p:cNvPr id="35" name="Shape 33"/>
          <p:cNvSpPr/>
          <p:nvPr/>
        </p:nvSpPr>
        <p:spPr>
          <a:xfrm>
            <a:off x="3227832" y="1719072"/>
            <a:ext cx="2816352" cy="32004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6" name="Shape 34"/>
          <p:cNvSpPr/>
          <p:nvPr/>
        </p:nvSpPr>
        <p:spPr>
          <a:xfrm>
            <a:off x="3227832" y="1719072"/>
            <a:ext cx="2816352" cy="384048"/>
          </a:xfrm>
          <a:prstGeom prst="rect">
            <a:avLst/>
          </a:prstGeom>
          <a:solidFill>
            <a:srgbClr val="F59E0B"/>
          </a:solidFill>
          <a:ln/>
        </p:spPr>
      </p:sp>
      <p:sp>
        <p:nvSpPr>
          <p:cNvPr id="37" name="Text 35"/>
          <p:cNvSpPr/>
          <p:nvPr/>
        </p:nvSpPr>
        <p:spPr>
          <a:xfrm>
            <a:off x="3337560" y="1755648"/>
            <a:ext cx="260604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Key Recommendations</a:t>
            </a:r>
            <a:endParaRPr lang="en-US" sz="1100" dirty="0"/>
          </a:p>
        </p:txBody>
      </p:sp>
      <p:sp>
        <p:nvSpPr>
          <p:cNvPr id="38" name="Text 36"/>
          <p:cNvSpPr/>
          <p:nvPr/>
        </p:nvSpPr>
        <p:spPr>
          <a:xfrm>
            <a:off x="3337560" y="2157984"/>
            <a:ext cx="2606040" cy="2651760"/>
          </a:xfrm>
          <a:prstGeom prst="rect">
            <a:avLst/>
          </a:prstGeom>
          <a:noFill/>
          <a:ln/>
        </p:spPr>
        <p:txBody>
          <a:bodyPr wrap="square" lIns="0" tIns="0" rIns="0" bIns="0" rtlCol="0" anchor="ctr"/>
          <a:lstStyle/>
          <a:p>
            <a:pPr marL="0" indent="0">
              <a:buNone/>
            </a:pPr>
            <a:r>
              <a:rPr lang="en-US" sz="1000" dirty="0">
                <a:solidFill>
                  <a:srgbClr val="36454F"/>
                </a:solidFill>
                <a:latin typeface="Calibri" pitchFamily="34" charset="0"/>
                <a:ea typeface="Calibri" pitchFamily="34" charset="-122"/>
                <a:cs typeface="Calibri" pitchFamily="34" charset="-120"/>
              </a:rPr>
              <a:t>▪  February promotion campaign ($20K → $40K)</a:t>
            </a:r>
            <a:endParaRPr lang="en-US" sz="10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Fix negative-profit states (TX, CO, OR) via pricing audit</a:t>
            </a:r>
            <a:endParaRPr lang="en-US" sz="10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Discontinue/reprice Tables sub-category</a:t>
            </a:r>
            <a:endParaRPr lang="en-US" sz="10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VIP loyalty program targeting 493+ returning customers and high-frequency buyers</a:t>
            </a:r>
            <a:endParaRPr lang="en-US" sz="10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Launch referral program + new customer acquisition target of 15% quarterly growth</a:t>
            </a:r>
            <a:endParaRPr lang="en-US" sz="10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Replicate November success in March &amp; June; Q4 pre-positioning</a:t>
            </a:r>
            <a:endParaRPr lang="en-US" sz="10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000" dirty="0"/>
          </a:p>
        </p:txBody>
      </p:sp>
      <p:sp>
        <p:nvSpPr>
          <p:cNvPr id="39" name="Shape 37"/>
          <p:cNvSpPr/>
          <p:nvPr/>
        </p:nvSpPr>
        <p:spPr>
          <a:xfrm>
            <a:off x="6181344" y="1719072"/>
            <a:ext cx="2816352" cy="32004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40" name="Shape 38"/>
          <p:cNvSpPr/>
          <p:nvPr/>
        </p:nvSpPr>
        <p:spPr>
          <a:xfrm>
            <a:off x="6181344" y="1719072"/>
            <a:ext cx="2816352" cy="384048"/>
          </a:xfrm>
          <a:prstGeom prst="rect">
            <a:avLst/>
          </a:prstGeom>
          <a:solidFill>
            <a:srgbClr val="00A896"/>
          </a:solidFill>
          <a:ln/>
        </p:spPr>
      </p:sp>
      <p:sp>
        <p:nvSpPr>
          <p:cNvPr id="41" name="Text 39"/>
          <p:cNvSpPr/>
          <p:nvPr/>
        </p:nvSpPr>
        <p:spPr>
          <a:xfrm>
            <a:off x="6291072" y="1755648"/>
            <a:ext cx="260604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Expected Business Impact</a:t>
            </a:r>
            <a:endParaRPr lang="en-US" sz="1100" dirty="0"/>
          </a:p>
        </p:txBody>
      </p:sp>
      <p:sp>
        <p:nvSpPr>
          <p:cNvPr id="42" name="Text 40"/>
          <p:cNvSpPr/>
          <p:nvPr/>
        </p:nvSpPr>
        <p:spPr>
          <a:xfrm>
            <a:off x="6291072" y="2157984"/>
            <a:ext cx="2606040" cy="2651760"/>
          </a:xfrm>
          <a:prstGeom prst="rect">
            <a:avLst/>
          </a:prstGeom>
          <a:noFill/>
          <a:ln/>
        </p:spPr>
        <p:txBody>
          <a:bodyPr wrap="square" lIns="0" tIns="0" rIns="0" bIns="0" rtlCol="0" anchor="ctr"/>
          <a:lstStyle/>
          <a:p>
            <a:pPr marL="0" indent="0">
              <a:buNone/>
            </a:pPr>
            <a:r>
              <a:rPr lang="en-US" sz="1000" dirty="0">
                <a:solidFill>
                  <a:srgbClr val="36454F"/>
                </a:solidFill>
                <a:latin typeface="Calibri" pitchFamily="34" charset="0"/>
                <a:ea typeface="Calibri" pitchFamily="34" charset="-122"/>
                <a:cs typeface="Calibri" pitchFamily="34" charset="-120"/>
              </a:rPr>
              <a:t>▪  +$50K–80K annual revenue from seasonal campaigns</a:t>
            </a:r>
            <a:endParaRPr lang="en-US" sz="10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+$20K+ profit from discount reduction &amp; margin floor policy</a:t>
            </a:r>
            <a:endParaRPr lang="en-US" sz="10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+$17K–$30K from eliminating confirmed losses in TX (-$8.84K), CO (-$4.44K), OR (-$0.38K) &amp; Grant Thornton (-$3.83K) through pricing optimization</a:t>
            </a:r>
            <a:endParaRPr lang="en-US" sz="10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5–10% increase in customer retention</a:t>
            </a:r>
            <a:endParaRPr lang="en-US" sz="10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Reduce February trough by 50%</a:t>
            </a:r>
            <a:endParaRPr lang="en-US" sz="10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36454F"/>
                </a:solidFill>
                <a:latin typeface="Calibri" pitchFamily="34" charset="0"/>
                <a:ea typeface="Calibri" pitchFamily="34" charset="-122"/>
                <a:cs typeface="Calibri" pitchFamily="34" charset="-120"/>
              </a:rPr>
              <a:t>▪  Achieve 90%+ monthly target attainment</a:t>
            </a:r>
            <a:endParaRPr lang="en-US" sz="10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6B"/>
          </a:solidFill>
          <a:ln/>
        </p:spPr>
      </p:sp>
      <p:sp>
        <p:nvSpPr>
          <p:cNvPr id="3" name="Text 1"/>
          <p:cNvSpPr/>
          <p:nvPr/>
        </p:nvSpPr>
        <p:spPr>
          <a:xfrm>
            <a:off x="274320" y="45720"/>
            <a:ext cx="8595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Business Impact, Challenges &amp; Limitations</a:t>
            </a:r>
            <a:endParaRPr lang="en-US" sz="2200" dirty="0"/>
          </a:p>
        </p:txBody>
      </p:sp>
      <p:sp>
        <p:nvSpPr>
          <p:cNvPr id="4" name="Shape 2"/>
          <p:cNvSpPr/>
          <p:nvPr/>
        </p:nvSpPr>
        <p:spPr>
          <a:xfrm>
            <a:off x="0" y="4892040"/>
            <a:ext cx="9144000" cy="251460"/>
          </a:xfrm>
          <a:prstGeom prst="rect">
            <a:avLst/>
          </a:prstGeom>
          <a:solidFill>
            <a:srgbClr val="1B3A6B"/>
          </a:solidFill>
          <a:ln/>
        </p:spPr>
      </p:sp>
      <p:sp>
        <p:nvSpPr>
          <p:cNvPr id="7" name="Shape 5"/>
          <p:cNvSpPr/>
          <p:nvPr/>
        </p:nvSpPr>
        <p:spPr>
          <a:xfrm>
            <a:off x="274320" y="749808"/>
            <a:ext cx="4114800" cy="4114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8" name="Shape 6"/>
          <p:cNvSpPr/>
          <p:nvPr/>
        </p:nvSpPr>
        <p:spPr>
          <a:xfrm>
            <a:off x="274320" y="749808"/>
            <a:ext cx="4114800" cy="54864"/>
          </a:xfrm>
          <a:prstGeom prst="rect">
            <a:avLst/>
          </a:prstGeom>
          <a:solidFill>
            <a:srgbClr val="028090"/>
          </a:solidFill>
          <a:ln/>
        </p:spPr>
      </p:sp>
      <p:sp>
        <p:nvSpPr>
          <p:cNvPr id="9" name="Text 7"/>
          <p:cNvSpPr/>
          <p:nvPr/>
        </p:nvSpPr>
        <p:spPr>
          <a:xfrm>
            <a:off x="411480" y="859536"/>
            <a:ext cx="3840480" cy="320040"/>
          </a:xfrm>
          <a:prstGeom prst="rect">
            <a:avLst/>
          </a:prstGeom>
          <a:noFill/>
          <a:ln/>
        </p:spPr>
        <p:txBody>
          <a:bodyPr wrap="square" lIns="0" tIns="0" rIns="0" bIns="0"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  Business Impact</a:t>
            </a:r>
            <a:endParaRPr lang="en-US" sz="1400" dirty="0"/>
          </a:p>
        </p:txBody>
      </p:sp>
      <p:sp>
        <p:nvSpPr>
          <p:cNvPr id="10" name="Text 8"/>
          <p:cNvSpPr/>
          <p:nvPr/>
        </p:nvSpPr>
        <p:spPr>
          <a:xfrm>
            <a:off x="457200" y="1280160"/>
            <a:ext cx="3749040" cy="182880"/>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Decision Speed</a:t>
            </a:r>
            <a:endParaRPr lang="en-US" sz="1050" dirty="0"/>
          </a:p>
        </p:txBody>
      </p:sp>
      <p:sp>
        <p:nvSpPr>
          <p:cNvPr id="11" name="Text 9"/>
          <p:cNvSpPr/>
          <p:nvPr/>
        </p:nvSpPr>
        <p:spPr>
          <a:xfrm>
            <a:off x="457200" y="1472184"/>
            <a:ext cx="3749040" cy="25603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Real-time KPI visibility replaced days of manual reporting — decision cycles cut from 3 days to under 60 seconds.</a:t>
            </a:r>
            <a:endParaRPr lang="en-US" sz="950" dirty="0"/>
          </a:p>
        </p:txBody>
      </p:sp>
      <p:sp>
        <p:nvSpPr>
          <p:cNvPr id="12" name="Text 10"/>
          <p:cNvSpPr/>
          <p:nvPr/>
        </p:nvSpPr>
        <p:spPr>
          <a:xfrm>
            <a:off x="457200" y="1783080"/>
            <a:ext cx="3749040" cy="182880"/>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Cost Visibility</a:t>
            </a:r>
            <a:endParaRPr lang="en-US" sz="1050" dirty="0"/>
          </a:p>
        </p:txBody>
      </p:sp>
      <p:sp>
        <p:nvSpPr>
          <p:cNvPr id="13" name="Text 11"/>
          <p:cNvSpPr/>
          <p:nvPr/>
        </p:nvSpPr>
        <p:spPr>
          <a:xfrm>
            <a:off x="457200" y="2067747"/>
            <a:ext cx="3749040" cy="25603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TX, CO, OR loss zones and profit-negative sub-categories surfaced for the first time — unlocking $17K–$30K in recoverable margin through pricing and logistics optimization.</a:t>
            </a:r>
            <a:endParaRPr lang="en-US" sz="950" dirty="0"/>
          </a:p>
        </p:txBody>
      </p:sp>
      <p:sp>
        <p:nvSpPr>
          <p:cNvPr id="14" name="Text 12"/>
          <p:cNvSpPr/>
          <p:nvPr/>
        </p:nvSpPr>
        <p:spPr>
          <a:xfrm>
            <a:off x="411480" y="2392960"/>
            <a:ext cx="3749040" cy="182880"/>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Revenue Optimization</a:t>
            </a:r>
            <a:endParaRPr lang="en-US" sz="1050" dirty="0"/>
          </a:p>
        </p:txBody>
      </p:sp>
      <p:sp>
        <p:nvSpPr>
          <p:cNvPr id="15" name="Text 13"/>
          <p:cNvSpPr/>
          <p:nvPr/>
        </p:nvSpPr>
        <p:spPr>
          <a:xfrm>
            <a:off x="411480" y="2638044"/>
            <a:ext cx="3749040" cy="25603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Recurring seasonal blind spots (Feb, Aug) identified and quantified — targeted campaigns can recover $50K+ in low-season revenue annually.</a:t>
            </a:r>
            <a:endParaRPr lang="en-US" sz="950" dirty="0"/>
          </a:p>
        </p:txBody>
      </p:sp>
      <p:sp>
        <p:nvSpPr>
          <p:cNvPr id="16" name="Text 14"/>
          <p:cNvSpPr/>
          <p:nvPr/>
        </p:nvSpPr>
        <p:spPr>
          <a:xfrm>
            <a:off x="411480" y="2937630"/>
            <a:ext cx="3749040" cy="182880"/>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Customer Intelligence</a:t>
            </a:r>
            <a:endParaRPr lang="en-US" sz="1050" dirty="0"/>
          </a:p>
        </p:txBody>
      </p:sp>
      <p:sp>
        <p:nvSpPr>
          <p:cNvPr id="17" name="Text 15"/>
          <p:cNvSpPr/>
          <p:nvPr/>
        </p:nvSpPr>
        <p:spPr>
          <a:xfrm>
            <a:off x="411480" y="3141806"/>
            <a:ext cx="3749040" cy="25603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Loss-making accounts like Grant Thornton (-$3.83K profit on $8K revenue) flagged for repricing — protecting margin at the account level.</a:t>
            </a:r>
            <a:endParaRPr lang="en-US" sz="950" dirty="0"/>
          </a:p>
        </p:txBody>
      </p:sp>
      <p:sp>
        <p:nvSpPr>
          <p:cNvPr id="18" name="Text 16"/>
          <p:cNvSpPr/>
          <p:nvPr/>
        </p:nvSpPr>
        <p:spPr>
          <a:xfrm>
            <a:off x="411480" y="3435978"/>
            <a:ext cx="3749040" cy="182880"/>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Target Accountability</a:t>
            </a:r>
            <a:endParaRPr lang="en-US" sz="1050" dirty="0"/>
          </a:p>
        </p:txBody>
      </p:sp>
      <p:sp>
        <p:nvSpPr>
          <p:cNvPr id="19" name="Text 17"/>
          <p:cNvSpPr/>
          <p:nvPr/>
        </p:nvSpPr>
        <p:spPr>
          <a:xfrm>
            <a:off x="411480" y="3722089"/>
            <a:ext cx="3749040" cy="25603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Monthly target vs. actual tracking creates executive accountability — missed months now visible and actionable, with November proving targets are achievable, not hidden in spreadsheets.</a:t>
            </a:r>
            <a:endParaRPr lang="en-US" sz="950" dirty="0"/>
          </a:p>
        </p:txBody>
      </p:sp>
      <p:sp>
        <p:nvSpPr>
          <p:cNvPr id="20" name="Text 18"/>
          <p:cNvSpPr/>
          <p:nvPr/>
        </p:nvSpPr>
        <p:spPr>
          <a:xfrm>
            <a:off x="411480" y="4073652"/>
            <a:ext cx="3749040" cy="182880"/>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Scalability</a:t>
            </a:r>
            <a:endParaRPr lang="en-US" sz="1050" dirty="0"/>
          </a:p>
        </p:txBody>
      </p:sp>
      <p:sp>
        <p:nvSpPr>
          <p:cNvPr id="21" name="Text 19"/>
          <p:cNvSpPr/>
          <p:nvPr/>
        </p:nvSpPr>
        <p:spPr>
          <a:xfrm>
            <a:off x="411480" y="4265676"/>
            <a:ext cx="3749040" cy="25603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Star Schema architecture and dynamic year parameter future-proof the solution — zero rework needed as 2024+ data flows in.</a:t>
            </a:r>
            <a:endParaRPr lang="en-US" sz="950" dirty="0"/>
          </a:p>
        </p:txBody>
      </p:sp>
      <p:sp>
        <p:nvSpPr>
          <p:cNvPr id="22" name="Shape 20"/>
          <p:cNvSpPr/>
          <p:nvPr/>
        </p:nvSpPr>
        <p:spPr>
          <a:xfrm>
            <a:off x="4663440" y="753658"/>
            <a:ext cx="4206240" cy="4114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3" name="Shape 21"/>
          <p:cNvSpPr/>
          <p:nvPr/>
        </p:nvSpPr>
        <p:spPr>
          <a:xfrm>
            <a:off x="4663440" y="749808"/>
            <a:ext cx="4206240" cy="54864"/>
          </a:xfrm>
          <a:prstGeom prst="rect">
            <a:avLst/>
          </a:prstGeom>
          <a:solidFill>
            <a:srgbClr val="F59E0B"/>
          </a:solidFill>
          <a:ln/>
        </p:spPr>
      </p:sp>
      <p:sp>
        <p:nvSpPr>
          <p:cNvPr id="24" name="Text 22"/>
          <p:cNvSpPr/>
          <p:nvPr/>
        </p:nvSpPr>
        <p:spPr>
          <a:xfrm>
            <a:off x="4800600" y="859536"/>
            <a:ext cx="3931920" cy="320040"/>
          </a:xfrm>
          <a:prstGeom prst="rect">
            <a:avLst/>
          </a:prstGeom>
          <a:noFill/>
          <a:ln/>
        </p:spPr>
        <p:txBody>
          <a:bodyPr wrap="square" lIns="0" tIns="0" rIns="0" bIns="0"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  Challenges &amp; Limitations</a:t>
            </a:r>
            <a:endParaRPr lang="en-US" sz="1400" dirty="0"/>
          </a:p>
        </p:txBody>
      </p:sp>
      <p:sp>
        <p:nvSpPr>
          <p:cNvPr id="25" name="Text 23"/>
          <p:cNvSpPr/>
          <p:nvPr/>
        </p:nvSpPr>
        <p:spPr>
          <a:xfrm>
            <a:off x="4800600" y="1280160"/>
            <a:ext cx="3931920" cy="182880"/>
          </a:xfrm>
          <a:prstGeom prst="rect">
            <a:avLst/>
          </a:prstGeom>
          <a:noFill/>
          <a:ln/>
        </p:spPr>
        <p:txBody>
          <a:bodyPr wrap="square" lIns="0" tIns="0" rIns="0" bIns="0"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Data Encoding</a:t>
            </a:r>
            <a:endParaRPr lang="en-US" sz="1050" dirty="0"/>
          </a:p>
        </p:txBody>
      </p:sp>
      <p:sp>
        <p:nvSpPr>
          <p:cNvPr id="26" name="Text 24"/>
          <p:cNvSpPr/>
          <p:nvPr/>
        </p:nvSpPr>
        <p:spPr>
          <a:xfrm>
            <a:off x="4800600" y="1550389"/>
            <a:ext cx="3931920" cy="25603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Source files used Latin-1 encoding — manual conversion required before import; future pipelines should enforce UTF-8 as a data standard.</a:t>
            </a:r>
            <a:endParaRPr lang="en-US" sz="950" dirty="0"/>
          </a:p>
        </p:txBody>
      </p:sp>
      <p:sp>
        <p:nvSpPr>
          <p:cNvPr id="27" name="Text 25"/>
          <p:cNvSpPr/>
          <p:nvPr/>
        </p:nvSpPr>
        <p:spPr>
          <a:xfrm>
            <a:off x="4800600" y="1863932"/>
            <a:ext cx="3931920" cy="182880"/>
          </a:xfrm>
          <a:prstGeom prst="rect">
            <a:avLst/>
          </a:prstGeom>
          <a:noFill/>
          <a:ln/>
        </p:spPr>
        <p:txBody>
          <a:bodyPr wrap="square" lIns="0" tIns="0" rIns="0" bIns="0"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Duplicate Records</a:t>
            </a:r>
            <a:endParaRPr lang="en-US" sz="1050" dirty="0"/>
          </a:p>
        </p:txBody>
      </p:sp>
      <p:sp>
        <p:nvSpPr>
          <p:cNvPr id="28" name="Text 26"/>
          <p:cNvSpPr/>
          <p:nvPr/>
        </p:nvSpPr>
        <p:spPr>
          <a:xfrm>
            <a:off x="4800600" y="2107933"/>
            <a:ext cx="3931920" cy="25603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9,994-row Orders table contained duplicate records — deduplication was mandatory to ensure KPI accuracy and prevent inflated metrics.</a:t>
            </a:r>
            <a:endParaRPr lang="en-US" sz="950" dirty="0"/>
          </a:p>
        </p:txBody>
      </p:sp>
      <p:sp>
        <p:nvSpPr>
          <p:cNvPr id="29" name="Text 27"/>
          <p:cNvSpPr/>
          <p:nvPr/>
        </p:nvSpPr>
        <p:spPr>
          <a:xfrm>
            <a:off x="4800600" y="2452998"/>
            <a:ext cx="3931920" cy="182880"/>
          </a:xfrm>
          <a:prstGeom prst="rect">
            <a:avLst/>
          </a:prstGeom>
          <a:noFill/>
          <a:ln/>
        </p:spPr>
        <p:txBody>
          <a:bodyPr wrap="square" lIns="0" tIns="0" rIns="0" bIns="0"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No External Benchmarks</a:t>
            </a:r>
            <a:endParaRPr lang="en-US" sz="1050" dirty="0"/>
          </a:p>
        </p:txBody>
      </p:sp>
      <p:sp>
        <p:nvSpPr>
          <p:cNvPr id="30" name="Text 28"/>
          <p:cNvSpPr/>
          <p:nvPr/>
        </p:nvSpPr>
        <p:spPr>
          <a:xfrm>
            <a:off x="4800600" y="2809614"/>
            <a:ext cx="3931920" cy="25603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All growth rates (e.g. +20.4% sales) are measured internally — without industry benchmarks, it is impossible to assess whether performance is truly competitive.</a:t>
            </a:r>
            <a:endParaRPr lang="en-US" sz="950" dirty="0"/>
          </a:p>
        </p:txBody>
      </p:sp>
      <p:sp>
        <p:nvSpPr>
          <p:cNvPr id="33" name="Text 31"/>
          <p:cNvSpPr/>
          <p:nvPr/>
        </p:nvSpPr>
        <p:spPr>
          <a:xfrm>
            <a:off x="4800600" y="3213394"/>
            <a:ext cx="3931920" cy="182880"/>
          </a:xfrm>
          <a:prstGeom prst="rect">
            <a:avLst/>
          </a:prstGeom>
          <a:noFill/>
          <a:ln/>
        </p:spPr>
        <p:txBody>
          <a:bodyPr wrap="square" lIns="0" tIns="0" rIns="0" bIns="0"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Limited Demographics</a:t>
            </a:r>
            <a:endParaRPr lang="en-US" sz="1050" dirty="0"/>
          </a:p>
        </p:txBody>
      </p:sp>
      <p:sp>
        <p:nvSpPr>
          <p:cNvPr id="34" name="Text 32"/>
          <p:cNvSpPr/>
          <p:nvPr/>
        </p:nvSpPr>
        <p:spPr>
          <a:xfrm>
            <a:off x="4800600" y="3483864"/>
            <a:ext cx="3931920" cy="25603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Absence of demographic data (age, income, channel preference) constrains segmentation to 3 broad groups — precision targeting and churn prediction are not yet possible.</a:t>
            </a:r>
            <a:endParaRPr lang="en-US" sz="950" dirty="0"/>
          </a:p>
        </p:txBody>
      </p:sp>
      <p:sp>
        <p:nvSpPr>
          <p:cNvPr id="35" name="Text 33"/>
          <p:cNvSpPr/>
          <p:nvPr/>
        </p:nvSpPr>
        <p:spPr>
          <a:xfrm>
            <a:off x="4800600" y="3850105"/>
            <a:ext cx="3931920" cy="182880"/>
          </a:xfrm>
          <a:prstGeom prst="rect">
            <a:avLst/>
          </a:prstGeom>
          <a:noFill/>
          <a:ln/>
        </p:spPr>
        <p:txBody>
          <a:bodyPr wrap="square" lIns="0" tIns="0" rIns="0" bIns="0"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4-Year Window</a:t>
            </a:r>
            <a:endParaRPr lang="en-US" sz="1050" dirty="0"/>
          </a:p>
        </p:txBody>
      </p:sp>
      <p:sp>
        <p:nvSpPr>
          <p:cNvPr id="36" name="Text 34"/>
          <p:cNvSpPr/>
          <p:nvPr/>
        </p:nvSpPr>
        <p:spPr>
          <a:xfrm>
            <a:off x="4800600" y="4114800"/>
            <a:ext cx="3931920" cy="256032"/>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Four-year dataset limits long-term forecasting reliability — pre-2020 data (including pre-pandemic baseline) would significantly improve trend modeling and seasonality prediction.</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3">
    <p:bg>
      <p:bgPr>
        <a:solidFill>
          <a:srgbClr val="0F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0A896"/>
          </a:solidFill>
          <a:ln/>
        </p:spPr>
      </p:sp>
      <p:sp>
        <p:nvSpPr>
          <p:cNvPr id="3" name="Shape 1"/>
          <p:cNvSpPr/>
          <p:nvPr/>
        </p:nvSpPr>
        <p:spPr>
          <a:xfrm>
            <a:off x="0" y="5052060"/>
            <a:ext cx="9144000" cy="91440"/>
          </a:xfrm>
          <a:prstGeom prst="rect">
            <a:avLst/>
          </a:prstGeom>
          <a:solidFill>
            <a:srgbClr val="00A896"/>
          </a:solidFill>
          <a:ln/>
        </p:spPr>
      </p:sp>
      <p:sp>
        <p:nvSpPr>
          <p:cNvPr id="4" name="Text 2"/>
          <p:cNvSpPr/>
          <p:nvPr/>
        </p:nvSpPr>
        <p:spPr>
          <a:xfrm>
            <a:off x="403058" y="1592079"/>
            <a:ext cx="8229600" cy="1097280"/>
          </a:xfrm>
          <a:prstGeom prst="rect">
            <a:avLst/>
          </a:prstGeom>
          <a:noFill/>
          <a:ln/>
        </p:spPr>
        <p:txBody>
          <a:bodyPr wrap="square"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5" name="Text 3"/>
          <p:cNvSpPr/>
          <p:nvPr/>
        </p:nvSpPr>
        <p:spPr>
          <a:xfrm>
            <a:off x="457200" y="2937510"/>
            <a:ext cx="8229600" cy="457200"/>
          </a:xfrm>
          <a:prstGeom prst="rect">
            <a:avLst/>
          </a:prstGeom>
          <a:noFill/>
          <a:ln/>
        </p:spPr>
        <p:txBody>
          <a:bodyPr wrap="square" rtlCol="0" anchor="ctr"/>
          <a:lstStyle/>
          <a:p>
            <a:pPr marL="0" indent="0" algn="ctr">
              <a:buNone/>
            </a:pPr>
            <a:r>
              <a:rPr lang="en-US" sz="1800" dirty="0">
                <a:solidFill>
                  <a:srgbClr val="D5E8F4"/>
                </a:solidFill>
                <a:latin typeface="Calibri" pitchFamily="34" charset="0"/>
                <a:ea typeface="Calibri" pitchFamily="34" charset="-122"/>
                <a:cs typeface="Calibri" pitchFamily="34" charset="-120"/>
              </a:rPr>
              <a:t>Sales &amp; Customer Performance — DEPI Final Project 2026</a:t>
            </a:r>
            <a:endParaRPr lang="en-US" sz="1800" dirty="0"/>
          </a:p>
        </p:txBody>
      </p:sp>
      <p:sp>
        <p:nvSpPr>
          <p:cNvPr id="6" name="Shape 4"/>
          <p:cNvSpPr/>
          <p:nvPr/>
        </p:nvSpPr>
        <p:spPr>
          <a:xfrm>
            <a:off x="2689058" y="3963804"/>
            <a:ext cx="3657600" cy="45720"/>
          </a:xfrm>
          <a:prstGeom prst="rect">
            <a:avLst/>
          </a:prstGeom>
          <a:solidFill>
            <a:srgbClr val="00A896"/>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1161</TotalTime>
  <Words>9732</Words>
  <Application>Microsoft Office PowerPoint</Application>
  <PresentationFormat>On-screen Show (16:9)</PresentationFormat>
  <Paragraphs>769</Paragraphs>
  <Slides>55</Slides>
  <Notes>55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55</vt:i4>
      </vt:variant>
    </vt:vector>
  </HeadingPairs>
  <TitlesOfParts>
    <vt:vector size="59"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&amp; Customer Performance – DEPI Final Project</dc:title>
  <dc:subject>PptxGenJS Presentation</dc:subject>
  <dc:creator>Team 2</dc:creator>
  <cp:lastModifiedBy>yasserarwa983@gmail.com</cp:lastModifiedBy>
  <cp:revision>15</cp:revision>
  <dcterms:created xsi:type="dcterms:W3CDTF">2026-05-31T08:58:44Z</dcterms:created>
  <dcterms:modified xsi:type="dcterms:W3CDTF">2026-06-06T15:33:44Z</dcterms:modified>
</cp:coreProperties>
</file>